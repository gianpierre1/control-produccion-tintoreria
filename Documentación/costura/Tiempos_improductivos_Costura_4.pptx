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72" r:id="rId23"/>
    <p:sldId id="271" r:id="rId22"/>
    <p:sldId id="268" r:id="rId14"/>
    <p:sldId id="273" r:id="rId24"/>
    <p:sldId id="269" r:id="rId15"/>
    <p:sldId id="270"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ntexto" id="{F344DF71-D3F3-F02E-812B-492B2E25F27D}">
          <p14:sldIdLst>
            <p14:sldId id="256"/>
            <p14:sldId id="257"/>
          </p14:sldIdLst>
        </p14:section>
        <p14:section name="Antecedentes" id="{66D6B37D-0F0D-8B5D-CB59-AD974F80389C}">
          <p14:sldIdLst>
            <p14:sldId id="258"/>
            <p14:sldId id="259"/>
          </p14:sldIdLst>
        </p14:section>
        <p14:section name="Propuestas" id="{6B277219-8F3D-40C4-D3E4-75DC8F110DE5}">
          <p14:sldIdLst>
            <p14:sldId id="260"/>
            <p14:sldId id="261"/>
            <p14:sldId id="262"/>
            <p14:sldId id="263"/>
            <p14:sldId id="264"/>
            <p14:sldId id="265"/>
            <p14:sldId id="266"/>
            <p14:sldId id="267"/>
            <p14:sldId id="268"/>
          </p14:sldIdLst>
        </p14:section>
        <p14:section name="Plan" id="{0C8E9535-C0B8-B51E-E074-517D12EBDB9F}">
          <p14:sldIdLst>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3" d="100"/>
          <a:sy n="83" d="100"/>
        </p:scale>
        <p:origin x="658"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  <Relationship Id="rId22" Type="http://schemas.openxmlformats.org/officeDocument/2006/relationships/slide" Target="slides/slide16.xml"/>
  <Relationship Id="rId23" Type="http://schemas.openxmlformats.org/officeDocument/2006/relationships/slide" Target="slides/slide17.xml"/>
  <Relationship Id="rId24" Type="http://schemas.openxmlformats.org/officeDocument/2006/relationships/slide" Target="slides/slide18.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446495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Presentación de las tres propuestas para registrar automáticamente los tiempos improductivos del área de Costura, de los que depende el pago de eficiencia e incentivo.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Fórmulas de eficiencia de Costura de la empresa. La eficiencia compensada se calcula por trabajador y día; para semana, línea o trabajador se pondera por minutos trabajados usando solo los minutos con dato. Los minutos improductivos están en el denominador de la compensada, por eso medirlos bien define el incentivo. Ejemplo: 400 min estándar, 480 min trabajados y 60 min improductivos reales: 400 ÷ (480 − 60) = 95 %. Si solo se registran 20: 400 ÷ 460 = 87 %. Si se registran 100: 400 ÷ 380 = 105 %.</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Fuentes: Rest of World y Context (Nidle), Apparel Resources (JaNets), Mendeley Data (VARSew), TechCrunch y The Interline (Optifye), ifeng/China.com (JACK Ai10), revista Textiles 5(4):64 (UPC Gamarra). El detalle está en el documento de antecedentes del proyecto.</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lección de los antecedentes: un sistema que solo vigila genera rechazo. Uno que protege el incentivo, reconociendo las paradas ajenas a la operaria, tiene mucha mejor aceptación. El tema legal se debe validar con un abogado laboral.</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seis estados son los mismos en las tres propuestas. Lo que cambia entre ellas es qué tan seguro es el estado asignado, sobre todo en las paradas largas.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Costos de hardware aproximados, sin instalación ni desarrollo; hay que cotizar en Perú. Recomendación: comprar desde el inicio la placa Waveshare ESP32-S3 con PoE, para pasar a B solo agregando la cámara.</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cámara elimina la dependencia de los botones en las paradas largas. Solo se guardan las fotos de las paradas en disputa, por un plazo definido. Riesgo a probar primero: la calidad de foto con la luz de la planta.</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Reemplaza la versión anterior de C (una cámara por puesto con reconocimiento de acciones). Para el pago basta saber si la operaria trabaja, está inactiva o ausente; no qué acción exacta hace. Costo aproximado: pinza + ESP32 por máquina, 5–7 cámaras 4 MP PoE, un switch PoE y un servidor.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es la más barata y rápida. B pone una cámara en cada máquina y solo toma fotos en paradas largas. C usa pocas cámaras cenitales y decide trabajando, inactiva o ausente por movimiento; probablemente es la mejor relación precio-calidad si la prueba con una cámara funciona.</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fila es una función del sistema y cada columna una alternativa. Las marcas A, B y C muestran qué alternativa elige cada camino. En C, el ESP32 de cada máquina va por WiFi (pocos datos) y las cámaras cenitales por cable PoE. Las celdas sin marca son alternativas evaluadas y descartadas o no necesarias. El escaneo QR de paquetes es el proyecto de trazabilidad y puede complementar el conteo de piezas en cualquiera de los tres caminos.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modelo de visión corre en el servidor, no en la placa. Todo el software es libre: Mosquitto, Node-RED, TimescaleDB/InfluxDB y Grafana.</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usar hubs ni repartidores pasivos: los hubs comparten la velocidad y los repartidores no pasan PoE. Conviene un switch administrable para poner las cámaras en su propia VLAN. Precio aproximado de un switch PoE de 24 puertos: USD 250–600, a cotizar en Perú.</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letras indican en qué propuesta se usa cada componente. Las imágenes son ilustraciones de referencia, excepto la foto del kit Waveshare; conviene reemplazarlas por fotos de los productos que se compren.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zona gris es el tiempo parado sin causa más el tiempo en disputa. La grabación de un día con la cámara cenital permite comparar la regla de movimiento contra lo que realmente pasó.</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Próximos pasos para arrancar el prototipo y el piloto.</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ULO">
    <p:bg>
      <p:bgPr>
        <a:solidFill>
          <a:srgbClr val="0F3D3E"/>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828800"/>
            <a:ext cx="10698480" cy="1737360"/>
          </a:xfrm>
          <a:prstGeom prst="rect">
            <a:avLst/>
          </a:prstGeom>
          <a:noFill/>
          <a:ln/>
        </p:spPr>
        <p:txBody>
          <a:bodyPr wrap="square" rtlCol="0"/>
          <a:lstStyle>
            <a:lvl1pPr marL="0" indent="0" algn="l">
              <a:buNone/>
              <a:defRPr lang="en-US" sz="4400" b="1" dirty="0">
                <a:solidFill>
                  <a:schemeClr val="bg1"/>
                </a:solidFill>
              </a:defRPr>
            </a:lvl1pPr>
          </a:lstStyle>
          <a:p>
            <a:pPr marL="0" indent="0" algn="l">
              <a:buNone/>
            </a:pPr>
            <a:endParaRPr lang="en-US" sz="4400" dirty="0"/>
          </a:p>
        </p:txBody>
      </p:sp>
      <p:sp>
        <p:nvSpPr>
          <p:cNvPr id="3" name="Text 0"/>
          <p:cNvSpPr>
            <a:spLocks noGrp="1"/>
          </p:cNvSpPr>
          <p:nvPr>
            <p:ph type="body" idx="101" hasCustomPrompt="1"/>
          </p:nvPr>
        </p:nvSpPr>
        <p:spPr>
          <a:xfrm>
            <a:off x="731520" y="3794760"/>
            <a:ext cx="10698480" cy="1097280"/>
          </a:xfrm>
          <a:prstGeom prst="rect">
            <a:avLst/>
          </a:prstGeom>
          <a:noFill/>
          <a:ln/>
        </p:spPr>
        <p:txBody>
          <a:bodyPr wrap="square" rtlCol="0"/>
          <a:lstStyle>
            <a:lvl1pPr marL="0" indent="0">
              <a:buNone/>
              <a:defRPr lang="en-US" sz="2000" dirty="0">
                <a:solidFill>
                  <a:schemeClr val="accent3"/>
                </a:solidFill>
              </a:defRPr>
            </a:lvl1pPr>
          </a:lstStyle>
          <a:p>
            <a:pPr marL="0" indent="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IDO">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1672" cy="868680"/>
          </a:xfrm>
          <a:prstGeom prst="rect">
            <a:avLst/>
          </a:prstGeom>
          <a:noFill/>
          <a:ln/>
        </p:spPr>
        <p:txBody>
          <a:bodyPr wrap="square" rtlCol="0"/>
          <a:lstStyle>
            <a:lvl1pPr marL="0" indent="0" algn="l">
              <a:buNone/>
              <a:defRPr lang="en-US" sz="3200" b="1" dirty="0">
                <a:solidFill>
                  <a:schemeClr val="tx2"/>
                </a:solidFill>
              </a:defRPr>
            </a:lvl1pPr>
          </a:lstStyle>
          <a:p>
            <a:pPr marL="0" indent="0" algn="l">
              <a:buNone/>
            </a:pPr>
            <a:endParaRPr lang="en-US" sz="32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F6B70"/>
                </a:solidFill>
              </a:rPr>
              <a:t>Proyecto de automatización · Costura</a:t>
            </a:r>
            <a:endParaRPr lang="en-US" sz="1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F6B70"/>
                </a:solidFill>
              </a:defRPr>
            </a:lvl1pPr>
          </a:lstStyle>
          <a:p>
            <a:pPr algn="r"/>
            <a:fld id="{F7021451-1387-4CA6-816F-3879F97B5CBC}" type="slidenum">
              <a:rPr lang="en-US" b="0"/>
              <a:t>‹Nº›</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IERRE">
    <p:bg>
      <p:bgPr>
        <a:solidFill>
          <a:srgbClr val="0F3D3E"/>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91672" cy="914400"/>
          </a:xfrm>
          <a:prstGeom prst="rect">
            <a:avLst/>
          </a:prstGeom>
          <a:noFill/>
          <a:ln/>
        </p:spPr>
        <p:txBody>
          <a:bodyPr wrap="square" rtlCol="0"/>
          <a:lstStyle>
            <a:lvl1pPr marL="0" indent="0" algn="l">
              <a:buNone/>
              <a:defRPr lang="en-US" sz="3600" b="1" dirty="0">
                <a:solidFill>
                  <a:schemeClr val="bg1"/>
                </a:solidFill>
              </a:defRPr>
            </a:lvl1pPr>
          </a:lstStyle>
          <a:p>
            <a:pPr marL="0" indent="0" algn="l">
              <a:buNone/>
            </a:pPr>
            <a:endParaRPr lang="en-US" sz="3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F6B70"/>
                </a:solidFill>
              </a:defRPr>
            </a:lvl1pPr>
          </a:lstStyle>
          <a:p>
            <a:pPr algn="r"/>
            <a:fld id="{F7021451-1387-4CA6-816F-3879F97B5CBC}" type="slidenum">
              <a:rPr lang="en-US" b="0"/>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19.png"/></Relationships>
</file>

<file path=ppt/slides/_rels/slide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18.png"/><Relationship Id="rId5" Type="http://schemas.openxmlformats.org/officeDocument/2006/relationships/image" Target="../media/image7.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notesSlide" Target="../notesSlides/notesSlide13.xml"/><Relationship Id="rId1" Type="http://schemas.openxmlformats.org/officeDocument/2006/relationships/slideLayout" Target="../slideLayouts/slideLayout3.xml"/><Relationship Id="rId6" Type="http://schemas.openxmlformats.org/officeDocument/2006/relationships/image" Target="../media/image27.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25.png"/><Relationship Id="rId9" Type="http://schemas.openxmlformats.org/officeDocument/2006/relationships/image" Target="../media/image30.png"/></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828800"/>
            <a:ext cx="10698480" cy="1737360"/>
          </a:xfrm>
          <a:prstGeom prst="rect">
            <a:avLst/>
          </a:prstGeom>
          <a:noFill/>
          <a:ln/>
        </p:spPr>
        <p:txBody>
          <a:bodyPr wrap="square" lIns="0" tIns="0" rIns="0" bIns="0" rtlCol="0" anchor="b"/>
          <a:lstStyle/>
          <a:p>
            <a:pPr marL="0" indent="0" algn="l">
              <a:buNone/>
            </a:pPr>
            <a:r>
              <a:rPr lang="en-US" sz="4400" b="1" dirty="0">
                <a:solidFill>
                  <a:schemeClr val="bg1"/>
                </a:solidFill>
              </a:rPr>
              <a:t>Medición de tiempos improductivos en Costura</a:t>
            </a:r>
            <a:endParaRPr lang="en-US" sz="4400" dirty="0"/>
          </a:p>
        </p:txBody>
      </p:sp>
      <p:sp>
        <p:nvSpPr>
          <p:cNvPr id="3" name="Text 0"/>
          <p:cNvSpPr>
            <a:spLocks noGrp="1"/>
          </p:cNvSpPr>
          <p:nvPr>
            <p:ph type="body" idx="101" hasCustomPrompt="1"/>
          </p:nvPr>
        </p:nvSpPr>
        <p:spPr>
          <a:xfrm>
            <a:off x="731520" y="3794760"/>
            <a:ext cx="10698480" cy="1097280"/>
          </a:xfrm>
          <a:prstGeom prst="rect">
            <a:avLst/>
          </a:prstGeom>
          <a:noFill/>
          <a:ln/>
        </p:spPr>
        <p:txBody>
          <a:bodyPr wrap="square" lIns="0" tIns="0" rIns="0" bIns="0" rtlCol="0" anchor="t"/>
          <a:lstStyle/>
          <a:p>
            <a:pPr marL="0" indent="0">
              <a:buNone/>
            </a:pPr>
            <a:r>
              <a:rPr lang="en-US" sz="2000" dirty="0">
                <a:solidFill>
                  <a:schemeClr val="accent3"/>
                </a:solidFill>
              </a:rPr>
              <a:t>IoT y visión computacional para un pago de eficiencia justo · Propuesta técnica · Octubre 2026</a:t>
            </a:r>
            <a:endParaRPr lang="en-US" sz="2000" dirty="0"/>
          </a:p>
        </p:txBody>
      </p:sp>
      <p:sp>
        <p:nvSpPr>
          <p:cNvPr id="4" name="portada-circulo"/>
          <p:cNvSpPr/>
          <p:nvPr/>
        </p:nvSpPr>
        <p:spPr>
          <a:xfrm>
            <a:off x="731520" y="731520"/>
            <a:ext cx="822960" cy="822960"/>
          </a:xfrm>
          <a:prstGeom prst="ellipse">
            <a:avLst/>
          </a:prstGeom>
          <a:solidFill>
            <a:schemeClr val="accent2"/>
          </a:solidFill>
          <a:ln/>
        </p:spPr>
      </p:sp>
      <p:pic>
        <p:nvPicPr>
          <p:cNvPr id="5" name="portada-icono" descr="preencoded.png"/>
          <p:cNvPicPr>
            <a:picLocks noChangeAspect="1"/>
          </p:cNvPicPr>
          <p:nvPr/>
        </p:nvPicPr>
        <p:blipFill>
          <a:blip r:embed="rId3"/>
          <a:stretch>
            <a:fillRect/>
          </a:stretch>
        </p:blipFill>
        <p:spPr>
          <a:xfrm>
            <a:off x="961949" y="961949"/>
            <a:ext cx="362102" cy="36210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1672" cy="868680"/>
          </a:xfrm>
          <a:prstGeom prst="rect">
            <a:avLst/>
          </a:prstGeom>
          <a:noFill/>
          <a:ln/>
        </p:spPr>
        <p:txBody>
          <a:bodyPr wrap="square" lIns="0" tIns="0" rIns="0" bIns="0" rtlCol="0" anchor="ctr"/>
          <a:lstStyle/>
          <a:p>
            <a:pPr marL="0" indent="0" algn="l">
              <a:buNone/>
            </a:pPr>
            <a:r>
              <a:rPr lang="en-US" sz="3200" b="1" dirty="0">
                <a:solidFill>
                  <a:schemeClr val="tx2"/>
                </a:solidFill>
              </a:rPr>
              <a:t>El incentivo depende de medir bien las paradas</a:t>
            </a:r>
            <a:endParaRPr lang="en-US" sz="3200" dirty="0"/>
          </a:p>
        </p:txBody>
      </p:sp>
      <p:sp>
        <p:nvSpPr>
          <p:cNvPr id="3" name="formula-tarjeta"/>
          <p:cNvSpPr/>
          <p:nvPr/>
        </p:nvSpPr>
        <p:spPr>
          <a:xfrm>
            <a:off x="548640" y="1463040"/>
            <a:ext cx="6035040" cy="4480560"/>
          </a:xfrm>
          <a:prstGeom prst="roundRect">
            <a:avLst>
              <a:gd name="adj" fmla="val 2041"/>
            </a:avLst>
          </a:prstGeom>
          <a:solidFill>
            <a:schemeClr val="bg2"/>
          </a:solidFill>
          <a:ln/>
        </p:spPr>
      </p:sp>
      <p:sp>
        <p:nvSpPr>
          <p:cNvPr id="4" name="Text 2"/>
          <p:cNvSpPr txBox="1"/>
          <p:nvPr/>
        </p:nvSpPr>
        <p:spPr>
          <a:xfrm>
            <a:off x="868680" y="1691640"/>
            <a:ext cx="5394960" cy="365760"/>
          </a:xfrm>
          <a:prstGeom prst="rect">
            <a:avLst/>
          </a:prstGeom>
          <a:noFill/>
          <a:ln/>
        </p:spPr>
        <p:txBody>
          <a:bodyPr wrap="square" lIns="0" tIns="0" rIns="0" bIns="0" rtlCol="0" anchor="t"/>
          <a:lstStyle/>
          <a:p>
            <a:pPr marL="0" indent="0">
              <a:buNone/>
            </a:pPr>
            <a:r>
              <a:rPr lang="en-US" sz="1600" b="1" dirty="0">
                <a:solidFill>
                  <a:schemeClr val="accent1"/>
                </a:solidFill>
              </a:rPr>
              <a:t>Eficiencia compensada (por trabajador y día)</a:t>
            </a:r>
            <a:endParaRPr lang="en-US" sz="1600" dirty="0"/>
          </a:p>
        </p:txBody>
      </p:sp>
      <p:sp>
        <p:nvSpPr>
          <p:cNvPr id="5" name="Text 3"/>
          <p:cNvSpPr txBox="1"/>
          <p:nvPr/>
        </p:nvSpPr>
        <p:spPr>
          <a:xfrm>
            <a:off x="868680" y="2240280"/>
            <a:ext cx="5394960" cy="457200"/>
          </a:xfrm>
          <a:prstGeom prst="rect">
            <a:avLst/>
          </a:prstGeom>
          <a:noFill/>
          <a:ln/>
        </p:spPr>
        <p:txBody>
          <a:bodyPr wrap="square" lIns="0" tIns="0" rIns="0" bIns="0" rtlCol="0" anchor="t"/>
          <a:lstStyle/>
          <a:p>
            <a:pPr marL="0" indent="0" algn="ctr">
              <a:buNone/>
            </a:pPr>
            <a:r>
              <a:rPr lang="en-US" sz="2200" dirty="0">
                <a:solidFill>
                  <a:schemeClr val="tx1"/>
                </a:solidFill>
              </a:rPr>
              <a:t>Min. estándar</a:t>
            </a:r>
            <a:endParaRPr lang="en-US" sz="2200" dirty="0"/>
          </a:p>
        </p:txBody>
      </p:sp>
      <p:sp>
        <p:nvSpPr>
          <p:cNvPr id="6" name="Shape 4"/>
          <p:cNvSpPr/>
          <p:nvPr/>
        </p:nvSpPr>
        <p:spPr>
          <a:xfrm>
            <a:off x="1051560" y="2788920"/>
            <a:ext cx="5029200" cy="0"/>
          </a:xfrm>
          <a:prstGeom prst="line">
            <a:avLst/>
          </a:prstGeom>
          <a:noFill/>
          <a:ln w="25400">
            <a:solidFill>
              <a:srgbClr val="0F3D3E"/>
            </a:solidFill>
            <a:prstDash val="solid"/>
          </a:ln>
        </p:spPr>
      </p:sp>
      <p:sp>
        <p:nvSpPr>
          <p:cNvPr id="7" name="Text 5"/>
          <p:cNvSpPr txBox="1"/>
          <p:nvPr/>
        </p:nvSpPr>
        <p:spPr>
          <a:xfrm>
            <a:off x="868680" y="2907792"/>
            <a:ext cx="5394960" cy="457200"/>
          </a:xfrm>
          <a:prstGeom prst="rect">
            <a:avLst/>
          </a:prstGeom>
          <a:noFill/>
          <a:ln/>
        </p:spPr>
        <p:txBody>
          <a:bodyPr wrap="square" lIns="0" tIns="0" rIns="0" bIns="0" rtlCol="0" anchor="t"/>
          <a:lstStyle/>
          <a:p>
            <a:pPr marL="0" indent="0" algn="ctr">
              <a:buNone/>
            </a:pPr>
            <a:r>
              <a:rPr lang="en-US" sz="2200" dirty="0">
                <a:solidFill>
                  <a:schemeClr val="tx1"/>
                </a:solidFill>
              </a:rPr>
              <a:t>Min. trabajados − </a:t>
            </a:r>
            <a:r>
              <a:rPr lang="en-US" sz="2200" b="1" dirty="0">
                <a:solidFill>
                  <a:schemeClr val="accent2"/>
                </a:solidFill>
              </a:rPr>
              <a:t>Min. improductivos</a:t>
            </a:r>
            <a:endParaRPr lang="en-US" sz="2200" dirty="0"/>
          </a:p>
        </p:txBody>
      </p:sp>
      <p:sp>
        <p:nvSpPr>
          <p:cNvPr id="8" name="Shape 6"/>
          <p:cNvSpPr/>
          <p:nvPr/>
        </p:nvSpPr>
        <p:spPr>
          <a:xfrm>
            <a:off x="868680" y="3657600"/>
            <a:ext cx="5394960" cy="0"/>
          </a:xfrm>
          <a:prstGeom prst="line">
            <a:avLst/>
          </a:prstGeom>
          <a:noFill/>
          <a:ln w="12700">
            <a:solidFill>
              <a:srgbClr val="9CC5BF"/>
            </a:solidFill>
            <a:prstDash val="solid"/>
          </a:ln>
        </p:spPr>
      </p:sp>
      <p:sp>
        <p:nvSpPr>
          <p:cNvPr id="9" name="Text 7"/>
          <p:cNvSpPr txBox="1"/>
          <p:nvPr/>
        </p:nvSpPr>
        <p:spPr>
          <a:xfrm>
            <a:off x="868680" y="3794760"/>
            <a:ext cx="2011680" cy="411480"/>
          </a:xfrm>
          <a:prstGeom prst="rect">
            <a:avLst/>
          </a:prstGeom>
          <a:noFill/>
          <a:ln/>
        </p:spPr>
        <p:txBody>
          <a:bodyPr wrap="square" lIns="0" tIns="0" rIns="0" bIns="0" rtlCol="0" anchor="ctr"/>
          <a:lstStyle/>
          <a:p>
            <a:pPr marL="0" indent="0">
              <a:buNone/>
            </a:pPr>
            <a:r>
              <a:rPr lang="en-US" sz="1400" b="1" dirty="0">
                <a:solidFill>
                  <a:schemeClr val="tx2"/>
                </a:solidFill>
              </a:rPr>
              <a:t>Eficiencia real</a:t>
            </a:r>
            <a:endParaRPr lang="en-US" sz="1400" dirty="0"/>
          </a:p>
        </p:txBody>
      </p:sp>
      <p:sp>
        <p:nvSpPr>
          <p:cNvPr id="10" name="Text 8"/>
          <p:cNvSpPr txBox="1"/>
          <p:nvPr/>
        </p:nvSpPr>
        <p:spPr>
          <a:xfrm>
            <a:off x="2880360" y="3794760"/>
            <a:ext cx="3520440" cy="411480"/>
          </a:xfrm>
          <a:prstGeom prst="rect">
            <a:avLst/>
          </a:prstGeom>
          <a:noFill/>
          <a:ln/>
        </p:spPr>
        <p:txBody>
          <a:bodyPr wrap="square" lIns="0" tIns="0" rIns="0" bIns="0" rtlCol="0" anchor="ctr"/>
          <a:lstStyle/>
          <a:p>
            <a:pPr marL="0" indent="0">
              <a:buNone/>
            </a:pPr>
            <a:r>
              <a:rPr lang="en-US" sz="1300" dirty="0">
                <a:solidFill>
                  <a:schemeClr val="tx1"/>
                </a:solidFill>
              </a:rPr>
              <a:t>Σ Min. estándar ÷ Σ Min. trabajados</a:t>
            </a:r>
            <a:endParaRPr lang="en-US" sz="1300" dirty="0"/>
          </a:p>
        </p:txBody>
      </p:sp>
      <p:sp>
        <p:nvSpPr>
          <p:cNvPr id="11" name="Text 9"/>
          <p:cNvSpPr txBox="1"/>
          <p:nvPr/>
        </p:nvSpPr>
        <p:spPr>
          <a:xfrm>
            <a:off x="868680" y="4297680"/>
            <a:ext cx="2011680" cy="411480"/>
          </a:xfrm>
          <a:prstGeom prst="rect">
            <a:avLst/>
          </a:prstGeom>
          <a:noFill/>
          <a:ln/>
        </p:spPr>
        <p:txBody>
          <a:bodyPr wrap="square" lIns="0" tIns="0" rIns="0" bIns="0" rtlCol="0" anchor="ctr"/>
          <a:lstStyle/>
          <a:p>
            <a:pPr marL="0" indent="0">
              <a:buNone/>
            </a:pPr>
            <a:r>
              <a:rPr lang="en-US" sz="1400" b="1" dirty="0">
                <a:solidFill>
                  <a:schemeClr val="tx2"/>
                </a:solidFill>
              </a:rPr>
              <a:t>% Tiempo improductivo</a:t>
            </a:r>
            <a:endParaRPr lang="en-US" sz="1400" dirty="0"/>
          </a:p>
        </p:txBody>
      </p:sp>
      <p:sp>
        <p:nvSpPr>
          <p:cNvPr id="12" name="Text 10"/>
          <p:cNvSpPr txBox="1"/>
          <p:nvPr/>
        </p:nvSpPr>
        <p:spPr>
          <a:xfrm>
            <a:off x="2880360" y="4297680"/>
            <a:ext cx="3520440" cy="411480"/>
          </a:xfrm>
          <a:prstGeom prst="rect">
            <a:avLst/>
          </a:prstGeom>
          <a:noFill/>
          <a:ln/>
        </p:spPr>
        <p:txBody>
          <a:bodyPr wrap="square" lIns="0" tIns="0" rIns="0" bIns="0" rtlCol="0" anchor="ctr"/>
          <a:lstStyle/>
          <a:p>
            <a:pPr marL="0" indent="0">
              <a:buNone/>
            </a:pPr>
            <a:r>
              <a:rPr lang="en-US" sz="1300" dirty="0">
                <a:solidFill>
                  <a:schemeClr val="tx1"/>
                </a:solidFill>
              </a:rPr>
              <a:t>Σ Min. improductivos ÷ Σ Min. trabajados</a:t>
            </a:r>
            <a:endParaRPr lang="en-US" sz="1300" dirty="0"/>
          </a:p>
        </p:txBody>
      </p:sp>
      <p:sp>
        <p:nvSpPr>
          <p:cNvPr id="13" name="Text 11"/>
          <p:cNvSpPr txBox="1"/>
          <p:nvPr/>
        </p:nvSpPr>
        <p:spPr>
          <a:xfrm>
            <a:off x="868680" y="4800600"/>
            <a:ext cx="2011680" cy="411480"/>
          </a:xfrm>
          <a:prstGeom prst="rect">
            <a:avLst/>
          </a:prstGeom>
          <a:noFill/>
          <a:ln/>
        </p:spPr>
        <p:txBody>
          <a:bodyPr wrap="square" lIns="0" tIns="0" rIns="0" bIns="0" rtlCol="0" anchor="ctr"/>
          <a:lstStyle/>
          <a:p>
            <a:pPr marL="0" indent="0">
              <a:buNone/>
            </a:pPr>
            <a:r>
              <a:rPr lang="en-US" sz="1400" b="1" dirty="0">
                <a:solidFill>
                  <a:schemeClr val="tx2"/>
                </a:solidFill>
              </a:rPr>
              <a:t>Compensada agregada</a:t>
            </a:r>
            <a:endParaRPr lang="en-US" sz="1400" dirty="0"/>
          </a:p>
        </p:txBody>
      </p:sp>
      <p:sp>
        <p:nvSpPr>
          <p:cNvPr id="14" name="Text 12"/>
          <p:cNvSpPr txBox="1"/>
          <p:nvPr/>
        </p:nvSpPr>
        <p:spPr>
          <a:xfrm>
            <a:off x="2880360" y="4800600"/>
            <a:ext cx="3520440" cy="411480"/>
          </a:xfrm>
          <a:prstGeom prst="rect">
            <a:avLst/>
          </a:prstGeom>
          <a:noFill/>
          <a:ln/>
        </p:spPr>
        <p:txBody>
          <a:bodyPr wrap="square" lIns="0" tIns="0" rIns="0" bIns="0" rtlCol="0" anchor="ctr"/>
          <a:lstStyle/>
          <a:p>
            <a:pPr marL="0" indent="0">
              <a:buNone/>
            </a:pPr>
            <a:r>
              <a:rPr lang="en-US" sz="1300" dirty="0">
                <a:solidFill>
                  <a:schemeClr val="tx1"/>
                </a:solidFill>
              </a:rPr>
              <a:t>Σ (Compensada × Min. trabajados) ÷ Σ Min. trabajados</a:t>
            </a:r>
            <a:endParaRPr lang="en-US" sz="1300" dirty="0"/>
          </a:p>
        </p:txBody>
      </p:sp>
      <p:sp>
        <p:nvSpPr>
          <p:cNvPr id="15" name="Text 13"/>
          <p:cNvSpPr txBox="1"/>
          <p:nvPr/>
        </p:nvSpPr>
        <p:spPr>
          <a:xfrm>
            <a:off x="868680" y="5303520"/>
            <a:ext cx="2011680" cy="411480"/>
          </a:xfrm>
          <a:prstGeom prst="rect">
            <a:avLst/>
          </a:prstGeom>
          <a:noFill/>
          <a:ln/>
        </p:spPr>
        <p:txBody>
          <a:bodyPr wrap="square" lIns="0" tIns="0" rIns="0" bIns="0" rtlCol="0" anchor="ctr"/>
          <a:lstStyle/>
          <a:p>
            <a:pPr marL="0" indent="0">
              <a:buNone/>
            </a:pPr>
            <a:r>
              <a:rPr lang="en-US" sz="1400" b="1" dirty="0">
                <a:solidFill>
                  <a:schemeClr val="tx2"/>
                </a:solidFill>
              </a:rPr>
              <a:t>Incentivo</a:t>
            </a:r>
            <a:endParaRPr lang="en-US" sz="1400" dirty="0"/>
          </a:p>
        </p:txBody>
      </p:sp>
      <p:sp>
        <p:nvSpPr>
          <p:cNvPr id="16" name="Text 14"/>
          <p:cNvSpPr txBox="1"/>
          <p:nvPr/>
        </p:nvSpPr>
        <p:spPr>
          <a:xfrm>
            <a:off x="2880360" y="5303520"/>
            <a:ext cx="3520440" cy="411480"/>
          </a:xfrm>
          <a:prstGeom prst="rect">
            <a:avLst/>
          </a:prstGeom>
          <a:noFill/>
          <a:ln/>
        </p:spPr>
        <p:txBody>
          <a:bodyPr wrap="square" lIns="0" tIns="0" rIns="0" bIns="0" rtlCol="0" anchor="ctr"/>
          <a:lstStyle/>
          <a:p>
            <a:pPr marL="0" indent="0">
              <a:buNone/>
            </a:pPr>
            <a:r>
              <a:rPr lang="en-US" sz="1300" dirty="0">
                <a:solidFill>
                  <a:schemeClr val="tx1"/>
                </a:solidFill>
              </a:rPr>
              <a:t>Σ Incentivo (suma directa)</a:t>
            </a:r>
            <a:endParaRPr lang="en-US" sz="1300" dirty="0"/>
          </a:p>
        </p:txBody>
      </p:sp>
      <p:sp>
        <p:nvSpPr>
          <p:cNvPr id="17" name="riesgo0-circulo"/>
          <p:cNvSpPr/>
          <p:nvPr/>
        </p:nvSpPr>
        <p:spPr>
          <a:xfrm>
            <a:off x="7040880" y="1554480"/>
            <a:ext cx="685800" cy="685800"/>
          </a:xfrm>
          <a:prstGeom prst="ellipse">
            <a:avLst/>
          </a:prstGeom>
          <a:solidFill>
            <a:schemeClr val="accent4"/>
          </a:solidFill>
          <a:ln/>
        </p:spPr>
      </p:sp>
      <p:pic>
        <p:nvPicPr>
          <p:cNvPr id="18" name="riesgo0-icono" descr="preencoded.png"/>
          <p:cNvPicPr>
            <a:picLocks noChangeAspect="1"/>
          </p:cNvPicPr>
          <p:nvPr/>
        </p:nvPicPr>
        <p:blipFill>
          <a:blip r:embed="rId3"/>
          <a:stretch>
            <a:fillRect/>
          </a:stretch>
        </p:blipFill>
        <p:spPr>
          <a:xfrm>
            <a:off x="7232904" y="1746504"/>
            <a:ext cx="301752" cy="301752"/>
          </a:xfrm>
          <a:prstGeom prst="rect">
            <a:avLst/>
          </a:prstGeom>
        </p:spPr>
      </p:pic>
      <p:sp>
        <p:nvSpPr>
          <p:cNvPr id="19" name="Text 16"/>
          <p:cNvSpPr txBox="1"/>
          <p:nvPr/>
        </p:nvSpPr>
        <p:spPr>
          <a:xfrm>
            <a:off x="7955280" y="1536192"/>
            <a:ext cx="3657600" cy="411480"/>
          </a:xfrm>
          <a:prstGeom prst="rect">
            <a:avLst/>
          </a:prstGeom>
          <a:noFill/>
          <a:ln/>
        </p:spPr>
        <p:txBody>
          <a:bodyPr wrap="square" lIns="0" tIns="0" rIns="0" bIns="0" rtlCol="0" anchor="t"/>
          <a:lstStyle/>
          <a:p>
            <a:pPr marL="0" indent="0">
              <a:buNone/>
            </a:pPr>
            <a:r>
              <a:rPr lang="en-US" sz="1800" b="1" dirty="0">
                <a:solidFill>
                  <a:schemeClr val="tx2"/>
                </a:solidFill>
              </a:rPr>
              <a:t>Se registran menos de los reales</a:t>
            </a:r>
            <a:endParaRPr lang="en-US" sz="1800" dirty="0"/>
          </a:p>
        </p:txBody>
      </p:sp>
      <p:sp>
        <p:nvSpPr>
          <p:cNvPr id="20" name="Text 17"/>
          <p:cNvSpPr txBox="1"/>
          <p:nvPr/>
        </p:nvSpPr>
        <p:spPr>
          <a:xfrm>
            <a:off x="7955280" y="1965960"/>
            <a:ext cx="3657600" cy="868680"/>
          </a:xfrm>
          <a:prstGeom prst="rect">
            <a:avLst/>
          </a:prstGeom>
          <a:noFill/>
          <a:ln/>
        </p:spPr>
        <p:txBody>
          <a:bodyPr wrap="square" lIns="0" tIns="0" rIns="0" bIns="0" rtlCol="0" anchor="t"/>
          <a:lstStyle/>
          <a:p>
            <a:pPr marL="0" indent="0">
              <a:buNone/>
            </a:pPr>
            <a:r>
              <a:rPr lang="en-US" sz="1400" dirty="0">
                <a:solidFill>
                  <a:schemeClr val="tx1"/>
                </a:solidFill>
              </a:rPr>
              <a:t>Ej.: 20 min en vez de 60 → la compensada baja de 95 % a 87 % y la operaria pierde incentivo.</a:t>
            </a:r>
            <a:endParaRPr lang="en-US" sz="1400" dirty="0"/>
          </a:p>
        </p:txBody>
      </p:sp>
      <p:sp>
        <p:nvSpPr>
          <p:cNvPr id="21" name="riesgo1-circulo"/>
          <p:cNvSpPr/>
          <p:nvPr/>
        </p:nvSpPr>
        <p:spPr>
          <a:xfrm>
            <a:off x="7040880" y="3017520"/>
            <a:ext cx="685800" cy="685800"/>
          </a:xfrm>
          <a:prstGeom prst="ellipse">
            <a:avLst/>
          </a:prstGeom>
          <a:solidFill>
            <a:schemeClr val="accent2"/>
          </a:solidFill>
          <a:ln/>
        </p:spPr>
      </p:sp>
      <p:pic>
        <p:nvPicPr>
          <p:cNvPr id="22" name="riesgo1-icono" descr="preencoded.png"/>
          <p:cNvPicPr>
            <a:picLocks noChangeAspect="1"/>
          </p:cNvPicPr>
          <p:nvPr/>
        </p:nvPicPr>
        <p:blipFill>
          <a:blip r:embed="rId4"/>
          <a:stretch>
            <a:fillRect/>
          </a:stretch>
        </p:blipFill>
        <p:spPr>
          <a:xfrm>
            <a:off x="7232904" y="3209544"/>
            <a:ext cx="301752" cy="301752"/>
          </a:xfrm>
          <a:prstGeom prst="rect">
            <a:avLst/>
          </a:prstGeom>
        </p:spPr>
      </p:pic>
      <p:sp>
        <p:nvSpPr>
          <p:cNvPr id="23" name="Text 19"/>
          <p:cNvSpPr txBox="1"/>
          <p:nvPr/>
        </p:nvSpPr>
        <p:spPr>
          <a:xfrm>
            <a:off x="7955280" y="2999232"/>
            <a:ext cx="3657600" cy="411480"/>
          </a:xfrm>
          <a:prstGeom prst="rect">
            <a:avLst/>
          </a:prstGeom>
          <a:noFill/>
          <a:ln/>
        </p:spPr>
        <p:txBody>
          <a:bodyPr wrap="square" lIns="0" tIns="0" rIns="0" bIns="0" rtlCol="0" anchor="t"/>
          <a:lstStyle/>
          <a:p>
            <a:pPr marL="0" indent="0">
              <a:buNone/>
            </a:pPr>
            <a:r>
              <a:rPr lang="en-US" sz="1800" b="1" dirty="0">
                <a:solidFill>
                  <a:schemeClr val="tx2"/>
                </a:solidFill>
              </a:rPr>
              <a:t>Se registran más de los reales</a:t>
            </a:r>
            <a:endParaRPr lang="en-US" sz="1800" dirty="0"/>
          </a:p>
        </p:txBody>
      </p:sp>
      <p:sp>
        <p:nvSpPr>
          <p:cNvPr id="24" name="Text 20"/>
          <p:cNvSpPr txBox="1"/>
          <p:nvPr/>
        </p:nvSpPr>
        <p:spPr>
          <a:xfrm>
            <a:off x="7955280" y="3429000"/>
            <a:ext cx="3657600" cy="868680"/>
          </a:xfrm>
          <a:prstGeom prst="rect">
            <a:avLst/>
          </a:prstGeom>
          <a:noFill/>
          <a:ln/>
        </p:spPr>
        <p:txBody>
          <a:bodyPr wrap="square" lIns="0" tIns="0" rIns="0" bIns="0" rtlCol="0" anchor="t"/>
          <a:lstStyle/>
          <a:p>
            <a:pPr marL="0" indent="0">
              <a:buNone/>
            </a:pPr>
            <a:r>
              <a:rPr lang="en-US" sz="1400" dirty="0">
                <a:solidFill>
                  <a:schemeClr val="tx1"/>
                </a:solidFill>
              </a:rPr>
              <a:t>Ej.: 100 min en vez de 60 → la compensada sube de 95 % a 105 % y la empresa paga de más.</a:t>
            </a:r>
            <a:endParaRPr lang="en-US" sz="1400" dirty="0"/>
          </a:p>
        </p:txBody>
      </p:sp>
      <p:sp>
        <p:nvSpPr>
          <p:cNvPr id="25" name="riesgo2-circulo"/>
          <p:cNvSpPr/>
          <p:nvPr/>
        </p:nvSpPr>
        <p:spPr>
          <a:xfrm>
            <a:off x="7040880" y="4480560"/>
            <a:ext cx="685800" cy="685800"/>
          </a:xfrm>
          <a:prstGeom prst="ellipse">
            <a:avLst/>
          </a:prstGeom>
          <a:solidFill>
            <a:schemeClr val="accent1"/>
          </a:solidFill>
          <a:ln/>
        </p:spPr>
      </p:sp>
      <p:pic>
        <p:nvPicPr>
          <p:cNvPr id="26" name="riesgo2-icono" descr="preencoded.png"/>
          <p:cNvPicPr>
            <a:picLocks noChangeAspect="1"/>
          </p:cNvPicPr>
          <p:nvPr/>
        </p:nvPicPr>
        <p:blipFill>
          <a:blip r:embed="rId5"/>
          <a:stretch>
            <a:fillRect/>
          </a:stretch>
        </p:blipFill>
        <p:spPr>
          <a:xfrm>
            <a:off x="7232904" y="4672584"/>
            <a:ext cx="301752" cy="301752"/>
          </a:xfrm>
          <a:prstGeom prst="rect">
            <a:avLst/>
          </a:prstGeom>
        </p:spPr>
      </p:pic>
      <p:sp>
        <p:nvSpPr>
          <p:cNvPr id="27" name="Text 22"/>
          <p:cNvSpPr txBox="1"/>
          <p:nvPr/>
        </p:nvSpPr>
        <p:spPr>
          <a:xfrm>
            <a:off x="7955280" y="4462272"/>
            <a:ext cx="3657600" cy="411480"/>
          </a:xfrm>
          <a:prstGeom prst="rect">
            <a:avLst/>
          </a:prstGeom>
          <a:noFill/>
          <a:ln/>
        </p:spPr>
        <p:txBody>
          <a:bodyPr wrap="square" lIns="0" tIns="0" rIns="0" bIns="0" rtlCol="0" anchor="t"/>
          <a:lstStyle/>
          <a:p>
            <a:pPr marL="0" indent="0">
              <a:buNone/>
            </a:pPr>
            <a:r>
              <a:rPr lang="en-US" sz="1800" b="1" dirty="0">
                <a:solidFill>
                  <a:schemeClr val="tx2"/>
                </a:solidFill>
              </a:rPr>
              <a:t>Siempre con minutos sumados</a:t>
            </a:r>
            <a:endParaRPr lang="en-US" sz="1800" dirty="0"/>
          </a:p>
        </p:txBody>
      </p:sp>
      <p:sp>
        <p:nvSpPr>
          <p:cNvPr id="28" name="Text 23"/>
          <p:cNvSpPr txBox="1"/>
          <p:nvPr/>
        </p:nvSpPr>
        <p:spPr>
          <a:xfrm>
            <a:off x="7955280" y="4892040"/>
            <a:ext cx="3657600" cy="868680"/>
          </a:xfrm>
          <a:prstGeom prst="rect">
            <a:avLst/>
          </a:prstGeom>
          <a:noFill/>
          <a:ln/>
        </p:spPr>
        <p:txBody>
          <a:bodyPr wrap="square" lIns="0" tIns="0" rIns="0" bIns="0" rtlCol="0" anchor="t"/>
          <a:lstStyle/>
          <a:p>
            <a:pPr marL="0" indent="0">
              <a:buNone/>
            </a:pPr>
            <a:r>
              <a:rPr lang="en-US" sz="1400" dirty="0">
                <a:solidFill>
                  <a:schemeClr val="tx1"/>
                </a:solidFill>
              </a:rPr>
              <a:t>Los totales se calculan sumando minutos, nunca promediando porcentajes.</a:t>
            </a:r>
            <a:endParaRPr lang="en-US" sz="1400" dirty="0"/>
          </a:p>
        </p:txBody>
      </p:sp>
      <p:sp>
        <p:nvSpPr>
          <p:cNvPr id="29"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F6B70"/>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1672" cy="868680"/>
          </a:xfrm>
          <a:prstGeom prst="rect">
            <a:avLst/>
          </a:prstGeom>
          <a:noFill/>
          <a:ln/>
        </p:spPr>
        <p:txBody>
          <a:bodyPr wrap="square" lIns="0" tIns="0" rIns="0" bIns="0" rtlCol="0" anchor="ctr"/>
          <a:lstStyle/>
          <a:p>
            <a:pPr marL="0" indent="0" algn="l">
              <a:buNone/>
            </a:pPr>
            <a:r>
              <a:rPr lang="en-US" sz="3200" b="1" dirty="0">
                <a:solidFill>
                  <a:schemeClr val="tx2"/>
                </a:solidFill>
              </a:rPr>
              <a:t>Antecedentes: la visión de manos aún no se usa para pagar</a:t>
            </a:r>
            <a:endParaRPr lang="en-US" sz="3200" dirty="0"/>
          </a:p>
        </p:txBody>
      </p:sp>
      <p:sp>
        <p:nvSpPr>
          <p:cNvPr id="3" name="caso0"/>
          <p:cNvSpPr/>
          <p:nvPr/>
        </p:nvSpPr>
        <p:spPr>
          <a:xfrm>
            <a:off x="548640" y="1417320"/>
            <a:ext cx="3511296" cy="2240280"/>
          </a:xfrm>
          <a:prstGeom prst="roundRect">
            <a:avLst>
              <a:gd name="adj" fmla="val 4082"/>
            </a:avLst>
          </a:prstGeom>
          <a:solidFill>
            <a:schemeClr val="bg2"/>
          </a:solidFill>
          <a:ln/>
        </p:spPr>
      </p:sp>
      <p:sp>
        <p:nvSpPr>
          <p:cNvPr id="4" name="caso0-circulo"/>
          <p:cNvSpPr/>
          <p:nvPr/>
        </p:nvSpPr>
        <p:spPr>
          <a:xfrm>
            <a:off x="777240" y="1645920"/>
            <a:ext cx="548640" cy="548640"/>
          </a:xfrm>
          <a:prstGeom prst="ellipse">
            <a:avLst/>
          </a:prstGeom>
          <a:solidFill>
            <a:schemeClr val="accent1"/>
          </a:solidFill>
          <a:ln/>
        </p:spPr>
      </p:sp>
      <p:pic>
        <p:nvPicPr>
          <p:cNvPr id="5" name="caso0-icono" descr="preencoded.png"/>
          <p:cNvPicPr>
            <a:picLocks noChangeAspect="1"/>
          </p:cNvPicPr>
          <p:nvPr/>
        </p:nvPicPr>
        <p:blipFill>
          <a:blip r:embed="rId3"/>
          <a:stretch>
            <a:fillRect/>
          </a:stretch>
        </p:blipFill>
        <p:spPr>
          <a:xfrm>
            <a:off x="930859" y="1799539"/>
            <a:ext cx="241402" cy="241402"/>
          </a:xfrm>
          <a:prstGeom prst="rect">
            <a:avLst/>
          </a:prstGeom>
        </p:spPr>
      </p:pic>
      <p:sp>
        <p:nvSpPr>
          <p:cNvPr id="6" name="Text 3"/>
          <p:cNvSpPr txBox="1"/>
          <p:nvPr/>
        </p:nvSpPr>
        <p:spPr>
          <a:xfrm>
            <a:off x="1463040" y="1618488"/>
            <a:ext cx="2414016" cy="365760"/>
          </a:xfrm>
          <a:prstGeom prst="rect">
            <a:avLst/>
          </a:prstGeom>
          <a:noFill/>
          <a:ln/>
        </p:spPr>
        <p:txBody>
          <a:bodyPr wrap="square" lIns="0" tIns="0" rIns="0" bIns="0" rtlCol="0" anchor="t"/>
          <a:lstStyle/>
          <a:p>
            <a:pPr marL="0" indent="0">
              <a:buNone/>
            </a:pPr>
            <a:r>
              <a:rPr lang="en-US" sz="1600" b="1" dirty="0">
                <a:solidFill>
                  <a:schemeClr val="tx2"/>
                </a:solidFill>
              </a:rPr>
              <a:t>Nidle · Team Group</a:t>
            </a:r>
            <a:endParaRPr lang="en-US" sz="1600" dirty="0"/>
          </a:p>
        </p:txBody>
      </p:sp>
      <p:sp>
        <p:nvSpPr>
          <p:cNvPr id="7" name="Text 4"/>
          <p:cNvSpPr txBox="1"/>
          <p:nvPr/>
        </p:nvSpPr>
        <p:spPr>
          <a:xfrm>
            <a:off x="1463040" y="1965960"/>
            <a:ext cx="2414016" cy="274320"/>
          </a:xfrm>
          <a:prstGeom prst="rect">
            <a:avLst/>
          </a:prstGeom>
          <a:noFill/>
          <a:ln/>
        </p:spPr>
        <p:txBody>
          <a:bodyPr wrap="square" lIns="0" tIns="0" rIns="0" bIns="0" rtlCol="0" anchor="t"/>
          <a:lstStyle/>
          <a:p>
            <a:pPr marL="0" indent="0">
              <a:buNone/>
            </a:pPr>
            <a:r>
              <a:rPr lang="en-US" sz="1200" dirty="0">
                <a:solidFill>
                  <a:schemeClr val="accent5"/>
                </a:solidFill>
              </a:rPr>
              <a:t>Bangladesh, desde ~2022</a:t>
            </a:r>
            <a:endParaRPr lang="en-US" sz="1200" dirty="0"/>
          </a:p>
        </p:txBody>
      </p:sp>
      <p:sp>
        <p:nvSpPr>
          <p:cNvPr id="8" name="Text 5"/>
          <p:cNvSpPr txBox="1"/>
          <p:nvPr/>
        </p:nvSpPr>
        <p:spPr>
          <a:xfrm>
            <a:off x="777240" y="2377440"/>
            <a:ext cx="3054096" cy="1188720"/>
          </a:xfrm>
          <a:prstGeom prst="rect">
            <a:avLst/>
          </a:prstGeom>
          <a:noFill/>
          <a:ln/>
        </p:spPr>
        <p:txBody>
          <a:bodyPr wrap="square" lIns="0" tIns="0" rIns="0" bIns="0" rtlCol="0" anchor="t"/>
          <a:lstStyle/>
          <a:p>
            <a:pPr marL="0" indent="0">
              <a:buNone/>
            </a:pPr>
            <a:r>
              <a:rPr lang="en-US" sz="1400" dirty="0">
                <a:solidFill>
                  <a:schemeClr val="tx1"/>
                </a:solidFill>
              </a:rPr>
              <a:t>Sensor y pantalla por máquina: piezas por hora y minutos ociosos. El proveedor reporta hasta −15 % de ocio.</a:t>
            </a:r>
            <a:endParaRPr lang="en-US" sz="1400" dirty="0"/>
          </a:p>
        </p:txBody>
      </p:sp>
      <p:sp>
        <p:nvSpPr>
          <p:cNvPr id="9" name="caso1"/>
          <p:cNvSpPr/>
          <p:nvPr/>
        </p:nvSpPr>
        <p:spPr>
          <a:xfrm>
            <a:off x="4338828" y="1417320"/>
            <a:ext cx="3511296" cy="2240280"/>
          </a:xfrm>
          <a:prstGeom prst="roundRect">
            <a:avLst>
              <a:gd name="adj" fmla="val 4082"/>
            </a:avLst>
          </a:prstGeom>
          <a:solidFill>
            <a:schemeClr val="bg2"/>
          </a:solidFill>
          <a:ln/>
        </p:spPr>
      </p:sp>
      <p:sp>
        <p:nvSpPr>
          <p:cNvPr id="10" name="caso1-circulo"/>
          <p:cNvSpPr/>
          <p:nvPr/>
        </p:nvSpPr>
        <p:spPr>
          <a:xfrm>
            <a:off x="4567428" y="1645920"/>
            <a:ext cx="548640" cy="548640"/>
          </a:xfrm>
          <a:prstGeom prst="ellipse">
            <a:avLst/>
          </a:prstGeom>
          <a:solidFill>
            <a:schemeClr val="accent1"/>
          </a:solidFill>
          <a:ln/>
        </p:spPr>
      </p:sp>
      <p:pic>
        <p:nvPicPr>
          <p:cNvPr id="11" name="caso1-icono" descr="preencoded.png"/>
          <p:cNvPicPr>
            <a:picLocks noChangeAspect="1"/>
          </p:cNvPicPr>
          <p:nvPr/>
        </p:nvPicPr>
        <p:blipFill>
          <a:blip r:embed="rId4"/>
          <a:stretch>
            <a:fillRect/>
          </a:stretch>
        </p:blipFill>
        <p:spPr>
          <a:xfrm>
            <a:off x="4721047" y="1799539"/>
            <a:ext cx="241402" cy="241402"/>
          </a:xfrm>
          <a:prstGeom prst="rect">
            <a:avLst/>
          </a:prstGeom>
        </p:spPr>
      </p:pic>
      <p:sp>
        <p:nvSpPr>
          <p:cNvPr id="12" name="Text 8"/>
          <p:cNvSpPr txBox="1"/>
          <p:nvPr/>
        </p:nvSpPr>
        <p:spPr>
          <a:xfrm>
            <a:off x="5253228" y="1618488"/>
            <a:ext cx="2414016" cy="365760"/>
          </a:xfrm>
          <a:prstGeom prst="rect">
            <a:avLst/>
          </a:prstGeom>
          <a:noFill/>
          <a:ln/>
        </p:spPr>
        <p:txBody>
          <a:bodyPr wrap="square" lIns="0" tIns="0" rIns="0" bIns="0" rtlCol="0" anchor="t"/>
          <a:lstStyle/>
          <a:p>
            <a:pPr marL="0" indent="0">
              <a:buNone/>
            </a:pPr>
            <a:r>
              <a:rPr lang="en-US" sz="1600" b="1" dirty="0">
                <a:solidFill>
                  <a:schemeClr val="tx2"/>
                </a:solidFill>
              </a:rPr>
              <a:t>JUKI JaNets · Brother NEXIO</a:t>
            </a:r>
            <a:endParaRPr lang="en-US" sz="1600" dirty="0"/>
          </a:p>
        </p:txBody>
      </p:sp>
      <p:sp>
        <p:nvSpPr>
          <p:cNvPr id="13" name="Text 9"/>
          <p:cNvSpPr txBox="1"/>
          <p:nvPr/>
        </p:nvSpPr>
        <p:spPr>
          <a:xfrm>
            <a:off x="5253228" y="1965960"/>
            <a:ext cx="2414016" cy="274320"/>
          </a:xfrm>
          <a:prstGeom prst="rect">
            <a:avLst/>
          </a:prstGeom>
          <a:noFill/>
          <a:ln/>
        </p:spPr>
        <p:txBody>
          <a:bodyPr wrap="square" lIns="0" tIns="0" rIns="0" bIns="0" rtlCol="0" anchor="t"/>
          <a:lstStyle/>
          <a:p>
            <a:pPr marL="0" indent="0">
              <a:buNone/>
            </a:pPr>
            <a:r>
              <a:rPr lang="en-US" sz="1200" dirty="0">
                <a:solidFill>
                  <a:schemeClr val="accent5"/>
                </a:solidFill>
              </a:rPr>
              <a:t>Japón</a:t>
            </a:r>
            <a:endParaRPr lang="en-US" sz="1200" dirty="0"/>
          </a:p>
        </p:txBody>
      </p:sp>
      <p:sp>
        <p:nvSpPr>
          <p:cNvPr id="14" name="Text 10"/>
          <p:cNvSpPr txBox="1"/>
          <p:nvPr/>
        </p:nvSpPr>
        <p:spPr>
          <a:xfrm>
            <a:off x="4567428" y="2377440"/>
            <a:ext cx="3054096" cy="1188720"/>
          </a:xfrm>
          <a:prstGeom prst="rect">
            <a:avLst/>
          </a:prstGeom>
          <a:noFill/>
          <a:ln/>
        </p:spPr>
        <p:txBody>
          <a:bodyPr wrap="square" lIns="0" tIns="0" rIns="0" bIns="0" rtlCol="0" anchor="t"/>
          <a:lstStyle/>
          <a:p>
            <a:pPr marL="0" indent="0">
              <a:buNone/>
            </a:pPr>
            <a:r>
              <a:rPr lang="en-US" sz="1400" dirty="0">
                <a:solidFill>
                  <a:schemeClr val="tx1"/>
                </a:solidFill>
              </a:rPr>
              <a:t>Máquinas conectadas con tableros de tiempo ocioso. JaNets: +12 % de productividad en una planta de Dhaka (2025).</a:t>
            </a:r>
            <a:endParaRPr lang="en-US" sz="1400" dirty="0"/>
          </a:p>
        </p:txBody>
      </p:sp>
      <p:sp>
        <p:nvSpPr>
          <p:cNvPr id="15" name="caso2"/>
          <p:cNvSpPr/>
          <p:nvPr/>
        </p:nvSpPr>
        <p:spPr>
          <a:xfrm>
            <a:off x="8129016" y="1417320"/>
            <a:ext cx="3511296" cy="2240280"/>
          </a:xfrm>
          <a:prstGeom prst="roundRect">
            <a:avLst>
              <a:gd name="adj" fmla="val 4082"/>
            </a:avLst>
          </a:prstGeom>
          <a:solidFill>
            <a:schemeClr val="bg2"/>
          </a:solidFill>
          <a:ln/>
        </p:spPr>
      </p:sp>
      <p:sp>
        <p:nvSpPr>
          <p:cNvPr id="16" name="caso2-circulo"/>
          <p:cNvSpPr/>
          <p:nvPr/>
        </p:nvSpPr>
        <p:spPr>
          <a:xfrm>
            <a:off x="8357616" y="1645920"/>
            <a:ext cx="548640" cy="548640"/>
          </a:xfrm>
          <a:prstGeom prst="ellipse">
            <a:avLst/>
          </a:prstGeom>
          <a:solidFill>
            <a:schemeClr val="accent1"/>
          </a:solidFill>
          <a:ln/>
        </p:spPr>
      </p:sp>
      <p:pic>
        <p:nvPicPr>
          <p:cNvPr id="17" name="caso2-icono" descr="preencoded.png"/>
          <p:cNvPicPr>
            <a:picLocks noChangeAspect="1"/>
          </p:cNvPicPr>
          <p:nvPr/>
        </p:nvPicPr>
        <p:blipFill>
          <a:blip r:embed="rId5"/>
          <a:stretch>
            <a:fillRect/>
          </a:stretch>
        </p:blipFill>
        <p:spPr>
          <a:xfrm>
            <a:off x="8511235" y="1799539"/>
            <a:ext cx="241402" cy="241402"/>
          </a:xfrm>
          <a:prstGeom prst="rect">
            <a:avLst/>
          </a:prstGeom>
        </p:spPr>
      </p:pic>
      <p:sp>
        <p:nvSpPr>
          <p:cNvPr id="18" name="Text 13"/>
          <p:cNvSpPr txBox="1"/>
          <p:nvPr/>
        </p:nvSpPr>
        <p:spPr>
          <a:xfrm>
            <a:off x="9043416" y="1618488"/>
            <a:ext cx="2414016" cy="365760"/>
          </a:xfrm>
          <a:prstGeom prst="rect">
            <a:avLst/>
          </a:prstGeom>
          <a:noFill/>
          <a:ln/>
        </p:spPr>
        <p:txBody>
          <a:bodyPr wrap="square" lIns="0" tIns="0" rIns="0" bIns="0" rtlCol="0" anchor="t"/>
          <a:lstStyle/>
          <a:p>
            <a:pPr marL="0" indent="0">
              <a:buNone/>
            </a:pPr>
            <a:r>
              <a:rPr lang="en-US" sz="1600" b="1" dirty="0">
                <a:solidFill>
                  <a:schemeClr val="tx2"/>
                </a:solidFill>
              </a:rPr>
              <a:t>VARSew</a:t>
            </a:r>
            <a:endParaRPr lang="en-US" sz="1600" dirty="0"/>
          </a:p>
        </p:txBody>
      </p:sp>
      <p:sp>
        <p:nvSpPr>
          <p:cNvPr id="19" name="Text 14"/>
          <p:cNvSpPr txBox="1"/>
          <p:nvPr/>
        </p:nvSpPr>
        <p:spPr>
          <a:xfrm>
            <a:off x="9043416" y="1965960"/>
            <a:ext cx="2414016" cy="274320"/>
          </a:xfrm>
          <a:prstGeom prst="rect">
            <a:avLst/>
          </a:prstGeom>
          <a:noFill/>
          <a:ln/>
        </p:spPr>
        <p:txBody>
          <a:bodyPr wrap="square" lIns="0" tIns="0" rIns="0" bIns="0" rtlCol="0" anchor="t"/>
          <a:lstStyle/>
          <a:p>
            <a:pPr marL="0" indent="0">
              <a:buNone/>
            </a:pPr>
            <a:r>
              <a:rPr lang="en-US" sz="1200" dirty="0">
                <a:solidFill>
                  <a:schemeClr val="accent5"/>
                </a:solidFill>
              </a:rPr>
              <a:t>Egipto, 2023</a:t>
            </a:r>
            <a:endParaRPr lang="en-US" sz="1200" dirty="0"/>
          </a:p>
        </p:txBody>
      </p:sp>
      <p:sp>
        <p:nvSpPr>
          <p:cNvPr id="20" name="Text 15"/>
          <p:cNvSpPr txBox="1"/>
          <p:nvPr/>
        </p:nvSpPr>
        <p:spPr>
          <a:xfrm>
            <a:off x="8357616" y="2377440"/>
            <a:ext cx="3054096" cy="1188720"/>
          </a:xfrm>
          <a:prstGeom prst="rect">
            <a:avLst/>
          </a:prstGeom>
          <a:noFill/>
          <a:ln/>
        </p:spPr>
        <p:txBody>
          <a:bodyPr wrap="square" lIns="0" tIns="0" rIns="0" bIns="0" rtlCol="0" anchor="t"/>
          <a:lstStyle/>
          <a:p>
            <a:pPr marL="0" indent="0">
              <a:buNone/>
            </a:pPr>
            <a:r>
              <a:rPr lang="en-US" sz="1400" dirty="0">
                <a:solidFill>
                  <a:schemeClr val="tx1"/>
                </a:solidFill>
              </a:rPr>
              <a:t>3,121 videos de costura con 8 acciones: coser, soltar, manipular, preparar, ajustar, esperar, revisar, mantener.</a:t>
            </a:r>
            <a:endParaRPr lang="en-US" sz="1400" dirty="0"/>
          </a:p>
        </p:txBody>
      </p:sp>
      <p:sp>
        <p:nvSpPr>
          <p:cNvPr id="21" name="caso3"/>
          <p:cNvSpPr/>
          <p:nvPr/>
        </p:nvSpPr>
        <p:spPr>
          <a:xfrm>
            <a:off x="548640" y="3931920"/>
            <a:ext cx="3511296" cy="2240280"/>
          </a:xfrm>
          <a:prstGeom prst="roundRect">
            <a:avLst>
              <a:gd name="adj" fmla="val 4082"/>
            </a:avLst>
          </a:prstGeom>
          <a:solidFill>
            <a:schemeClr val="bg2"/>
          </a:solidFill>
          <a:ln/>
        </p:spPr>
      </p:sp>
      <p:sp>
        <p:nvSpPr>
          <p:cNvPr id="22" name="caso3-circulo"/>
          <p:cNvSpPr/>
          <p:nvPr/>
        </p:nvSpPr>
        <p:spPr>
          <a:xfrm>
            <a:off x="777240" y="4160520"/>
            <a:ext cx="548640" cy="548640"/>
          </a:xfrm>
          <a:prstGeom prst="ellipse">
            <a:avLst/>
          </a:prstGeom>
          <a:solidFill>
            <a:schemeClr val="accent1"/>
          </a:solidFill>
          <a:ln/>
        </p:spPr>
      </p:sp>
      <p:pic>
        <p:nvPicPr>
          <p:cNvPr id="23" name="caso3-icono" descr="preencoded.png"/>
          <p:cNvPicPr>
            <a:picLocks noChangeAspect="1"/>
          </p:cNvPicPr>
          <p:nvPr/>
        </p:nvPicPr>
        <p:blipFill>
          <a:blip r:embed="rId6"/>
          <a:stretch>
            <a:fillRect/>
          </a:stretch>
        </p:blipFill>
        <p:spPr>
          <a:xfrm>
            <a:off x="930859" y="4314139"/>
            <a:ext cx="241402" cy="241402"/>
          </a:xfrm>
          <a:prstGeom prst="rect">
            <a:avLst/>
          </a:prstGeom>
        </p:spPr>
      </p:pic>
      <p:sp>
        <p:nvSpPr>
          <p:cNvPr id="24" name="Text 18"/>
          <p:cNvSpPr txBox="1"/>
          <p:nvPr/>
        </p:nvSpPr>
        <p:spPr>
          <a:xfrm>
            <a:off x="1463040" y="4133088"/>
            <a:ext cx="2414016" cy="365760"/>
          </a:xfrm>
          <a:prstGeom prst="rect">
            <a:avLst/>
          </a:prstGeom>
          <a:noFill/>
          <a:ln/>
        </p:spPr>
        <p:txBody>
          <a:bodyPr wrap="square" lIns="0" tIns="0" rIns="0" bIns="0" rtlCol="0" anchor="t"/>
          <a:lstStyle/>
          <a:p>
            <a:pPr marL="0" indent="0">
              <a:buNone/>
            </a:pPr>
            <a:r>
              <a:rPr lang="en-US" sz="1600" b="1" dirty="0">
                <a:solidFill>
                  <a:schemeClr val="tx2"/>
                </a:solidFill>
              </a:rPr>
              <a:t>Optifye.ai</a:t>
            </a:r>
            <a:endParaRPr lang="en-US" sz="1600" dirty="0"/>
          </a:p>
        </p:txBody>
      </p:sp>
      <p:sp>
        <p:nvSpPr>
          <p:cNvPr id="25" name="Text 19"/>
          <p:cNvSpPr txBox="1"/>
          <p:nvPr/>
        </p:nvSpPr>
        <p:spPr>
          <a:xfrm>
            <a:off x="1463040" y="4480560"/>
            <a:ext cx="2414016" cy="274320"/>
          </a:xfrm>
          <a:prstGeom prst="rect">
            <a:avLst/>
          </a:prstGeom>
          <a:noFill/>
          <a:ln/>
        </p:spPr>
        <p:txBody>
          <a:bodyPr wrap="square" lIns="0" tIns="0" rIns="0" bIns="0" rtlCol="0" anchor="t"/>
          <a:lstStyle/>
          <a:p>
            <a:pPr marL="0" indent="0">
              <a:buNone/>
            </a:pPr>
            <a:r>
              <a:rPr lang="en-US" sz="1200" dirty="0">
                <a:solidFill>
                  <a:schemeClr val="accent5"/>
                </a:solidFill>
              </a:rPr>
              <a:t>India, 2025</a:t>
            </a:r>
            <a:endParaRPr lang="en-US" sz="1200" dirty="0"/>
          </a:p>
        </p:txBody>
      </p:sp>
      <p:sp>
        <p:nvSpPr>
          <p:cNvPr id="26" name="Text 20"/>
          <p:cNvSpPr txBox="1"/>
          <p:nvPr/>
        </p:nvSpPr>
        <p:spPr>
          <a:xfrm>
            <a:off x="777240" y="4892040"/>
            <a:ext cx="3054096" cy="1188720"/>
          </a:xfrm>
          <a:prstGeom prst="rect">
            <a:avLst/>
          </a:prstGeom>
          <a:noFill/>
          <a:ln/>
        </p:spPr>
        <p:txBody>
          <a:bodyPr wrap="square" lIns="0" tIns="0" rIns="0" bIns="0" rtlCol="0" anchor="t"/>
          <a:lstStyle/>
          <a:p>
            <a:pPr marL="0" indent="0">
              <a:buNone/>
            </a:pPr>
            <a:r>
              <a:rPr lang="en-US" sz="1400" dirty="0">
                <a:solidFill>
                  <a:schemeClr val="tx1"/>
                </a:solidFill>
              </a:rPr>
              <a:t>Cámaras con IA para medir a cada trabajador. Su demo se retiró tras críticas por vigilancia.</a:t>
            </a:r>
            <a:endParaRPr lang="en-US" sz="1400" dirty="0"/>
          </a:p>
        </p:txBody>
      </p:sp>
      <p:sp>
        <p:nvSpPr>
          <p:cNvPr id="27" name="caso4"/>
          <p:cNvSpPr/>
          <p:nvPr/>
        </p:nvSpPr>
        <p:spPr>
          <a:xfrm>
            <a:off x="4338828" y="3931920"/>
            <a:ext cx="3511296" cy="2240280"/>
          </a:xfrm>
          <a:prstGeom prst="roundRect">
            <a:avLst>
              <a:gd name="adj" fmla="val 4082"/>
            </a:avLst>
          </a:prstGeom>
          <a:solidFill>
            <a:schemeClr val="bg2"/>
          </a:solidFill>
          <a:ln/>
        </p:spPr>
      </p:sp>
      <p:sp>
        <p:nvSpPr>
          <p:cNvPr id="28" name="caso4-circulo"/>
          <p:cNvSpPr/>
          <p:nvPr/>
        </p:nvSpPr>
        <p:spPr>
          <a:xfrm>
            <a:off x="4567428" y="4160520"/>
            <a:ext cx="548640" cy="548640"/>
          </a:xfrm>
          <a:prstGeom prst="ellipse">
            <a:avLst/>
          </a:prstGeom>
          <a:solidFill>
            <a:schemeClr val="accent1"/>
          </a:solidFill>
          <a:ln/>
        </p:spPr>
      </p:sp>
      <p:pic>
        <p:nvPicPr>
          <p:cNvPr id="29" name="caso4-icono" descr="preencoded.png"/>
          <p:cNvPicPr>
            <a:picLocks noChangeAspect="1"/>
          </p:cNvPicPr>
          <p:nvPr/>
        </p:nvPicPr>
        <p:blipFill>
          <a:blip r:embed="rId7"/>
          <a:stretch>
            <a:fillRect/>
          </a:stretch>
        </p:blipFill>
        <p:spPr>
          <a:xfrm>
            <a:off x="4721047" y="4314139"/>
            <a:ext cx="241402" cy="241402"/>
          </a:xfrm>
          <a:prstGeom prst="rect">
            <a:avLst/>
          </a:prstGeom>
        </p:spPr>
      </p:pic>
      <p:sp>
        <p:nvSpPr>
          <p:cNvPr id="30" name="Text 23"/>
          <p:cNvSpPr txBox="1"/>
          <p:nvPr/>
        </p:nvSpPr>
        <p:spPr>
          <a:xfrm>
            <a:off x="5253228" y="4133088"/>
            <a:ext cx="2414016" cy="365760"/>
          </a:xfrm>
          <a:prstGeom prst="rect">
            <a:avLst/>
          </a:prstGeom>
          <a:noFill/>
          <a:ln/>
        </p:spPr>
        <p:txBody>
          <a:bodyPr wrap="square" lIns="0" tIns="0" rIns="0" bIns="0" rtlCol="0" anchor="t"/>
          <a:lstStyle/>
          <a:p>
            <a:pPr marL="0" indent="0">
              <a:buNone/>
            </a:pPr>
            <a:r>
              <a:rPr lang="en-US" sz="1600" b="1" dirty="0">
                <a:solidFill>
                  <a:schemeClr val="tx2"/>
                </a:solidFill>
              </a:rPr>
              <a:t>JACK · Aitu Ai10</a:t>
            </a:r>
            <a:endParaRPr lang="en-US" sz="1600" dirty="0"/>
          </a:p>
        </p:txBody>
      </p:sp>
      <p:sp>
        <p:nvSpPr>
          <p:cNvPr id="31" name="Text 24"/>
          <p:cNvSpPr txBox="1"/>
          <p:nvPr/>
        </p:nvSpPr>
        <p:spPr>
          <a:xfrm>
            <a:off x="5253228" y="4480560"/>
            <a:ext cx="2414016" cy="274320"/>
          </a:xfrm>
          <a:prstGeom prst="rect">
            <a:avLst/>
          </a:prstGeom>
          <a:noFill/>
          <a:ln/>
        </p:spPr>
        <p:txBody>
          <a:bodyPr wrap="square" lIns="0" tIns="0" rIns="0" bIns="0" rtlCol="0" anchor="t"/>
          <a:lstStyle/>
          <a:p>
            <a:pPr marL="0" indent="0">
              <a:buNone/>
            </a:pPr>
            <a:r>
              <a:rPr lang="en-US" sz="1200" dirty="0">
                <a:solidFill>
                  <a:schemeClr val="accent5"/>
                </a:solidFill>
              </a:rPr>
              <a:t>China, 2025–2026</a:t>
            </a:r>
            <a:endParaRPr lang="en-US" sz="1200" dirty="0"/>
          </a:p>
        </p:txBody>
      </p:sp>
      <p:sp>
        <p:nvSpPr>
          <p:cNvPr id="32" name="Text 25"/>
          <p:cNvSpPr txBox="1"/>
          <p:nvPr/>
        </p:nvSpPr>
        <p:spPr>
          <a:xfrm>
            <a:off x="4567428" y="4892040"/>
            <a:ext cx="3054096" cy="1188720"/>
          </a:xfrm>
          <a:prstGeom prst="rect">
            <a:avLst/>
          </a:prstGeom>
          <a:noFill/>
          <a:ln/>
        </p:spPr>
        <p:txBody>
          <a:bodyPr wrap="square" lIns="0" tIns="0" rIns="0" bIns="0" rtlCol="0" anchor="t"/>
          <a:lstStyle/>
          <a:p>
            <a:pPr marL="0" indent="0">
              <a:buNone/>
            </a:pPr>
            <a:r>
              <a:rPr lang="en-US" sz="1400" dirty="0">
                <a:solidFill>
                  <a:schemeClr val="tx1"/>
                </a:solidFill>
              </a:rPr>
              <a:t>Máquina con cámara que capta las manos. Se usa para capacitar y ajustar la máquina, no para medir paradas.</a:t>
            </a:r>
            <a:endParaRPr lang="en-US" sz="1400" dirty="0"/>
          </a:p>
        </p:txBody>
      </p:sp>
      <p:sp>
        <p:nvSpPr>
          <p:cNvPr id="33" name="caso5"/>
          <p:cNvSpPr/>
          <p:nvPr/>
        </p:nvSpPr>
        <p:spPr>
          <a:xfrm>
            <a:off x="8129016" y="3931920"/>
            <a:ext cx="3511296" cy="2240280"/>
          </a:xfrm>
          <a:prstGeom prst="roundRect">
            <a:avLst>
              <a:gd name="adj" fmla="val 4082"/>
            </a:avLst>
          </a:prstGeom>
          <a:solidFill>
            <a:schemeClr val="bg2"/>
          </a:solidFill>
          <a:ln/>
        </p:spPr>
      </p:sp>
      <p:sp>
        <p:nvSpPr>
          <p:cNvPr id="34" name="caso5-circulo"/>
          <p:cNvSpPr/>
          <p:nvPr/>
        </p:nvSpPr>
        <p:spPr>
          <a:xfrm>
            <a:off x="8357616" y="4160520"/>
            <a:ext cx="548640" cy="548640"/>
          </a:xfrm>
          <a:prstGeom prst="ellipse">
            <a:avLst/>
          </a:prstGeom>
          <a:solidFill>
            <a:schemeClr val="accent1"/>
          </a:solidFill>
          <a:ln/>
        </p:spPr>
      </p:sp>
      <p:pic>
        <p:nvPicPr>
          <p:cNvPr id="35" name="caso5-icono" descr="preencoded.png"/>
          <p:cNvPicPr>
            <a:picLocks noChangeAspect="1"/>
          </p:cNvPicPr>
          <p:nvPr/>
        </p:nvPicPr>
        <p:blipFill>
          <a:blip r:embed="rId8"/>
          <a:stretch>
            <a:fillRect/>
          </a:stretch>
        </p:blipFill>
        <p:spPr>
          <a:xfrm>
            <a:off x="8511235" y="4314139"/>
            <a:ext cx="241402" cy="241402"/>
          </a:xfrm>
          <a:prstGeom prst="rect">
            <a:avLst/>
          </a:prstGeom>
        </p:spPr>
      </p:pic>
      <p:sp>
        <p:nvSpPr>
          <p:cNvPr id="36" name="Text 28"/>
          <p:cNvSpPr txBox="1"/>
          <p:nvPr/>
        </p:nvSpPr>
        <p:spPr>
          <a:xfrm>
            <a:off x="9043416" y="4133088"/>
            <a:ext cx="2414016" cy="365760"/>
          </a:xfrm>
          <a:prstGeom prst="rect">
            <a:avLst/>
          </a:prstGeom>
          <a:noFill/>
          <a:ln/>
        </p:spPr>
        <p:txBody>
          <a:bodyPr wrap="square" lIns="0" tIns="0" rIns="0" bIns="0" rtlCol="0" anchor="t"/>
          <a:lstStyle/>
          <a:p>
            <a:pPr marL="0" indent="0">
              <a:buNone/>
            </a:pPr>
            <a:r>
              <a:rPr lang="en-US" sz="1600" b="1" dirty="0">
                <a:solidFill>
                  <a:schemeClr val="tx2"/>
                </a:solidFill>
              </a:rPr>
              <a:t>UPC · Gamarra</a:t>
            </a:r>
            <a:endParaRPr lang="en-US" sz="1600" dirty="0"/>
          </a:p>
        </p:txBody>
      </p:sp>
      <p:sp>
        <p:nvSpPr>
          <p:cNvPr id="37" name="Text 29"/>
          <p:cNvSpPr txBox="1"/>
          <p:nvPr/>
        </p:nvSpPr>
        <p:spPr>
          <a:xfrm>
            <a:off x="9043416" y="4480560"/>
            <a:ext cx="2414016" cy="274320"/>
          </a:xfrm>
          <a:prstGeom prst="rect">
            <a:avLst/>
          </a:prstGeom>
          <a:noFill/>
          <a:ln/>
        </p:spPr>
        <p:txBody>
          <a:bodyPr wrap="square" lIns="0" tIns="0" rIns="0" bIns="0" rtlCol="0" anchor="t"/>
          <a:lstStyle/>
          <a:p>
            <a:pPr marL="0" indent="0">
              <a:buNone/>
            </a:pPr>
            <a:r>
              <a:rPr lang="en-US" sz="1200" dirty="0">
                <a:solidFill>
                  <a:schemeClr val="accent5"/>
                </a:solidFill>
              </a:rPr>
              <a:t>Perú, 2025</a:t>
            </a:r>
            <a:endParaRPr lang="en-US" sz="1200" dirty="0"/>
          </a:p>
        </p:txBody>
      </p:sp>
      <p:sp>
        <p:nvSpPr>
          <p:cNvPr id="38" name="Text 30"/>
          <p:cNvSpPr txBox="1"/>
          <p:nvPr/>
        </p:nvSpPr>
        <p:spPr>
          <a:xfrm>
            <a:off x="8357616" y="4892040"/>
            <a:ext cx="3054096" cy="1188720"/>
          </a:xfrm>
          <a:prstGeom prst="rect">
            <a:avLst/>
          </a:prstGeom>
          <a:noFill/>
          <a:ln/>
        </p:spPr>
        <p:txBody>
          <a:bodyPr wrap="square" lIns="0" tIns="0" rIns="0" bIns="0" rtlCol="0" anchor="t"/>
          <a:lstStyle/>
          <a:p>
            <a:pPr marL="0" indent="0">
              <a:buNone/>
            </a:pPr>
            <a:r>
              <a:rPr lang="en-US" sz="1400" dirty="0">
                <a:solidFill>
                  <a:schemeClr val="tx1"/>
                </a:solidFill>
              </a:rPr>
              <a:t>Visión artificial solo para verificar etiquetas. Los tiempos se midieron a mano.</a:t>
            </a:r>
            <a:endParaRPr lang="en-US" sz="1400" dirty="0"/>
          </a:p>
        </p:txBody>
      </p:sp>
      <p:sp>
        <p:nvSpPr>
          <p:cNvPr id="39"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F6B70"/>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1672" cy="868680"/>
          </a:xfrm>
          <a:prstGeom prst="rect">
            <a:avLst/>
          </a:prstGeom>
          <a:noFill/>
          <a:ln/>
        </p:spPr>
        <p:txBody>
          <a:bodyPr wrap="square" lIns="0" tIns="0" rIns="0" bIns="0" rtlCol="0" anchor="ctr"/>
          <a:lstStyle/>
          <a:p>
            <a:pPr marL="0" indent="0" algn="l">
              <a:buNone/>
            </a:pPr>
            <a:r>
              <a:rPr lang="en-US" sz="3200" b="1" dirty="0">
                <a:solidFill>
                  <a:schemeClr val="tx2"/>
                </a:solidFill>
              </a:rPr>
              <a:t>La aceptación de las operarias decide el éxito</a:t>
            </a:r>
            <a:endParaRPr lang="en-US" sz="3200" dirty="0"/>
          </a:p>
        </p:txBody>
      </p:sp>
      <p:sp>
        <p:nvSpPr>
          <p:cNvPr id="3" name="riesgos-tarjeta"/>
          <p:cNvSpPr/>
          <p:nvPr/>
        </p:nvSpPr>
        <p:spPr>
          <a:xfrm>
            <a:off x="548640" y="1463040"/>
            <a:ext cx="5394960" cy="4480560"/>
          </a:xfrm>
          <a:prstGeom prst="roundRect">
            <a:avLst>
              <a:gd name="adj" fmla="val 2041"/>
            </a:avLst>
          </a:prstGeom>
          <a:solidFill>
            <a:schemeClr val="bg2"/>
          </a:solidFill>
          <a:ln/>
        </p:spPr>
      </p:sp>
      <p:sp>
        <p:nvSpPr>
          <p:cNvPr id="4" name="riesgos-circulo"/>
          <p:cNvSpPr/>
          <p:nvPr/>
        </p:nvSpPr>
        <p:spPr>
          <a:xfrm>
            <a:off x="868680" y="1737360"/>
            <a:ext cx="640080" cy="640080"/>
          </a:xfrm>
          <a:prstGeom prst="ellipse">
            <a:avLst/>
          </a:prstGeom>
          <a:solidFill>
            <a:schemeClr val="accent4"/>
          </a:solidFill>
          <a:ln/>
        </p:spPr>
      </p:sp>
      <p:pic>
        <p:nvPicPr>
          <p:cNvPr id="5" name="riesgos-icono" descr="preencoded.png"/>
          <p:cNvPicPr>
            <a:picLocks noChangeAspect="1"/>
          </p:cNvPicPr>
          <p:nvPr/>
        </p:nvPicPr>
        <p:blipFill>
          <a:blip r:embed="rId3"/>
          <a:stretch>
            <a:fillRect/>
          </a:stretch>
        </p:blipFill>
        <p:spPr>
          <a:xfrm>
            <a:off x="1047902" y="1916582"/>
            <a:ext cx="281635" cy="281635"/>
          </a:xfrm>
          <a:prstGeom prst="rect">
            <a:avLst/>
          </a:prstGeom>
        </p:spPr>
      </p:pic>
      <p:sp>
        <p:nvSpPr>
          <p:cNvPr id="6" name="Text 3"/>
          <p:cNvSpPr txBox="1"/>
          <p:nvPr/>
        </p:nvSpPr>
        <p:spPr>
          <a:xfrm>
            <a:off x="1691640" y="1828800"/>
            <a:ext cx="4023360" cy="457200"/>
          </a:xfrm>
          <a:prstGeom prst="rect">
            <a:avLst/>
          </a:prstGeom>
          <a:noFill/>
          <a:ln/>
        </p:spPr>
        <p:txBody>
          <a:bodyPr wrap="square" lIns="0" tIns="0" rIns="0" bIns="0" rtlCol="0" anchor="t"/>
          <a:lstStyle/>
          <a:p>
            <a:pPr marL="0" indent="0">
              <a:buNone/>
            </a:pPr>
            <a:r>
              <a:rPr lang="en-US" sz="1800" b="1" dirty="0">
                <a:solidFill>
                  <a:schemeClr val="tx2"/>
                </a:solidFill>
              </a:rPr>
              <a:t>Lo que salió mal en otros casos</a:t>
            </a:r>
            <a:endParaRPr lang="en-US" sz="1800" dirty="0"/>
          </a:p>
        </p:txBody>
      </p:sp>
      <p:sp>
        <p:nvSpPr>
          <p:cNvPr id="7" name="Text 4"/>
          <p:cNvSpPr txBox="1"/>
          <p:nvPr/>
        </p:nvSpPr>
        <p:spPr>
          <a:xfrm>
            <a:off x="868680" y="2606040"/>
            <a:ext cx="4800600" cy="310896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1"/>
                </a:solidFill>
              </a:rPr>
              <a:t>Bangladesh: tras instalar sensores, una operaria reportó metas 75 % más altas y más estrés.</a:t>
            </a:r>
            <a:endParaRPr lang="en-US" sz="1500" dirty="0"/>
          </a:p>
          <a:p>
            <a:pPr marL="342900" indent="-342900">
              <a:spcAft>
                <a:spcPts val="1000"/>
              </a:spcAft>
              <a:buSzPct val="100000"/>
              <a:buChar char="•"/>
            </a:pPr>
            <a:r>
              <a:rPr lang="en-US" sz="1500" dirty="0">
                <a:solidFill>
                  <a:schemeClr val="tx1"/>
                </a:solidFill>
              </a:rPr>
              <a:t>Las operarias dicen que el monitoreo no les dio incentivos adicionales.</a:t>
            </a:r>
            <a:endParaRPr lang="en-US" sz="1500" dirty="0"/>
          </a:p>
          <a:p>
            <a:pPr marL="342900" indent="-342900">
              <a:spcAft>
                <a:spcPts val="1000"/>
              </a:spcAft>
              <a:buSzPct val="100000"/>
              <a:buChar char="•"/>
            </a:pPr>
            <a:r>
              <a:rPr lang="en-US" sz="1500" dirty="0">
                <a:solidFill>
                  <a:schemeClr val="tx1"/>
                </a:solidFill>
              </a:rPr>
              <a:t>Optifye (India): la demo que señalaba a un "trabajador ineficiente" se volvió viral y se retiró.</a:t>
            </a:r>
            <a:endParaRPr lang="en-US" sz="1500" dirty="0"/>
          </a:p>
        </p:txBody>
      </p:sp>
      <p:sp>
        <p:nvSpPr>
          <p:cNvPr id="8" name="solucion-tarjeta"/>
          <p:cNvSpPr/>
          <p:nvPr/>
        </p:nvSpPr>
        <p:spPr>
          <a:xfrm>
            <a:off x="6245352" y="1463040"/>
            <a:ext cx="5394960" cy="4480560"/>
          </a:xfrm>
          <a:prstGeom prst="roundRect">
            <a:avLst>
              <a:gd name="adj" fmla="val 2041"/>
            </a:avLst>
          </a:prstGeom>
          <a:solidFill>
            <a:schemeClr val="bg2"/>
          </a:solidFill>
          <a:ln/>
        </p:spPr>
      </p:sp>
      <p:sp>
        <p:nvSpPr>
          <p:cNvPr id="9" name="solucion-circulo"/>
          <p:cNvSpPr/>
          <p:nvPr/>
        </p:nvSpPr>
        <p:spPr>
          <a:xfrm>
            <a:off x="6565392" y="1737360"/>
            <a:ext cx="640080" cy="640080"/>
          </a:xfrm>
          <a:prstGeom prst="ellipse">
            <a:avLst/>
          </a:prstGeom>
          <a:solidFill>
            <a:schemeClr val="accent6"/>
          </a:solidFill>
          <a:ln/>
        </p:spPr>
      </p:sp>
      <p:pic>
        <p:nvPicPr>
          <p:cNvPr id="10" name="solucion-icono" descr="preencoded.png"/>
          <p:cNvPicPr>
            <a:picLocks noChangeAspect="1"/>
          </p:cNvPicPr>
          <p:nvPr/>
        </p:nvPicPr>
        <p:blipFill>
          <a:blip r:embed="rId4"/>
          <a:stretch>
            <a:fillRect/>
          </a:stretch>
        </p:blipFill>
        <p:spPr>
          <a:xfrm>
            <a:off x="6744614" y="1916582"/>
            <a:ext cx="281635" cy="281635"/>
          </a:xfrm>
          <a:prstGeom prst="rect">
            <a:avLst/>
          </a:prstGeom>
        </p:spPr>
      </p:pic>
      <p:sp>
        <p:nvSpPr>
          <p:cNvPr id="11" name="Text 7"/>
          <p:cNvSpPr txBox="1"/>
          <p:nvPr/>
        </p:nvSpPr>
        <p:spPr>
          <a:xfrm>
            <a:off x="7388352" y="1828800"/>
            <a:ext cx="4023360" cy="457200"/>
          </a:xfrm>
          <a:prstGeom prst="rect">
            <a:avLst/>
          </a:prstGeom>
          <a:noFill/>
          <a:ln/>
        </p:spPr>
        <p:txBody>
          <a:bodyPr wrap="square" lIns="0" tIns="0" rIns="0" bIns="0" rtlCol="0" anchor="t"/>
          <a:lstStyle/>
          <a:p>
            <a:pPr marL="0" indent="0">
              <a:buNone/>
            </a:pPr>
            <a:r>
              <a:rPr lang="en-US" sz="1800" b="1" dirty="0">
                <a:solidFill>
                  <a:schemeClr val="tx2"/>
                </a:solidFill>
              </a:rPr>
              <a:t>Cómo lo evitamos</a:t>
            </a:r>
            <a:endParaRPr lang="en-US" sz="1800" dirty="0"/>
          </a:p>
        </p:txBody>
      </p:sp>
      <p:sp>
        <p:nvSpPr>
          <p:cNvPr id="12" name="Text 8"/>
          <p:cNvSpPr txBox="1"/>
          <p:nvPr/>
        </p:nvSpPr>
        <p:spPr>
          <a:xfrm>
            <a:off x="6565392" y="2606040"/>
            <a:ext cx="4800600" cy="310896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1"/>
                </a:solidFill>
              </a:rPr>
              <a:t>El sistema protege el incentivo: reconoce las paradas que no son culpa de la operaria.</a:t>
            </a:r>
            <a:endParaRPr lang="en-US" sz="1500" dirty="0"/>
          </a:p>
          <a:p>
            <a:pPr marL="342900" indent="-342900">
              <a:spcAft>
                <a:spcPts val="1000"/>
              </a:spcAft>
              <a:buSzPct val="100000"/>
              <a:buChar char="•"/>
            </a:pPr>
            <a:r>
              <a:rPr lang="en-US" sz="1500" dirty="0">
                <a:solidFill>
                  <a:schemeClr val="tx1"/>
                </a:solidFill>
              </a:rPr>
              <a:t>La causa la registran también el mecánico y el habilitador.</a:t>
            </a:r>
            <a:endParaRPr lang="en-US" sz="1500" dirty="0"/>
          </a:p>
          <a:p>
            <a:pPr marL="342900" indent="-342900">
              <a:spcAft>
                <a:spcPts val="1000"/>
              </a:spcAft>
              <a:buSzPct val="100000"/>
              <a:buChar char="•"/>
            </a:pPr>
            <a:r>
              <a:rPr lang="en-US" sz="1500" dirty="0">
                <a:solidFill>
                  <a:schemeClr val="tx1"/>
                </a:solidFill>
              </a:rPr>
              <a:t>No se guarda video: solo eventos y fotos de paradas en disputa.</a:t>
            </a:r>
            <a:endParaRPr lang="en-US" sz="1500" dirty="0"/>
          </a:p>
          <a:p>
            <a:pPr marL="342900" indent="-342900">
              <a:spcAft>
                <a:spcPts val="1000"/>
              </a:spcAft>
              <a:buSzPct val="100000"/>
              <a:buChar char="•"/>
            </a:pPr>
            <a:r>
              <a:rPr lang="en-US" sz="1500" dirty="0">
                <a:solidFill>
                  <a:schemeClr val="tx1"/>
                </a:solidFill>
              </a:rPr>
              <a:t>Procedimiento de reclamo y aviso según la Ley 29733.</a:t>
            </a:r>
            <a:endParaRPr lang="en-US" sz="15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F6B70"/>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1672" cy="868680"/>
          </a:xfrm>
          <a:prstGeom prst="rect">
            <a:avLst/>
          </a:prstGeom>
          <a:noFill/>
          <a:ln/>
        </p:spPr>
        <p:txBody>
          <a:bodyPr wrap="square" lIns="0" tIns="0" rIns="0" bIns="0" rtlCol="0" anchor="ctr"/>
          <a:lstStyle/>
          <a:p>
            <a:pPr marL="0" indent="0" algn="l">
              <a:buNone/>
            </a:pPr>
            <a:r>
              <a:rPr lang="en-US" sz="3200" b="1" dirty="0">
                <a:solidFill>
                  <a:schemeClr val="tx2"/>
                </a:solidFill>
              </a:rPr>
              <a:t>Cada minuto del puesto cae en uno de seis estados</a:t>
            </a:r>
            <a:endParaRPr lang="en-US" sz="3200" dirty="0"/>
          </a:p>
        </p:txBody>
      </p:sp>
      <p:sp>
        <p:nvSpPr>
          <p:cNvPr id="3" name="estado0"/>
          <p:cNvSpPr/>
          <p:nvPr/>
        </p:nvSpPr>
        <p:spPr>
          <a:xfrm>
            <a:off x="548640" y="1417320"/>
            <a:ext cx="5408676" cy="1371600"/>
          </a:xfrm>
          <a:prstGeom prst="roundRect">
            <a:avLst>
              <a:gd name="adj" fmla="val 6667"/>
            </a:avLst>
          </a:prstGeom>
          <a:solidFill>
            <a:schemeClr val="bg2"/>
          </a:solidFill>
          <a:ln/>
        </p:spPr>
      </p:sp>
      <p:sp>
        <p:nvSpPr>
          <p:cNvPr id="4" name="estado0-circulo"/>
          <p:cNvSpPr/>
          <p:nvPr/>
        </p:nvSpPr>
        <p:spPr>
          <a:xfrm>
            <a:off x="777240" y="1764792"/>
            <a:ext cx="685800" cy="685800"/>
          </a:xfrm>
          <a:prstGeom prst="ellipse">
            <a:avLst/>
          </a:prstGeom>
          <a:solidFill>
            <a:schemeClr val="accent6"/>
          </a:solidFill>
          <a:ln/>
        </p:spPr>
      </p:sp>
      <p:pic>
        <p:nvPicPr>
          <p:cNvPr id="5" name="estado0-icono" descr="preencoded.png"/>
          <p:cNvPicPr>
            <a:picLocks noChangeAspect="1"/>
          </p:cNvPicPr>
          <p:nvPr/>
        </p:nvPicPr>
        <p:blipFill>
          <a:blip r:embed="rId3"/>
          <a:stretch>
            <a:fillRect/>
          </a:stretch>
        </p:blipFill>
        <p:spPr>
          <a:xfrm>
            <a:off x="969264" y="1956816"/>
            <a:ext cx="301752" cy="301752"/>
          </a:xfrm>
          <a:prstGeom prst="rect">
            <a:avLst/>
          </a:prstGeom>
        </p:spPr>
      </p:pic>
      <p:sp>
        <p:nvSpPr>
          <p:cNvPr id="6" name="Text 3"/>
          <p:cNvSpPr txBox="1"/>
          <p:nvPr/>
        </p:nvSpPr>
        <p:spPr>
          <a:xfrm>
            <a:off x="1691640" y="1618488"/>
            <a:ext cx="2377440" cy="411480"/>
          </a:xfrm>
          <a:prstGeom prst="rect">
            <a:avLst/>
          </a:prstGeom>
          <a:noFill/>
          <a:ln/>
        </p:spPr>
        <p:txBody>
          <a:bodyPr wrap="square" lIns="0" tIns="0" rIns="0" bIns="0" rtlCol="0" anchor="t"/>
          <a:lstStyle/>
          <a:p>
            <a:pPr marL="0" indent="0">
              <a:buNone/>
            </a:pPr>
            <a:r>
              <a:rPr lang="en-US" sz="1800" b="1" dirty="0">
                <a:solidFill>
                  <a:schemeClr val="tx2"/>
                </a:solidFill>
              </a:rPr>
              <a:t>Cosiendo</a:t>
            </a:r>
            <a:endParaRPr lang="en-US" sz="1800" dirty="0"/>
          </a:p>
        </p:txBody>
      </p:sp>
      <p:sp>
        <p:nvSpPr>
          <p:cNvPr id="7" name="Text 4"/>
          <p:cNvSpPr txBox="1"/>
          <p:nvPr/>
        </p:nvSpPr>
        <p:spPr>
          <a:xfrm>
            <a:off x="1691640" y="2039112"/>
            <a:ext cx="2514600" cy="685800"/>
          </a:xfrm>
          <a:prstGeom prst="rect">
            <a:avLst/>
          </a:prstGeom>
          <a:noFill/>
          <a:ln/>
        </p:spPr>
        <p:txBody>
          <a:bodyPr wrap="square" lIns="0" tIns="0" rIns="0" bIns="0" rtlCol="0" anchor="t"/>
          <a:lstStyle/>
          <a:p>
            <a:pPr marL="0" indent="0">
              <a:buNone/>
            </a:pPr>
            <a:r>
              <a:rPr lang="en-US" sz="1400" dirty="0">
                <a:solidFill>
                  <a:schemeClr val="tx1"/>
                </a:solidFill>
              </a:rPr>
              <a:t>Picos de corriente del motor</a:t>
            </a:r>
            <a:endParaRPr lang="en-US" sz="1400" dirty="0"/>
          </a:p>
        </p:txBody>
      </p:sp>
      <p:sp>
        <p:nvSpPr>
          <p:cNvPr id="8" name="veredicto0"/>
          <p:cNvSpPr/>
          <p:nvPr/>
        </p:nvSpPr>
        <p:spPr>
          <a:xfrm>
            <a:off x="4297680" y="1874520"/>
            <a:ext cx="1463040" cy="457200"/>
          </a:xfrm>
          <a:prstGeom prst="roundRect">
            <a:avLst>
              <a:gd name="adj" fmla="val 50000"/>
            </a:avLst>
          </a:prstGeom>
          <a:solidFill>
            <a:schemeClr val="accent6"/>
          </a:solidFill>
          <a:ln/>
        </p:spPr>
      </p:sp>
      <p:sp>
        <p:nvSpPr>
          <p:cNvPr id="9" name="Text 6"/>
          <p:cNvSpPr txBox="1"/>
          <p:nvPr/>
        </p:nvSpPr>
        <p:spPr>
          <a:xfrm>
            <a:off x="4297680" y="1874520"/>
            <a:ext cx="1463040" cy="457200"/>
          </a:xfrm>
          <a:prstGeom prst="rect">
            <a:avLst/>
          </a:prstGeom>
          <a:noFill/>
          <a:ln/>
        </p:spPr>
        <p:txBody>
          <a:bodyPr wrap="square" lIns="0" tIns="0" rIns="0" bIns="0" rtlCol="0" anchor="ctr"/>
          <a:lstStyle/>
          <a:p>
            <a:pPr marL="0" indent="0" algn="ctr">
              <a:buNone/>
            </a:pPr>
            <a:r>
              <a:rPr lang="en-US" sz="1200" b="1" dirty="0">
                <a:solidFill>
                  <a:schemeClr val="bg1"/>
                </a:solidFill>
              </a:rPr>
              <a:t>No se descuenta</a:t>
            </a:r>
            <a:endParaRPr lang="en-US" sz="1200" dirty="0"/>
          </a:p>
        </p:txBody>
      </p:sp>
      <p:sp>
        <p:nvSpPr>
          <p:cNvPr id="10" name="estado1"/>
          <p:cNvSpPr/>
          <p:nvPr/>
        </p:nvSpPr>
        <p:spPr>
          <a:xfrm>
            <a:off x="6231636" y="1417320"/>
            <a:ext cx="5408676" cy="1371600"/>
          </a:xfrm>
          <a:prstGeom prst="roundRect">
            <a:avLst>
              <a:gd name="adj" fmla="val 6667"/>
            </a:avLst>
          </a:prstGeom>
          <a:solidFill>
            <a:schemeClr val="bg2"/>
          </a:solidFill>
          <a:ln/>
        </p:spPr>
      </p:sp>
      <p:sp>
        <p:nvSpPr>
          <p:cNvPr id="11" name="estado1-circulo"/>
          <p:cNvSpPr/>
          <p:nvPr/>
        </p:nvSpPr>
        <p:spPr>
          <a:xfrm>
            <a:off x="6460236" y="1764792"/>
            <a:ext cx="685800" cy="685800"/>
          </a:xfrm>
          <a:prstGeom prst="ellipse">
            <a:avLst/>
          </a:prstGeom>
          <a:solidFill>
            <a:schemeClr val="accent6"/>
          </a:solidFill>
          <a:ln/>
        </p:spPr>
      </p:sp>
      <p:pic>
        <p:nvPicPr>
          <p:cNvPr id="12" name="estado1-icono" descr="preencoded.png"/>
          <p:cNvPicPr>
            <a:picLocks noChangeAspect="1"/>
          </p:cNvPicPr>
          <p:nvPr/>
        </p:nvPicPr>
        <p:blipFill>
          <a:blip r:embed="rId4"/>
          <a:stretch>
            <a:fillRect/>
          </a:stretch>
        </p:blipFill>
        <p:spPr>
          <a:xfrm>
            <a:off x="6652260" y="1956816"/>
            <a:ext cx="301752" cy="301752"/>
          </a:xfrm>
          <a:prstGeom prst="rect">
            <a:avLst/>
          </a:prstGeom>
        </p:spPr>
      </p:pic>
      <p:sp>
        <p:nvSpPr>
          <p:cNvPr id="13" name="Text 9"/>
          <p:cNvSpPr txBox="1"/>
          <p:nvPr/>
        </p:nvSpPr>
        <p:spPr>
          <a:xfrm>
            <a:off x="7374636" y="1618488"/>
            <a:ext cx="2377440" cy="411480"/>
          </a:xfrm>
          <a:prstGeom prst="rect">
            <a:avLst/>
          </a:prstGeom>
          <a:noFill/>
          <a:ln/>
        </p:spPr>
        <p:txBody>
          <a:bodyPr wrap="square" lIns="0" tIns="0" rIns="0" bIns="0" rtlCol="0" anchor="t"/>
          <a:lstStyle/>
          <a:p>
            <a:pPr marL="0" indent="0">
              <a:buNone/>
            </a:pPr>
            <a:r>
              <a:rPr lang="en-US" sz="1800" b="1" dirty="0">
                <a:solidFill>
                  <a:schemeClr val="tx2"/>
                </a:solidFill>
              </a:rPr>
              <a:t>Manipulación del ciclo</a:t>
            </a:r>
            <a:endParaRPr lang="en-US" sz="1800" dirty="0"/>
          </a:p>
        </p:txBody>
      </p:sp>
      <p:sp>
        <p:nvSpPr>
          <p:cNvPr id="14" name="Text 10"/>
          <p:cNvSpPr txBox="1"/>
          <p:nvPr/>
        </p:nvSpPr>
        <p:spPr>
          <a:xfrm>
            <a:off x="7374636" y="2039112"/>
            <a:ext cx="2514600" cy="685800"/>
          </a:xfrm>
          <a:prstGeom prst="rect">
            <a:avLst/>
          </a:prstGeom>
          <a:noFill/>
          <a:ln/>
        </p:spPr>
        <p:txBody>
          <a:bodyPr wrap="square" lIns="0" tIns="0" rIns="0" bIns="0" rtlCol="0" anchor="t"/>
          <a:lstStyle/>
          <a:p>
            <a:pPr marL="0" indent="0">
              <a:buNone/>
            </a:pPr>
            <a:r>
              <a:rPr lang="en-US" sz="1400" dirty="0">
                <a:solidFill>
                  <a:schemeClr val="tx1"/>
                </a:solidFill>
              </a:rPr>
              <a:t>Parada menor al umbral (60–90 s, según la operación)</a:t>
            </a:r>
            <a:endParaRPr lang="en-US" sz="1400" dirty="0"/>
          </a:p>
        </p:txBody>
      </p:sp>
      <p:sp>
        <p:nvSpPr>
          <p:cNvPr id="15" name="veredicto1"/>
          <p:cNvSpPr/>
          <p:nvPr/>
        </p:nvSpPr>
        <p:spPr>
          <a:xfrm>
            <a:off x="9980676" y="1874520"/>
            <a:ext cx="1463040" cy="457200"/>
          </a:xfrm>
          <a:prstGeom prst="roundRect">
            <a:avLst>
              <a:gd name="adj" fmla="val 50000"/>
            </a:avLst>
          </a:prstGeom>
          <a:solidFill>
            <a:schemeClr val="accent6"/>
          </a:solidFill>
          <a:ln/>
        </p:spPr>
      </p:sp>
      <p:sp>
        <p:nvSpPr>
          <p:cNvPr id="16" name="Text 12"/>
          <p:cNvSpPr txBox="1"/>
          <p:nvPr/>
        </p:nvSpPr>
        <p:spPr>
          <a:xfrm>
            <a:off x="9980676" y="1874520"/>
            <a:ext cx="1463040" cy="457200"/>
          </a:xfrm>
          <a:prstGeom prst="rect">
            <a:avLst/>
          </a:prstGeom>
          <a:noFill/>
          <a:ln/>
        </p:spPr>
        <p:txBody>
          <a:bodyPr wrap="square" lIns="0" tIns="0" rIns="0" bIns="0" rtlCol="0" anchor="ctr"/>
          <a:lstStyle/>
          <a:p>
            <a:pPr marL="0" indent="0" algn="ctr">
              <a:buNone/>
            </a:pPr>
            <a:r>
              <a:rPr lang="en-US" sz="1200" b="1" dirty="0">
                <a:solidFill>
                  <a:schemeClr val="bg1"/>
                </a:solidFill>
              </a:rPr>
              <a:t>No se descuenta</a:t>
            </a:r>
            <a:endParaRPr lang="en-US" sz="1200" dirty="0"/>
          </a:p>
        </p:txBody>
      </p:sp>
      <p:sp>
        <p:nvSpPr>
          <p:cNvPr id="17" name="estado2"/>
          <p:cNvSpPr/>
          <p:nvPr/>
        </p:nvSpPr>
        <p:spPr>
          <a:xfrm>
            <a:off x="548640" y="2971800"/>
            <a:ext cx="5408676" cy="1371600"/>
          </a:xfrm>
          <a:prstGeom prst="roundRect">
            <a:avLst>
              <a:gd name="adj" fmla="val 6667"/>
            </a:avLst>
          </a:prstGeom>
          <a:solidFill>
            <a:schemeClr val="bg2"/>
          </a:solidFill>
          <a:ln/>
        </p:spPr>
      </p:sp>
      <p:sp>
        <p:nvSpPr>
          <p:cNvPr id="18" name="estado2-circulo"/>
          <p:cNvSpPr/>
          <p:nvPr/>
        </p:nvSpPr>
        <p:spPr>
          <a:xfrm>
            <a:off x="777240" y="3319272"/>
            <a:ext cx="685800" cy="685800"/>
          </a:xfrm>
          <a:prstGeom prst="ellipse">
            <a:avLst/>
          </a:prstGeom>
          <a:solidFill>
            <a:schemeClr val="accent1"/>
          </a:solidFill>
          <a:ln/>
        </p:spPr>
      </p:sp>
      <p:pic>
        <p:nvPicPr>
          <p:cNvPr id="19" name="estado2-icono" descr="preencoded.png"/>
          <p:cNvPicPr>
            <a:picLocks noChangeAspect="1"/>
          </p:cNvPicPr>
          <p:nvPr/>
        </p:nvPicPr>
        <p:blipFill>
          <a:blip r:embed="rId5"/>
          <a:stretch>
            <a:fillRect/>
          </a:stretch>
        </p:blipFill>
        <p:spPr>
          <a:xfrm>
            <a:off x="969264" y="3511296"/>
            <a:ext cx="301752" cy="301752"/>
          </a:xfrm>
          <a:prstGeom prst="rect">
            <a:avLst/>
          </a:prstGeom>
        </p:spPr>
      </p:pic>
      <p:sp>
        <p:nvSpPr>
          <p:cNvPr id="20" name="Text 15"/>
          <p:cNvSpPr txBox="1"/>
          <p:nvPr/>
        </p:nvSpPr>
        <p:spPr>
          <a:xfrm>
            <a:off x="1691640" y="3172968"/>
            <a:ext cx="2377440" cy="411480"/>
          </a:xfrm>
          <a:prstGeom prst="rect">
            <a:avLst/>
          </a:prstGeom>
          <a:noFill/>
          <a:ln/>
        </p:spPr>
        <p:txBody>
          <a:bodyPr wrap="square" lIns="0" tIns="0" rIns="0" bIns="0" rtlCol="0" anchor="t"/>
          <a:lstStyle/>
          <a:p>
            <a:pPr marL="0" indent="0">
              <a:buNone/>
            </a:pPr>
            <a:r>
              <a:rPr lang="en-US" sz="1800" b="1" dirty="0">
                <a:solidFill>
                  <a:schemeClr val="tx2"/>
                </a:solidFill>
              </a:rPr>
              <a:t>Parada justificada</a:t>
            </a:r>
            <a:endParaRPr lang="en-US" sz="1800" dirty="0"/>
          </a:p>
        </p:txBody>
      </p:sp>
      <p:sp>
        <p:nvSpPr>
          <p:cNvPr id="21" name="Text 16"/>
          <p:cNvSpPr txBox="1"/>
          <p:nvPr/>
        </p:nvSpPr>
        <p:spPr>
          <a:xfrm>
            <a:off x="1691640" y="3593592"/>
            <a:ext cx="2514600" cy="685800"/>
          </a:xfrm>
          <a:prstGeom prst="rect">
            <a:avLst/>
          </a:prstGeom>
          <a:noFill/>
          <a:ln/>
        </p:spPr>
        <p:txBody>
          <a:bodyPr wrap="square" lIns="0" tIns="0" rIns="0" bIns="0" rtlCol="0" anchor="t"/>
          <a:lstStyle/>
          <a:p>
            <a:pPr marL="0" indent="0">
              <a:buNone/>
            </a:pPr>
            <a:r>
              <a:rPr lang="en-US" sz="1400" dirty="0">
                <a:solidFill>
                  <a:schemeClr val="tx1"/>
                </a:solidFill>
              </a:rPr>
              <a:t>Parada larga con causa del mecánico, habilitador u operaria</a:t>
            </a:r>
            <a:endParaRPr lang="en-US" sz="1400" dirty="0"/>
          </a:p>
        </p:txBody>
      </p:sp>
      <p:sp>
        <p:nvSpPr>
          <p:cNvPr id="22" name="veredicto2"/>
          <p:cNvSpPr/>
          <p:nvPr/>
        </p:nvSpPr>
        <p:spPr>
          <a:xfrm>
            <a:off x="4297680" y="3429000"/>
            <a:ext cx="1463040" cy="457200"/>
          </a:xfrm>
          <a:prstGeom prst="roundRect">
            <a:avLst>
              <a:gd name="adj" fmla="val 50000"/>
            </a:avLst>
          </a:prstGeom>
          <a:solidFill>
            <a:schemeClr val="accent6"/>
          </a:solidFill>
          <a:ln/>
        </p:spPr>
      </p:sp>
      <p:sp>
        <p:nvSpPr>
          <p:cNvPr id="23" name="Text 18"/>
          <p:cNvSpPr txBox="1"/>
          <p:nvPr/>
        </p:nvSpPr>
        <p:spPr>
          <a:xfrm>
            <a:off x="4297680" y="3429000"/>
            <a:ext cx="1463040" cy="457200"/>
          </a:xfrm>
          <a:prstGeom prst="rect">
            <a:avLst/>
          </a:prstGeom>
          <a:noFill/>
          <a:ln/>
        </p:spPr>
        <p:txBody>
          <a:bodyPr wrap="square" lIns="0" tIns="0" rIns="0" bIns="0" rtlCol="0" anchor="ctr"/>
          <a:lstStyle/>
          <a:p>
            <a:pPr marL="0" indent="0" algn="ctr">
              <a:buNone/>
            </a:pPr>
            <a:r>
              <a:rPr lang="en-US" sz="1200" b="1" dirty="0">
                <a:solidFill>
                  <a:schemeClr val="bg1"/>
                </a:solidFill>
              </a:rPr>
              <a:t>Se compensa</a:t>
            </a:r>
            <a:endParaRPr lang="en-US" sz="1200" dirty="0"/>
          </a:p>
        </p:txBody>
      </p:sp>
      <p:sp>
        <p:nvSpPr>
          <p:cNvPr id="24" name="estado3"/>
          <p:cNvSpPr/>
          <p:nvPr/>
        </p:nvSpPr>
        <p:spPr>
          <a:xfrm>
            <a:off x="6231636" y="2971800"/>
            <a:ext cx="5408676" cy="1371600"/>
          </a:xfrm>
          <a:prstGeom prst="roundRect">
            <a:avLst>
              <a:gd name="adj" fmla="val 6667"/>
            </a:avLst>
          </a:prstGeom>
          <a:solidFill>
            <a:schemeClr val="bg2"/>
          </a:solidFill>
          <a:ln/>
        </p:spPr>
      </p:sp>
      <p:sp>
        <p:nvSpPr>
          <p:cNvPr id="25" name="estado3-circulo"/>
          <p:cNvSpPr/>
          <p:nvPr/>
        </p:nvSpPr>
        <p:spPr>
          <a:xfrm>
            <a:off x="6460236" y="3319272"/>
            <a:ext cx="685800" cy="685800"/>
          </a:xfrm>
          <a:prstGeom prst="ellipse">
            <a:avLst/>
          </a:prstGeom>
          <a:solidFill>
            <a:schemeClr val="accent4"/>
          </a:solidFill>
          <a:ln/>
        </p:spPr>
      </p:sp>
      <p:pic>
        <p:nvPicPr>
          <p:cNvPr id="26" name="estado3-icono" descr="preencoded.png"/>
          <p:cNvPicPr>
            <a:picLocks noChangeAspect="1"/>
          </p:cNvPicPr>
          <p:nvPr/>
        </p:nvPicPr>
        <p:blipFill>
          <a:blip r:embed="rId6"/>
          <a:stretch>
            <a:fillRect/>
          </a:stretch>
        </p:blipFill>
        <p:spPr>
          <a:xfrm>
            <a:off x="6652260" y="3511296"/>
            <a:ext cx="301752" cy="301752"/>
          </a:xfrm>
          <a:prstGeom prst="rect">
            <a:avLst/>
          </a:prstGeom>
        </p:spPr>
      </p:pic>
      <p:sp>
        <p:nvSpPr>
          <p:cNvPr id="27" name="Text 21"/>
          <p:cNvSpPr txBox="1"/>
          <p:nvPr/>
        </p:nvSpPr>
        <p:spPr>
          <a:xfrm>
            <a:off x="7374636" y="3172968"/>
            <a:ext cx="2377440" cy="411480"/>
          </a:xfrm>
          <a:prstGeom prst="rect">
            <a:avLst/>
          </a:prstGeom>
          <a:noFill/>
          <a:ln/>
        </p:spPr>
        <p:txBody>
          <a:bodyPr wrap="square" lIns="0" tIns="0" rIns="0" bIns="0" rtlCol="0" anchor="t"/>
          <a:lstStyle/>
          <a:p>
            <a:pPr marL="0" indent="0">
              <a:buNone/>
            </a:pPr>
            <a:r>
              <a:rPr lang="en-US" sz="1800" b="1" dirty="0">
                <a:solidFill>
                  <a:schemeClr val="tx2"/>
                </a:solidFill>
              </a:rPr>
              <a:t>Parada sin causa</a:t>
            </a:r>
            <a:endParaRPr lang="en-US" sz="1800" dirty="0"/>
          </a:p>
        </p:txBody>
      </p:sp>
      <p:sp>
        <p:nvSpPr>
          <p:cNvPr id="28" name="Text 22"/>
          <p:cNvSpPr txBox="1"/>
          <p:nvPr/>
        </p:nvSpPr>
        <p:spPr>
          <a:xfrm>
            <a:off x="7374636" y="3593592"/>
            <a:ext cx="2514600" cy="685800"/>
          </a:xfrm>
          <a:prstGeom prst="rect">
            <a:avLst/>
          </a:prstGeom>
          <a:noFill/>
          <a:ln/>
        </p:spPr>
        <p:txBody>
          <a:bodyPr wrap="square" lIns="0" tIns="0" rIns="0" bIns="0" rtlCol="0" anchor="t"/>
          <a:lstStyle/>
          <a:p>
            <a:pPr marL="0" indent="0">
              <a:buNone/>
            </a:pPr>
            <a:r>
              <a:rPr lang="en-US" sz="1400" dirty="0">
                <a:solidFill>
                  <a:schemeClr val="tx1"/>
                </a:solidFill>
              </a:rPr>
              <a:t>Parada larga sin causa: alerta al supervisor</a:t>
            </a:r>
            <a:endParaRPr lang="en-US" sz="1400" dirty="0"/>
          </a:p>
        </p:txBody>
      </p:sp>
      <p:sp>
        <p:nvSpPr>
          <p:cNvPr id="29" name="veredicto3"/>
          <p:cNvSpPr/>
          <p:nvPr/>
        </p:nvSpPr>
        <p:spPr>
          <a:xfrm>
            <a:off x="9980676" y="3429000"/>
            <a:ext cx="1463040" cy="457200"/>
          </a:xfrm>
          <a:prstGeom prst="roundRect">
            <a:avLst>
              <a:gd name="adj" fmla="val 50000"/>
            </a:avLst>
          </a:prstGeom>
          <a:solidFill>
            <a:schemeClr val="accent4"/>
          </a:solidFill>
          <a:ln/>
        </p:spPr>
      </p:sp>
      <p:sp>
        <p:nvSpPr>
          <p:cNvPr id="30" name="Text 24"/>
          <p:cNvSpPr txBox="1"/>
          <p:nvPr/>
        </p:nvSpPr>
        <p:spPr>
          <a:xfrm>
            <a:off x="9980676" y="3429000"/>
            <a:ext cx="1463040" cy="457200"/>
          </a:xfrm>
          <a:prstGeom prst="rect">
            <a:avLst/>
          </a:prstGeom>
          <a:noFill/>
          <a:ln/>
        </p:spPr>
        <p:txBody>
          <a:bodyPr wrap="square" lIns="0" tIns="0" rIns="0" bIns="0" rtlCol="0" anchor="ctr"/>
          <a:lstStyle/>
          <a:p>
            <a:pPr marL="0" indent="0" algn="ctr">
              <a:buNone/>
            </a:pPr>
            <a:r>
              <a:rPr lang="en-US" sz="1200" b="1" dirty="0">
                <a:solidFill>
                  <a:schemeClr val="bg1"/>
                </a:solidFill>
              </a:rPr>
              <a:t>Cuenta contra ella</a:t>
            </a:r>
            <a:endParaRPr lang="en-US" sz="1200" dirty="0"/>
          </a:p>
        </p:txBody>
      </p:sp>
      <p:sp>
        <p:nvSpPr>
          <p:cNvPr id="31" name="estado4"/>
          <p:cNvSpPr/>
          <p:nvPr/>
        </p:nvSpPr>
        <p:spPr>
          <a:xfrm>
            <a:off x="548640" y="4526280"/>
            <a:ext cx="5408676" cy="1371600"/>
          </a:xfrm>
          <a:prstGeom prst="roundRect">
            <a:avLst>
              <a:gd name="adj" fmla="val 6667"/>
            </a:avLst>
          </a:prstGeom>
          <a:solidFill>
            <a:schemeClr val="bg2"/>
          </a:solidFill>
          <a:ln/>
        </p:spPr>
      </p:sp>
      <p:sp>
        <p:nvSpPr>
          <p:cNvPr id="32" name="estado4-circulo"/>
          <p:cNvSpPr/>
          <p:nvPr/>
        </p:nvSpPr>
        <p:spPr>
          <a:xfrm>
            <a:off x="777240" y="4873752"/>
            <a:ext cx="685800" cy="685800"/>
          </a:xfrm>
          <a:prstGeom prst="ellipse">
            <a:avLst/>
          </a:prstGeom>
          <a:solidFill>
            <a:schemeClr val="accent2"/>
          </a:solidFill>
          <a:ln/>
        </p:spPr>
      </p:sp>
      <p:pic>
        <p:nvPicPr>
          <p:cNvPr id="33" name="estado4-icono" descr="preencoded.png"/>
          <p:cNvPicPr>
            <a:picLocks noChangeAspect="1"/>
          </p:cNvPicPr>
          <p:nvPr/>
        </p:nvPicPr>
        <p:blipFill>
          <a:blip r:embed="rId7"/>
          <a:stretch>
            <a:fillRect/>
          </a:stretch>
        </p:blipFill>
        <p:spPr>
          <a:xfrm>
            <a:off x="969264" y="5065776"/>
            <a:ext cx="301752" cy="301752"/>
          </a:xfrm>
          <a:prstGeom prst="rect">
            <a:avLst/>
          </a:prstGeom>
        </p:spPr>
      </p:pic>
      <p:sp>
        <p:nvSpPr>
          <p:cNvPr id="34" name="Text 27"/>
          <p:cNvSpPr txBox="1"/>
          <p:nvPr/>
        </p:nvSpPr>
        <p:spPr>
          <a:xfrm>
            <a:off x="1691640" y="4727448"/>
            <a:ext cx="2377440" cy="411480"/>
          </a:xfrm>
          <a:prstGeom prst="rect">
            <a:avLst/>
          </a:prstGeom>
          <a:noFill/>
          <a:ln/>
        </p:spPr>
        <p:txBody>
          <a:bodyPr wrap="square" lIns="0" tIns="0" rIns="0" bIns="0" rtlCol="0" anchor="t"/>
          <a:lstStyle/>
          <a:p>
            <a:pPr marL="0" indent="0">
              <a:buNone/>
            </a:pPr>
            <a:r>
              <a:rPr lang="en-US" sz="1800" b="1" dirty="0">
                <a:solidFill>
                  <a:schemeClr val="tx2"/>
                </a:solidFill>
              </a:rPr>
              <a:t>Ausente del puesto</a:t>
            </a:r>
            <a:endParaRPr lang="en-US" sz="1800" dirty="0"/>
          </a:p>
        </p:txBody>
      </p:sp>
      <p:sp>
        <p:nvSpPr>
          <p:cNvPr id="35" name="Text 28"/>
          <p:cNvSpPr txBox="1"/>
          <p:nvPr/>
        </p:nvSpPr>
        <p:spPr>
          <a:xfrm>
            <a:off x="1691640" y="5148072"/>
            <a:ext cx="2514600" cy="685800"/>
          </a:xfrm>
          <a:prstGeom prst="rect">
            <a:avLst/>
          </a:prstGeom>
          <a:noFill/>
          <a:ln/>
        </p:spPr>
        <p:txBody>
          <a:bodyPr wrap="square" lIns="0" tIns="0" rIns="0" bIns="0" rtlCol="0" anchor="t"/>
          <a:lstStyle/>
          <a:p>
            <a:pPr marL="0" indent="0">
              <a:buNone/>
            </a:pPr>
            <a:r>
              <a:rPr lang="en-US" sz="1400" dirty="0">
                <a:solidFill>
                  <a:schemeClr val="tx1"/>
                </a:solidFill>
              </a:rPr>
              <a:t>Sin presencia por más de X minutos</a:t>
            </a:r>
            <a:endParaRPr lang="en-US" sz="1400" dirty="0"/>
          </a:p>
        </p:txBody>
      </p:sp>
      <p:sp>
        <p:nvSpPr>
          <p:cNvPr id="36" name="veredicto4"/>
          <p:cNvSpPr/>
          <p:nvPr/>
        </p:nvSpPr>
        <p:spPr>
          <a:xfrm>
            <a:off x="4297680" y="4983480"/>
            <a:ext cx="1463040" cy="457200"/>
          </a:xfrm>
          <a:prstGeom prst="roundRect">
            <a:avLst>
              <a:gd name="adj" fmla="val 50000"/>
            </a:avLst>
          </a:prstGeom>
          <a:solidFill>
            <a:schemeClr val="accent2"/>
          </a:solidFill>
          <a:ln/>
        </p:spPr>
      </p:sp>
      <p:sp>
        <p:nvSpPr>
          <p:cNvPr id="37" name="Text 30"/>
          <p:cNvSpPr txBox="1"/>
          <p:nvPr/>
        </p:nvSpPr>
        <p:spPr>
          <a:xfrm>
            <a:off x="4297680" y="4983480"/>
            <a:ext cx="1463040" cy="457200"/>
          </a:xfrm>
          <a:prstGeom prst="rect">
            <a:avLst/>
          </a:prstGeom>
          <a:noFill/>
          <a:ln/>
        </p:spPr>
        <p:txBody>
          <a:bodyPr wrap="square" lIns="0" tIns="0" rIns="0" bIns="0" rtlCol="0" anchor="ctr"/>
          <a:lstStyle/>
          <a:p>
            <a:pPr marL="0" indent="0" algn="ctr">
              <a:buNone/>
            </a:pPr>
            <a:r>
              <a:rPr lang="en-US" sz="1200" b="1" dirty="0">
                <a:solidFill>
                  <a:schemeClr val="bg1"/>
                </a:solidFill>
              </a:rPr>
              <a:t>Según la política</a:t>
            </a:r>
            <a:endParaRPr lang="en-US" sz="1200" dirty="0"/>
          </a:p>
        </p:txBody>
      </p:sp>
      <p:sp>
        <p:nvSpPr>
          <p:cNvPr id="38" name="estado5"/>
          <p:cNvSpPr/>
          <p:nvPr/>
        </p:nvSpPr>
        <p:spPr>
          <a:xfrm>
            <a:off x="6231636" y="4526280"/>
            <a:ext cx="5408676" cy="1371600"/>
          </a:xfrm>
          <a:prstGeom prst="roundRect">
            <a:avLst>
              <a:gd name="adj" fmla="val 6667"/>
            </a:avLst>
          </a:prstGeom>
          <a:solidFill>
            <a:schemeClr val="bg2"/>
          </a:solidFill>
          <a:ln/>
        </p:spPr>
      </p:sp>
      <p:sp>
        <p:nvSpPr>
          <p:cNvPr id="39" name="estado5-circulo"/>
          <p:cNvSpPr/>
          <p:nvPr/>
        </p:nvSpPr>
        <p:spPr>
          <a:xfrm>
            <a:off x="6460236" y="4873752"/>
            <a:ext cx="685800" cy="685800"/>
          </a:xfrm>
          <a:prstGeom prst="ellipse">
            <a:avLst/>
          </a:prstGeom>
          <a:solidFill>
            <a:schemeClr val="accent5"/>
          </a:solidFill>
          <a:ln/>
        </p:spPr>
      </p:sp>
      <p:pic>
        <p:nvPicPr>
          <p:cNvPr id="40" name="estado5-icono" descr="preencoded.png"/>
          <p:cNvPicPr>
            <a:picLocks noChangeAspect="1"/>
          </p:cNvPicPr>
          <p:nvPr/>
        </p:nvPicPr>
        <p:blipFill>
          <a:blip r:embed="rId8"/>
          <a:stretch>
            <a:fillRect/>
          </a:stretch>
        </p:blipFill>
        <p:spPr>
          <a:xfrm>
            <a:off x="6652260" y="5065776"/>
            <a:ext cx="301752" cy="301752"/>
          </a:xfrm>
          <a:prstGeom prst="rect">
            <a:avLst/>
          </a:prstGeom>
        </p:spPr>
      </p:pic>
      <p:sp>
        <p:nvSpPr>
          <p:cNvPr id="41" name="Text 33"/>
          <p:cNvSpPr txBox="1"/>
          <p:nvPr/>
        </p:nvSpPr>
        <p:spPr>
          <a:xfrm>
            <a:off x="7374636" y="4727448"/>
            <a:ext cx="2377440" cy="411480"/>
          </a:xfrm>
          <a:prstGeom prst="rect">
            <a:avLst/>
          </a:prstGeom>
          <a:noFill/>
          <a:ln/>
        </p:spPr>
        <p:txBody>
          <a:bodyPr wrap="square" lIns="0" tIns="0" rIns="0" bIns="0" rtlCol="0" anchor="t"/>
          <a:lstStyle/>
          <a:p>
            <a:pPr marL="0" indent="0">
              <a:buNone/>
            </a:pPr>
            <a:r>
              <a:rPr lang="en-US" sz="1800" b="1" dirty="0">
                <a:solidFill>
                  <a:schemeClr val="tx2"/>
                </a:solidFill>
              </a:rPr>
              <a:t>Máquina apagada</a:t>
            </a:r>
            <a:endParaRPr lang="en-US" sz="1800" dirty="0"/>
          </a:p>
        </p:txBody>
      </p:sp>
      <p:sp>
        <p:nvSpPr>
          <p:cNvPr id="42" name="Text 34"/>
          <p:cNvSpPr txBox="1"/>
          <p:nvPr/>
        </p:nvSpPr>
        <p:spPr>
          <a:xfrm>
            <a:off x="7374636" y="5148072"/>
            <a:ext cx="2514600" cy="685800"/>
          </a:xfrm>
          <a:prstGeom prst="rect">
            <a:avLst/>
          </a:prstGeom>
          <a:noFill/>
          <a:ln/>
        </p:spPr>
        <p:txBody>
          <a:bodyPr wrap="square" lIns="0" tIns="0" rIns="0" bIns="0" rtlCol="0" anchor="t"/>
          <a:lstStyle/>
          <a:p>
            <a:pPr marL="0" indent="0">
              <a:buNone/>
            </a:pPr>
            <a:r>
              <a:rPr lang="en-US" sz="1400" dirty="0">
                <a:solidFill>
                  <a:schemeClr val="tx1"/>
                </a:solidFill>
              </a:rPr>
              <a:t>Sin consumo de corriente</a:t>
            </a:r>
            <a:endParaRPr lang="en-US" sz="1400" dirty="0"/>
          </a:p>
        </p:txBody>
      </p:sp>
      <p:sp>
        <p:nvSpPr>
          <p:cNvPr id="43" name="veredicto5"/>
          <p:cNvSpPr/>
          <p:nvPr/>
        </p:nvSpPr>
        <p:spPr>
          <a:xfrm>
            <a:off x="9980676" y="4983480"/>
            <a:ext cx="1463040" cy="457200"/>
          </a:xfrm>
          <a:prstGeom prst="roundRect">
            <a:avLst>
              <a:gd name="adj" fmla="val 50000"/>
            </a:avLst>
          </a:prstGeom>
          <a:solidFill>
            <a:schemeClr val="accent2"/>
          </a:solidFill>
          <a:ln/>
        </p:spPr>
      </p:sp>
      <p:sp>
        <p:nvSpPr>
          <p:cNvPr id="44" name="Text 36"/>
          <p:cNvSpPr txBox="1"/>
          <p:nvPr/>
        </p:nvSpPr>
        <p:spPr>
          <a:xfrm>
            <a:off x="9980676" y="4983480"/>
            <a:ext cx="1463040" cy="457200"/>
          </a:xfrm>
          <a:prstGeom prst="rect">
            <a:avLst/>
          </a:prstGeom>
          <a:noFill/>
          <a:ln/>
        </p:spPr>
        <p:txBody>
          <a:bodyPr wrap="square" lIns="0" tIns="0" rIns="0" bIns="0" rtlCol="0" anchor="ctr"/>
          <a:lstStyle/>
          <a:p>
            <a:pPr marL="0" indent="0" algn="ctr">
              <a:buNone/>
            </a:pPr>
            <a:r>
              <a:rPr lang="en-US" sz="1200" b="1" dirty="0">
                <a:solidFill>
                  <a:schemeClr val="bg1"/>
                </a:solidFill>
              </a:rPr>
              <a:t>Según la causa</a:t>
            </a:r>
            <a:endParaRPr lang="en-US" sz="1200" dirty="0"/>
          </a:p>
        </p:txBody>
      </p:sp>
      <p:sp>
        <p:nvSpPr>
          <p:cNvPr id="4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F6B70"/>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1672" cy="868680"/>
          </a:xfrm>
          <a:prstGeom prst="rect">
            <a:avLst/>
          </a:prstGeom>
          <a:noFill/>
          <a:ln/>
        </p:spPr>
        <p:txBody>
          <a:bodyPr wrap="square" lIns="0" tIns="0" rIns="0" bIns="0" rtlCol="0" anchor="ctr"/>
          <a:lstStyle/>
          <a:p>
            <a:pPr marL="0" indent="0" algn="l">
              <a:buNone/>
            </a:pPr>
            <a:r>
              <a:rPr lang="en-US" sz="3200" b="1" dirty="0">
                <a:solidFill>
                  <a:schemeClr val="tx2"/>
                </a:solidFill>
              </a:rPr>
              <a:t>A · Low cost: solo sensores e IoT</a:t>
            </a:r>
            <a:endParaRPr lang="en-US" sz="3200" dirty="0"/>
          </a:p>
        </p:txBody>
      </p:sp>
      <p:sp>
        <p:nvSpPr>
          <p:cNvPr id="3" name="compA0-circulo"/>
          <p:cNvSpPr/>
          <p:nvPr/>
        </p:nvSpPr>
        <p:spPr>
          <a:xfrm>
            <a:off x="548640" y="1463040"/>
            <a:ext cx="685800" cy="685800"/>
          </a:xfrm>
          <a:prstGeom prst="ellipse">
            <a:avLst/>
          </a:prstGeom>
          <a:solidFill>
            <a:schemeClr val="accent1"/>
          </a:solidFill>
          <a:ln/>
        </p:spPr>
      </p:sp>
      <p:pic>
        <p:nvPicPr>
          <p:cNvPr id="4" name="compA0-icono" descr="preencoded.png"/>
          <p:cNvPicPr>
            <a:picLocks noChangeAspect="1"/>
          </p:cNvPicPr>
          <p:nvPr/>
        </p:nvPicPr>
        <p:blipFill>
          <a:blip r:embed="rId3"/>
          <a:stretch>
            <a:fillRect/>
          </a:stretch>
        </p:blipFill>
        <p:spPr>
          <a:xfrm>
            <a:off x="740664" y="1655064"/>
            <a:ext cx="301752" cy="301752"/>
          </a:xfrm>
          <a:prstGeom prst="rect">
            <a:avLst/>
          </a:prstGeom>
        </p:spPr>
      </p:pic>
      <p:sp>
        <p:nvSpPr>
          <p:cNvPr id="5" name="Text 2"/>
          <p:cNvSpPr txBox="1"/>
          <p:nvPr/>
        </p:nvSpPr>
        <p:spPr>
          <a:xfrm>
            <a:off x="1463040" y="1444752"/>
            <a:ext cx="4846320" cy="384048"/>
          </a:xfrm>
          <a:prstGeom prst="rect">
            <a:avLst/>
          </a:prstGeom>
          <a:noFill/>
          <a:ln/>
        </p:spPr>
        <p:txBody>
          <a:bodyPr wrap="square" lIns="0" tIns="0" rIns="0" bIns="0" rtlCol="0" anchor="t"/>
          <a:lstStyle/>
          <a:p>
            <a:pPr marL="0" indent="0">
              <a:buNone/>
            </a:pPr>
            <a:r>
              <a:rPr lang="en-US" sz="1700" b="1" dirty="0">
                <a:solidFill>
                  <a:schemeClr val="tx2"/>
                </a:solidFill>
              </a:rPr>
              <a:t>Pinza de corriente SCT-013</a:t>
            </a:r>
            <a:endParaRPr lang="en-US" sz="1700" dirty="0"/>
          </a:p>
        </p:txBody>
      </p:sp>
      <p:sp>
        <p:nvSpPr>
          <p:cNvPr id="6" name="Text 3"/>
          <p:cNvSpPr txBox="1"/>
          <p:nvPr/>
        </p:nvSpPr>
        <p:spPr>
          <a:xfrm>
            <a:off x="1463040" y="1828800"/>
            <a:ext cx="4846320" cy="457200"/>
          </a:xfrm>
          <a:prstGeom prst="rect">
            <a:avLst/>
          </a:prstGeom>
          <a:noFill/>
          <a:ln/>
        </p:spPr>
        <p:txBody>
          <a:bodyPr wrap="square" lIns="0" tIns="0" rIns="0" bIns="0" rtlCol="0" anchor="t"/>
          <a:lstStyle/>
          <a:p>
            <a:pPr marL="0" indent="0">
              <a:buNone/>
            </a:pPr>
            <a:r>
              <a:rPr lang="en-US" sz="1400" dirty="0">
                <a:solidFill>
                  <a:schemeClr val="tx1"/>
                </a:solidFill>
              </a:rPr>
              <a:t>Distingue apagada, encendida sin coser y cosiendo</a:t>
            </a:r>
            <a:endParaRPr lang="en-US" sz="1400" dirty="0"/>
          </a:p>
        </p:txBody>
      </p:sp>
      <p:sp>
        <p:nvSpPr>
          <p:cNvPr id="7" name="compA1-circulo"/>
          <p:cNvSpPr/>
          <p:nvPr/>
        </p:nvSpPr>
        <p:spPr>
          <a:xfrm>
            <a:off x="548640" y="2578608"/>
            <a:ext cx="685800" cy="685800"/>
          </a:xfrm>
          <a:prstGeom prst="ellipse">
            <a:avLst/>
          </a:prstGeom>
          <a:solidFill>
            <a:schemeClr val="accent1"/>
          </a:solidFill>
          <a:ln/>
        </p:spPr>
      </p:sp>
      <p:pic>
        <p:nvPicPr>
          <p:cNvPr id="8" name="compA1-icono" descr="preencoded.png"/>
          <p:cNvPicPr>
            <a:picLocks noChangeAspect="1"/>
          </p:cNvPicPr>
          <p:nvPr/>
        </p:nvPicPr>
        <p:blipFill>
          <a:blip r:embed="rId4"/>
          <a:stretch>
            <a:fillRect/>
          </a:stretch>
        </p:blipFill>
        <p:spPr>
          <a:xfrm>
            <a:off x="740664" y="2770632"/>
            <a:ext cx="301752" cy="301752"/>
          </a:xfrm>
          <a:prstGeom prst="rect">
            <a:avLst/>
          </a:prstGeom>
        </p:spPr>
      </p:pic>
      <p:sp>
        <p:nvSpPr>
          <p:cNvPr id="9" name="Text 5"/>
          <p:cNvSpPr txBox="1"/>
          <p:nvPr/>
        </p:nvSpPr>
        <p:spPr>
          <a:xfrm>
            <a:off x="1463040" y="2560320"/>
            <a:ext cx="4846320" cy="384048"/>
          </a:xfrm>
          <a:prstGeom prst="rect">
            <a:avLst/>
          </a:prstGeom>
          <a:noFill/>
          <a:ln/>
        </p:spPr>
        <p:txBody>
          <a:bodyPr wrap="square" lIns="0" tIns="0" rIns="0" bIns="0" rtlCol="0" anchor="t"/>
          <a:lstStyle/>
          <a:p>
            <a:pPr marL="0" indent="0">
              <a:buNone/>
            </a:pPr>
            <a:r>
              <a:rPr lang="en-US" sz="1700" b="1" dirty="0">
                <a:solidFill>
                  <a:schemeClr val="tx2"/>
                </a:solidFill>
              </a:rPr>
              <a:t>Radar de presencia LD2410</a:t>
            </a:r>
            <a:endParaRPr lang="en-US" sz="1700" dirty="0"/>
          </a:p>
        </p:txBody>
      </p:sp>
      <p:sp>
        <p:nvSpPr>
          <p:cNvPr id="10" name="Text 6"/>
          <p:cNvSpPr txBox="1"/>
          <p:nvPr/>
        </p:nvSpPr>
        <p:spPr>
          <a:xfrm>
            <a:off x="1463040" y="2944368"/>
            <a:ext cx="4846320" cy="457200"/>
          </a:xfrm>
          <a:prstGeom prst="rect">
            <a:avLst/>
          </a:prstGeom>
          <a:noFill/>
          <a:ln/>
        </p:spPr>
        <p:txBody>
          <a:bodyPr wrap="square" lIns="0" tIns="0" rIns="0" bIns="0" rtlCol="0" anchor="t"/>
          <a:lstStyle/>
          <a:p>
            <a:pPr marL="0" indent="0">
              <a:buNone/>
            </a:pPr>
            <a:r>
              <a:rPr lang="en-US" sz="1400" dirty="0">
                <a:solidFill>
                  <a:schemeClr val="tx1"/>
                </a:solidFill>
              </a:rPr>
              <a:t>Detecta si la operaria está sentada, aunque esté quieta</a:t>
            </a:r>
            <a:endParaRPr lang="en-US" sz="1400" dirty="0"/>
          </a:p>
        </p:txBody>
      </p:sp>
      <p:sp>
        <p:nvSpPr>
          <p:cNvPr id="11" name="compA2-circulo"/>
          <p:cNvSpPr/>
          <p:nvPr/>
        </p:nvSpPr>
        <p:spPr>
          <a:xfrm>
            <a:off x="548640" y="3694176"/>
            <a:ext cx="685800" cy="685800"/>
          </a:xfrm>
          <a:prstGeom prst="ellipse">
            <a:avLst/>
          </a:prstGeom>
          <a:solidFill>
            <a:schemeClr val="accent1"/>
          </a:solidFill>
          <a:ln/>
        </p:spPr>
      </p:sp>
      <p:pic>
        <p:nvPicPr>
          <p:cNvPr id="12" name="compA2-icono" descr="preencoded.png"/>
          <p:cNvPicPr>
            <a:picLocks noChangeAspect="1"/>
          </p:cNvPicPr>
          <p:nvPr/>
        </p:nvPicPr>
        <p:blipFill>
          <a:blip r:embed="rId5"/>
          <a:stretch>
            <a:fillRect/>
          </a:stretch>
        </p:blipFill>
        <p:spPr>
          <a:xfrm>
            <a:off x="740664" y="3886200"/>
            <a:ext cx="301752" cy="301752"/>
          </a:xfrm>
          <a:prstGeom prst="rect">
            <a:avLst/>
          </a:prstGeom>
        </p:spPr>
      </p:pic>
      <p:sp>
        <p:nvSpPr>
          <p:cNvPr id="13" name="Text 8"/>
          <p:cNvSpPr txBox="1"/>
          <p:nvPr/>
        </p:nvSpPr>
        <p:spPr>
          <a:xfrm>
            <a:off x="1463040" y="3675888"/>
            <a:ext cx="4846320" cy="384048"/>
          </a:xfrm>
          <a:prstGeom prst="rect">
            <a:avLst/>
          </a:prstGeom>
          <a:noFill/>
          <a:ln/>
        </p:spPr>
        <p:txBody>
          <a:bodyPr wrap="square" lIns="0" tIns="0" rIns="0" bIns="0" rtlCol="0" anchor="t"/>
          <a:lstStyle/>
          <a:p>
            <a:pPr marL="0" indent="0">
              <a:buNone/>
            </a:pPr>
            <a:r>
              <a:rPr lang="en-US" sz="1700" b="1" dirty="0">
                <a:solidFill>
                  <a:schemeClr val="tx2"/>
                </a:solidFill>
              </a:rPr>
              <a:t>Botones de causa + tablet de línea</a:t>
            </a:r>
            <a:endParaRPr lang="en-US" sz="1700" dirty="0"/>
          </a:p>
        </p:txBody>
      </p:sp>
      <p:sp>
        <p:nvSpPr>
          <p:cNvPr id="14" name="Text 9"/>
          <p:cNvSpPr txBox="1"/>
          <p:nvPr/>
        </p:nvSpPr>
        <p:spPr>
          <a:xfrm>
            <a:off x="1463040" y="4059936"/>
            <a:ext cx="4846320" cy="457200"/>
          </a:xfrm>
          <a:prstGeom prst="rect">
            <a:avLst/>
          </a:prstGeom>
          <a:noFill/>
          <a:ln/>
        </p:spPr>
        <p:txBody>
          <a:bodyPr wrap="square" lIns="0" tIns="0" rIns="0" bIns="0" rtlCol="0" anchor="t"/>
          <a:lstStyle/>
          <a:p>
            <a:pPr marL="0" indent="0">
              <a:buNone/>
            </a:pPr>
            <a:r>
              <a:rPr lang="en-US" sz="1400" dirty="0">
                <a:solidFill>
                  <a:schemeClr val="tx1"/>
                </a:solidFill>
              </a:rPr>
              <a:t>Causa de la parada: operaria, mecánico o habilitador</a:t>
            </a:r>
            <a:endParaRPr lang="en-US" sz="1400" dirty="0"/>
          </a:p>
        </p:txBody>
      </p:sp>
      <p:sp>
        <p:nvSpPr>
          <p:cNvPr id="15" name="compA3-circulo"/>
          <p:cNvSpPr/>
          <p:nvPr/>
        </p:nvSpPr>
        <p:spPr>
          <a:xfrm>
            <a:off x="548640" y="4809744"/>
            <a:ext cx="685800" cy="685800"/>
          </a:xfrm>
          <a:prstGeom prst="ellipse">
            <a:avLst/>
          </a:prstGeom>
          <a:solidFill>
            <a:schemeClr val="accent1"/>
          </a:solidFill>
          <a:ln/>
        </p:spPr>
      </p:sp>
      <p:pic>
        <p:nvPicPr>
          <p:cNvPr id="16" name="compA3-icono" descr="preencoded.png"/>
          <p:cNvPicPr>
            <a:picLocks noChangeAspect="1"/>
          </p:cNvPicPr>
          <p:nvPr/>
        </p:nvPicPr>
        <p:blipFill>
          <a:blip r:embed="rId6"/>
          <a:stretch>
            <a:fillRect/>
          </a:stretch>
        </p:blipFill>
        <p:spPr>
          <a:xfrm>
            <a:off x="740664" y="5001768"/>
            <a:ext cx="301752" cy="301752"/>
          </a:xfrm>
          <a:prstGeom prst="rect">
            <a:avLst/>
          </a:prstGeom>
        </p:spPr>
      </p:pic>
      <p:sp>
        <p:nvSpPr>
          <p:cNvPr id="17" name="Text 11"/>
          <p:cNvSpPr txBox="1"/>
          <p:nvPr/>
        </p:nvSpPr>
        <p:spPr>
          <a:xfrm>
            <a:off x="1463040" y="4791456"/>
            <a:ext cx="4846320" cy="384048"/>
          </a:xfrm>
          <a:prstGeom prst="rect">
            <a:avLst/>
          </a:prstGeom>
          <a:noFill/>
          <a:ln/>
        </p:spPr>
        <p:txBody>
          <a:bodyPr wrap="square" lIns="0" tIns="0" rIns="0" bIns="0" rtlCol="0" anchor="t"/>
          <a:lstStyle/>
          <a:p>
            <a:pPr marL="0" indent="0">
              <a:buNone/>
            </a:pPr>
            <a:r>
              <a:rPr lang="en-US" sz="1700" b="1" dirty="0">
                <a:solidFill>
                  <a:schemeClr val="tx2"/>
                </a:solidFill>
              </a:rPr>
              <a:t>Nodo ESP32-S3</a:t>
            </a:r>
            <a:endParaRPr lang="en-US" sz="1700" dirty="0"/>
          </a:p>
        </p:txBody>
      </p:sp>
      <p:sp>
        <p:nvSpPr>
          <p:cNvPr id="18" name="Text 12"/>
          <p:cNvSpPr txBox="1"/>
          <p:nvPr/>
        </p:nvSpPr>
        <p:spPr>
          <a:xfrm>
            <a:off x="1463040" y="5175504"/>
            <a:ext cx="4846320" cy="457200"/>
          </a:xfrm>
          <a:prstGeom prst="rect">
            <a:avLst/>
          </a:prstGeom>
          <a:noFill/>
          <a:ln/>
        </p:spPr>
        <p:txBody>
          <a:bodyPr wrap="square" lIns="0" tIns="0" rIns="0" bIns="0" rtlCol="0" anchor="t"/>
          <a:lstStyle/>
          <a:p>
            <a:pPr marL="0" indent="0">
              <a:buNone/>
            </a:pPr>
            <a:r>
              <a:rPr lang="en-US" sz="1400" dirty="0">
                <a:solidFill>
                  <a:schemeClr val="tx1"/>
                </a:solidFill>
              </a:rPr>
              <a:t>Lee los sensores y envía los datos al servidor</a:t>
            </a:r>
            <a:endParaRPr lang="en-US" sz="1400" dirty="0"/>
          </a:p>
        </p:txBody>
      </p:sp>
      <p:sp>
        <p:nvSpPr>
          <p:cNvPr id="19" name="statA"/>
          <p:cNvSpPr/>
          <p:nvPr/>
        </p:nvSpPr>
        <p:spPr>
          <a:xfrm>
            <a:off x="6675120" y="1417320"/>
            <a:ext cx="4965192" cy="1600200"/>
          </a:xfrm>
          <a:prstGeom prst="roundRect">
            <a:avLst>
              <a:gd name="adj" fmla="val 5714"/>
            </a:avLst>
          </a:prstGeom>
          <a:solidFill>
            <a:schemeClr val="tx2"/>
          </a:solidFill>
          <a:ln/>
        </p:spPr>
      </p:sp>
      <p:sp>
        <p:nvSpPr>
          <p:cNvPr id="20" name="Text 14"/>
          <p:cNvSpPr txBox="1"/>
          <p:nvPr/>
        </p:nvSpPr>
        <p:spPr>
          <a:xfrm>
            <a:off x="6949440" y="1572768"/>
            <a:ext cx="4480560" cy="685800"/>
          </a:xfrm>
          <a:prstGeom prst="rect">
            <a:avLst/>
          </a:prstGeom>
          <a:noFill/>
          <a:ln/>
        </p:spPr>
        <p:txBody>
          <a:bodyPr wrap="square" lIns="0" tIns="0" rIns="0" bIns="0" rtlCol="0" anchor="t"/>
          <a:lstStyle/>
          <a:p>
            <a:pPr marL="0" indent="0">
              <a:buNone/>
            </a:pPr>
            <a:r>
              <a:rPr lang="en-US" sz="3600" b="1" dirty="0">
                <a:solidFill>
                  <a:schemeClr val="bg1"/>
                </a:solidFill>
              </a:rPr>
              <a:t>USD 1,500–2,200</a:t>
            </a:r>
            <a:endParaRPr lang="en-US" sz="3600" dirty="0"/>
          </a:p>
        </p:txBody>
      </p:sp>
      <p:sp>
        <p:nvSpPr>
          <p:cNvPr id="21" name="Text 15"/>
          <p:cNvSpPr txBox="1"/>
          <p:nvPr/>
        </p:nvSpPr>
        <p:spPr>
          <a:xfrm>
            <a:off x="6949440" y="2331720"/>
            <a:ext cx="4480560" cy="457200"/>
          </a:xfrm>
          <a:prstGeom prst="rect">
            <a:avLst/>
          </a:prstGeom>
          <a:noFill/>
          <a:ln/>
        </p:spPr>
        <p:txBody>
          <a:bodyPr wrap="square" lIns="0" tIns="0" rIns="0" bIns="0" rtlCol="0" anchor="t"/>
          <a:lstStyle/>
          <a:p>
            <a:pPr marL="0" indent="0">
              <a:buNone/>
            </a:pPr>
            <a:r>
              <a:rPr lang="en-US" sz="1400" dirty="0">
                <a:solidFill>
                  <a:schemeClr val="accent3"/>
                </a:solidFill>
              </a:rPr>
              <a:t>por línea de 25 máquinas · USD 25–45 por máquina</a:t>
            </a:r>
            <a:endParaRPr lang="en-US" sz="1400" dirty="0"/>
          </a:p>
        </p:txBody>
      </p:sp>
      <p:sp>
        <p:nvSpPr>
          <p:cNvPr id="22" name="mideA"/>
          <p:cNvSpPr/>
          <p:nvPr/>
        </p:nvSpPr>
        <p:spPr>
          <a:xfrm>
            <a:off x="6675120" y="3200400"/>
            <a:ext cx="2377440" cy="2697480"/>
          </a:xfrm>
          <a:prstGeom prst="roundRect">
            <a:avLst>
              <a:gd name="adj" fmla="val 3846"/>
            </a:avLst>
          </a:prstGeom>
          <a:solidFill>
            <a:schemeClr val="bg2"/>
          </a:solidFill>
          <a:ln/>
        </p:spPr>
      </p:sp>
      <p:sp>
        <p:nvSpPr>
          <p:cNvPr id="23" name="Text 17"/>
          <p:cNvSpPr txBox="1"/>
          <p:nvPr/>
        </p:nvSpPr>
        <p:spPr>
          <a:xfrm>
            <a:off x="6903720" y="3383280"/>
            <a:ext cx="1920240" cy="365760"/>
          </a:xfrm>
          <a:prstGeom prst="rect">
            <a:avLst/>
          </a:prstGeom>
          <a:noFill/>
          <a:ln/>
        </p:spPr>
        <p:txBody>
          <a:bodyPr wrap="square" lIns="0" tIns="0" rIns="0" bIns="0" rtlCol="0" anchor="t"/>
          <a:lstStyle/>
          <a:p>
            <a:pPr marL="0" indent="0">
              <a:buNone/>
            </a:pPr>
            <a:r>
              <a:rPr lang="en-US" sz="1700" b="1" dirty="0">
                <a:solidFill>
                  <a:schemeClr val="accent6"/>
                </a:solidFill>
              </a:rPr>
              <a:t>Mide</a:t>
            </a:r>
            <a:endParaRPr lang="en-US" sz="1700" dirty="0"/>
          </a:p>
        </p:txBody>
      </p:sp>
      <p:sp>
        <p:nvSpPr>
          <p:cNvPr id="24" name="Text 18"/>
          <p:cNvSpPr txBox="1"/>
          <p:nvPr/>
        </p:nvSpPr>
        <p:spPr>
          <a:xfrm>
            <a:off x="6903720" y="3794760"/>
            <a:ext cx="1965960" cy="2011680"/>
          </a:xfrm>
          <a:prstGeom prst="rect">
            <a:avLst/>
          </a:prstGeom>
          <a:noFill/>
          <a:ln/>
        </p:spPr>
        <p:txBody>
          <a:bodyPr wrap="square" lIns="0" tIns="0" rIns="0" bIns="0" rtlCol="0" anchor="t"/>
          <a:lstStyle/>
          <a:p>
            <a:pPr marL="0" indent="0">
              <a:buNone/>
            </a:pPr>
            <a:r>
              <a:rPr lang="en-US" sz="1400" dirty="0">
                <a:solidFill>
                  <a:schemeClr val="tx1"/>
                </a:solidFill>
              </a:rPr>
              <a:t>Tiempo cosiendo, paradas cortas y largas, ausencia, tiempos del mecánico</a:t>
            </a:r>
            <a:endParaRPr lang="en-US" sz="1400" dirty="0"/>
          </a:p>
        </p:txBody>
      </p:sp>
      <p:sp>
        <p:nvSpPr>
          <p:cNvPr id="25" name="nomideA"/>
          <p:cNvSpPr/>
          <p:nvPr/>
        </p:nvSpPr>
        <p:spPr>
          <a:xfrm>
            <a:off x="9262872" y="3200400"/>
            <a:ext cx="2377440" cy="2697480"/>
          </a:xfrm>
          <a:prstGeom prst="roundRect">
            <a:avLst>
              <a:gd name="adj" fmla="val 3846"/>
            </a:avLst>
          </a:prstGeom>
          <a:solidFill>
            <a:schemeClr val="bg2"/>
          </a:solidFill>
          <a:ln/>
        </p:spPr>
      </p:sp>
      <p:sp>
        <p:nvSpPr>
          <p:cNvPr id="26" name="Text 20"/>
          <p:cNvSpPr txBox="1"/>
          <p:nvPr/>
        </p:nvSpPr>
        <p:spPr>
          <a:xfrm>
            <a:off x="9491472" y="3383280"/>
            <a:ext cx="1920240" cy="365760"/>
          </a:xfrm>
          <a:prstGeom prst="rect">
            <a:avLst/>
          </a:prstGeom>
          <a:noFill/>
          <a:ln/>
        </p:spPr>
        <p:txBody>
          <a:bodyPr wrap="square" lIns="0" tIns="0" rIns="0" bIns="0" rtlCol="0" anchor="t"/>
          <a:lstStyle/>
          <a:p>
            <a:pPr marL="0" indent="0">
              <a:buNone/>
            </a:pPr>
            <a:r>
              <a:rPr lang="en-US" sz="1700" b="1" dirty="0">
                <a:solidFill>
                  <a:schemeClr val="accent4"/>
                </a:solidFill>
              </a:rPr>
              <a:t>No mide</a:t>
            </a:r>
            <a:endParaRPr lang="en-US" sz="1700" dirty="0"/>
          </a:p>
        </p:txBody>
      </p:sp>
      <p:sp>
        <p:nvSpPr>
          <p:cNvPr id="27" name="Text 21"/>
          <p:cNvSpPr txBox="1"/>
          <p:nvPr/>
        </p:nvSpPr>
        <p:spPr>
          <a:xfrm>
            <a:off x="9491472" y="3794760"/>
            <a:ext cx="1965960" cy="2011680"/>
          </a:xfrm>
          <a:prstGeom prst="rect">
            <a:avLst/>
          </a:prstGeom>
          <a:noFill/>
          <a:ln/>
        </p:spPr>
        <p:txBody>
          <a:bodyPr wrap="square" lIns="0" tIns="0" rIns="0" bIns="0" rtlCol="0" anchor="t"/>
          <a:lstStyle/>
          <a:p>
            <a:pPr marL="0" indent="0">
              <a:buNone/>
            </a:pPr>
            <a:r>
              <a:rPr lang="en-US" sz="1400" dirty="0">
                <a:solidFill>
                  <a:schemeClr val="tx1"/>
                </a:solidFill>
              </a:rPr>
              <a:t>Si en una parada larga la operaria manipula o está inactiva. La causa depende de que alguien la registre</a:t>
            </a:r>
            <a:endParaRPr lang="en-US" sz="1400" dirty="0"/>
          </a:p>
        </p:txBody>
      </p:sp>
      <p:sp>
        <p:nvSpPr>
          <p:cNvPr id="28"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F6B70"/>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1672" cy="868680"/>
          </a:xfrm>
          <a:prstGeom prst="rect">
            <a:avLst/>
          </a:prstGeom>
          <a:noFill/>
          <a:ln/>
        </p:spPr>
        <p:txBody>
          <a:bodyPr wrap="square" lIns="0" tIns="0" rIns="0" bIns="0" rtlCol="0" anchor="ctr"/>
          <a:lstStyle/>
          <a:p>
            <a:pPr marL="0" indent="0" algn="l">
              <a:buNone/>
            </a:pPr>
            <a:r>
              <a:rPr lang="en-US" sz="3200" b="1" dirty="0">
                <a:solidFill>
                  <a:schemeClr val="tx2"/>
                </a:solidFill>
              </a:rPr>
              <a:t>B · Mixta: la cámara solo actúa en paradas largas</a:t>
            </a:r>
            <a:endParaRPr lang="en-US" sz="3200" dirty="0"/>
          </a:p>
        </p:txBody>
      </p:sp>
      <p:sp>
        <p:nvSpPr>
          <p:cNvPr id="3" name="pasoB0"/>
          <p:cNvSpPr/>
          <p:nvPr/>
        </p:nvSpPr>
        <p:spPr>
          <a:xfrm>
            <a:off x="548640" y="1463040"/>
            <a:ext cx="2377440" cy="1737360"/>
          </a:xfrm>
          <a:prstGeom prst="roundRect">
            <a:avLst>
              <a:gd name="adj" fmla="val 5263"/>
            </a:avLst>
          </a:prstGeom>
          <a:solidFill>
            <a:schemeClr val="bg2"/>
          </a:solidFill>
          <a:ln/>
        </p:spPr>
      </p:sp>
      <p:sp>
        <p:nvSpPr>
          <p:cNvPr id="4" name="pasoB0-circulo"/>
          <p:cNvSpPr/>
          <p:nvPr/>
        </p:nvSpPr>
        <p:spPr>
          <a:xfrm>
            <a:off x="1417320" y="1645920"/>
            <a:ext cx="640080" cy="640080"/>
          </a:xfrm>
          <a:prstGeom prst="ellipse">
            <a:avLst/>
          </a:prstGeom>
          <a:solidFill>
            <a:schemeClr val="accent1"/>
          </a:solidFill>
          <a:ln/>
        </p:spPr>
      </p:sp>
      <p:pic>
        <p:nvPicPr>
          <p:cNvPr id="5" name="pasoB0-icono" descr="preencoded.png"/>
          <p:cNvPicPr>
            <a:picLocks noChangeAspect="1"/>
          </p:cNvPicPr>
          <p:nvPr/>
        </p:nvPicPr>
        <p:blipFill>
          <a:blip r:embed="rId3"/>
          <a:stretch>
            <a:fillRect/>
          </a:stretch>
        </p:blipFill>
        <p:spPr>
          <a:xfrm>
            <a:off x="1596542" y="1825142"/>
            <a:ext cx="281635" cy="281635"/>
          </a:xfrm>
          <a:prstGeom prst="rect">
            <a:avLst/>
          </a:prstGeom>
        </p:spPr>
      </p:pic>
      <p:sp>
        <p:nvSpPr>
          <p:cNvPr id="6" name="Text 3"/>
          <p:cNvSpPr txBox="1"/>
          <p:nvPr/>
        </p:nvSpPr>
        <p:spPr>
          <a:xfrm>
            <a:off x="731520" y="2423160"/>
            <a:ext cx="2011680" cy="685800"/>
          </a:xfrm>
          <a:prstGeom prst="rect">
            <a:avLst/>
          </a:prstGeom>
          <a:noFill/>
          <a:ln/>
        </p:spPr>
        <p:txBody>
          <a:bodyPr wrap="square" lIns="0" tIns="0" rIns="0" bIns="0" rtlCol="0" anchor="t"/>
          <a:lstStyle/>
          <a:p>
            <a:pPr marL="0" indent="0" algn="ctr">
              <a:buNone/>
            </a:pPr>
            <a:r>
              <a:rPr lang="en-US" sz="1500" b="1" dirty="0">
                <a:solidFill>
                  <a:schemeClr val="tx2"/>
                </a:solidFill>
              </a:rPr>
              <a:t>La máquina para más de 90 s</a:t>
            </a:r>
            <a:endParaRPr lang="en-US" sz="1500" dirty="0"/>
          </a:p>
        </p:txBody>
      </p:sp>
      <p:sp>
        <p:nvSpPr>
          <p:cNvPr id="7" name="Shape 4"/>
          <p:cNvSpPr/>
          <p:nvPr/>
        </p:nvSpPr>
        <p:spPr>
          <a:xfrm>
            <a:off x="2999232" y="2331720"/>
            <a:ext cx="381000" cy="0"/>
          </a:xfrm>
          <a:prstGeom prst="line">
            <a:avLst/>
          </a:prstGeom>
          <a:noFill/>
          <a:ln w="22225">
            <a:solidFill>
              <a:srgbClr val="5F6B70"/>
            </a:solidFill>
            <a:prstDash val="solid"/>
            <a:tailEnd type="triangle"/>
          </a:ln>
        </p:spPr>
      </p:sp>
      <p:sp>
        <p:nvSpPr>
          <p:cNvPr id="8" name="pasoB1"/>
          <p:cNvSpPr/>
          <p:nvPr/>
        </p:nvSpPr>
        <p:spPr>
          <a:xfrm>
            <a:off x="3453384" y="1463040"/>
            <a:ext cx="2377440" cy="1737360"/>
          </a:xfrm>
          <a:prstGeom prst="roundRect">
            <a:avLst>
              <a:gd name="adj" fmla="val 5263"/>
            </a:avLst>
          </a:prstGeom>
          <a:solidFill>
            <a:schemeClr val="bg2"/>
          </a:solidFill>
          <a:ln/>
        </p:spPr>
      </p:sp>
      <p:sp>
        <p:nvSpPr>
          <p:cNvPr id="9" name="pasoB1-circulo"/>
          <p:cNvSpPr/>
          <p:nvPr/>
        </p:nvSpPr>
        <p:spPr>
          <a:xfrm>
            <a:off x="4322064" y="1645920"/>
            <a:ext cx="640080" cy="640080"/>
          </a:xfrm>
          <a:prstGeom prst="ellipse">
            <a:avLst/>
          </a:prstGeom>
          <a:solidFill>
            <a:schemeClr val="accent1"/>
          </a:solidFill>
          <a:ln/>
        </p:spPr>
      </p:sp>
      <p:pic>
        <p:nvPicPr>
          <p:cNvPr id="10" name="pasoB1-icono" descr="preencoded.png"/>
          <p:cNvPicPr>
            <a:picLocks noChangeAspect="1"/>
          </p:cNvPicPr>
          <p:nvPr/>
        </p:nvPicPr>
        <p:blipFill>
          <a:blip r:embed="rId4"/>
          <a:stretch>
            <a:fillRect/>
          </a:stretch>
        </p:blipFill>
        <p:spPr>
          <a:xfrm>
            <a:off x="4501286" y="1825142"/>
            <a:ext cx="281635" cy="281635"/>
          </a:xfrm>
          <a:prstGeom prst="rect">
            <a:avLst/>
          </a:prstGeom>
        </p:spPr>
      </p:pic>
      <p:sp>
        <p:nvSpPr>
          <p:cNvPr id="11" name="Text 7"/>
          <p:cNvSpPr txBox="1"/>
          <p:nvPr/>
        </p:nvSpPr>
        <p:spPr>
          <a:xfrm>
            <a:off x="3636264" y="2423160"/>
            <a:ext cx="2011680" cy="685800"/>
          </a:xfrm>
          <a:prstGeom prst="rect">
            <a:avLst/>
          </a:prstGeom>
          <a:noFill/>
          <a:ln/>
        </p:spPr>
        <p:txBody>
          <a:bodyPr wrap="square" lIns="0" tIns="0" rIns="0" bIns="0" rtlCol="0" anchor="t"/>
          <a:lstStyle/>
          <a:p>
            <a:pPr marL="0" indent="0" algn="ctr">
              <a:buNone/>
            </a:pPr>
            <a:r>
              <a:rPr lang="en-US" sz="1500" b="1" dirty="0">
                <a:solidFill>
                  <a:schemeClr val="tx2"/>
                </a:solidFill>
              </a:rPr>
              <a:t>Nadie registró la causa</a:t>
            </a:r>
            <a:endParaRPr lang="en-US" sz="1500" dirty="0"/>
          </a:p>
        </p:txBody>
      </p:sp>
      <p:sp>
        <p:nvSpPr>
          <p:cNvPr id="12" name="Shape 8"/>
          <p:cNvSpPr/>
          <p:nvPr/>
        </p:nvSpPr>
        <p:spPr>
          <a:xfrm>
            <a:off x="5903976" y="2331720"/>
            <a:ext cx="381000" cy="0"/>
          </a:xfrm>
          <a:prstGeom prst="line">
            <a:avLst/>
          </a:prstGeom>
          <a:noFill/>
          <a:ln w="22225">
            <a:solidFill>
              <a:srgbClr val="5F6B70"/>
            </a:solidFill>
            <a:prstDash val="solid"/>
            <a:tailEnd type="triangle"/>
          </a:ln>
        </p:spPr>
      </p:sp>
      <p:sp>
        <p:nvSpPr>
          <p:cNvPr id="13" name="pasoB2"/>
          <p:cNvSpPr/>
          <p:nvPr/>
        </p:nvSpPr>
        <p:spPr>
          <a:xfrm>
            <a:off x="6358128" y="1463040"/>
            <a:ext cx="2377440" cy="1737360"/>
          </a:xfrm>
          <a:prstGeom prst="roundRect">
            <a:avLst>
              <a:gd name="adj" fmla="val 5263"/>
            </a:avLst>
          </a:prstGeom>
          <a:solidFill>
            <a:schemeClr val="accent2"/>
          </a:solidFill>
          <a:ln/>
        </p:spPr>
      </p:sp>
      <p:sp>
        <p:nvSpPr>
          <p:cNvPr id="14" name="pasoB2-circulo"/>
          <p:cNvSpPr/>
          <p:nvPr/>
        </p:nvSpPr>
        <p:spPr>
          <a:xfrm>
            <a:off x="7226808" y="1645920"/>
            <a:ext cx="640080" cy="640080"/>
          </a:xfrm>
          <a:prstGeom prst="ellipse">
            <a:avLst/>
          </a:prstGeom>
          <a:solidFill>
            <a:schemeClr val="tx2"/>
          </a:solidFill>
          <a:ln/>
        </p:spPr>
      </p:sp>
      <p:pic>
        <p:nvPicPr>
          <p:cNvPr id="15" name="pasoB2-icono" descr="preencoded.png"/>
          <p:cNvPicPr>
            <a:picLocks noChangeAspect="1"/>
          </p:cNvPicPr>
          <p:nvPr/>
        </p:nvPicPr>
        <p:blipFill>
          <a:blip r:embed="rId5"/>
          <a:stretch>
            <a:fillRect/>
          </a:stretch>
        </p:blipFill>
        <p:spPr>
          <a:xfrm>
            <a:off x="7406030" y="1825142"/>
            <a:ext cx="281635" cy="281635"/>
          </a:xfrm>
          <a:prstGeom prst="rect">
            <a:avLst/>
          </a:prstGeom>
        </p:spPr>
      </p:pic>
      <p:sp>
        <p:nvSpPr>
          <p:cNvPr id="16" name="Text 11"/>
          <p:cNvSpPr txBox="1"/>
          <p:nvPr/>
        </p:nvSpPr>
        <p:spPr>
          <a:xfrm>
            <a:off x="6541008" y="2423160"/>
            <a:ext cx="2011680" cy="685800"/>
          </a:xfrm>
          <a:prstGeom prst="rect">
            <a:avLst/>
          </a:prstGeom>
          <a:noFill/>
          <a:ln/>
        </p:spPr>
        <p:txBody>
          <a:bodyPr wrap="square" lIns="0" tIns="0" rIns="0" bIns="0" rtlCol="0" anchor="t"/>
          <a:lstStyle/>
          <a:p>
            <a:pPr marL="0" indent="0" algn="ctr">
              <a:buNone/>
            </a:pPr>
            <a:r>
              <a:rPr lang="en-US" sz="1500" b="1" dirty="0">
                <a:solidFill>
                  <a:schemeClr val="bg1"/>
                </a:solidFill>
              </a:rPr>
              <a:t>El nodo toma una foto cada 5–10 s</a:t>
            </a:r>
            <a:endParaRPr lang="en-US" sz="1500" dirty="0"/>
          </a:p>
        </p:txBody>
      </p:sp>
      <p:sp>
        <p:nvSpPr>
          <p:cNvPr id="17" name="Shape 12"/>
          <p:cNvSpPr/>
          <p:nvPr/>
        </p:nvSpPr>
        <p:spPr>
          <a:xfrm>
            <a:off x="8808720" y="2331720"/>
            <a:ext cx="381000" cy="0"/>
          </a:xfrm>
          <a:prstGeom prst="line">
            <a:avLst/>
          </a:prstGeom>
          <a:noFill/>
          <a:ln w="22225">
            <a:solidFill>
              <a:srgbClr val="5F6B70"/>
            </a:solidFill>
            <a:prstDash val="solid"/>
            <a:tailEnd type="triangle"/>
          </a:ln>
        </p:spPr>
      </p:sp>
      <p:sp>
        <p:nvSpPr>
          <p:cNvPr id="18" name="pasoB3"/>
          <p:cNvSpPr/>
          <p:nvPr/>
        </p:nvSpPr>
        <p:spPr>
          <a:xfrm>
            <a:off x="9262872" y="1463040"/>
            <a:ext cx="2377440" cy="1737360"/>
          </a:xfrm>
          <a:prstGeom prst="roundRect">
            <a:avLst>
              <a:gd name="adj" fmla="val 5263"/>
            </a:avLst>
          </a:prstGeom>
          <a:solidFill>
            <a:schemeClr val="bg2"/>
          </a:solidFill>
          <a:ln/>
        </p:spPr>
      </p:sp>
      <p:sp>
        <p:nvSpPr>
          <p:cNvPr id="19" name="pasoB3-circulo"/>
          <p:cNvSpPr/>
          <p:nvPr/>
        </p:nvSpPr>
        <p:spPr>
          <a:xfrm>
            <a:off x="10131552" y="1645920"/>
            <a:ext cx="640080" cy="640080"/>
          </a:xfrm>
          <a:prstGeom prst="ellipse">
            <a:avLst/>
          </a:prstGeom>
          <a:solidFill>
            <a:schemeClr val="accent1"/>
          </a:solidFill>
          <a:ln/>
        </p:spPr>
      </p:sp>
      <p:pic>
        <p:nvPicPr>
          <p:cNvPr id="20" name="pasoB3-icono" descr="preencoded.png"/>
          <p:cNvPicPr>
            <a:picLocks noChangeAspect="1"/>
          </p:cNvPicPr>
          <p:nvPr/>
        </p:nvPicPr>
        <p:blipFill>
          <a:blip r:embed="rId6"/>
          <a:stretch>
            <a:fillRect/>
          </a:stretch>
        </p:blipFill>
        <p:spPr>
          <a:xfrm>
            <a:off x="10310774" y="1825142"/>
            <a:ext cx="281635" cy="281635"/>
          </a:xfrm>
          <a:prstGeom prst="rect">
            <a:avLst/>
          </a:prstGeom>
        </p:spPr>
      </p:pic>
      <p:sp>
        <p:nvSpPr>
          <p:cNvPr id="21" name="Text 15"/>
          <p:cNvSpPr txBox="1"/>
          <p:nvPr/>
        </p:nvSpPr>
        <p:spPr>
          <a:xfrm>
            <a:off x="9445752" y="2423160"/>
            <a:ext cx="2011680" cy="685800"/>
          </a:xfrm>
          <a:prstGeom prst="rect">
            <a:avLst/>
          </a:prstGeom>
          <a:noFill/>
          <a:ln/>
        </p:spPr>
        <p:txBody>
          <a:bodyPr wrap="square" lIns="0" tIns="0" rIns="0" bIns="0" rtlCol="0" anchor="t"/>
          <a:lstStyle/>
          <a:p>
            <a:pPr marL="0" indent="0" algn="ctr">
              <a:buNone/>
            </a:pPr>
            <a:r>
              <a:rPr lang="en-US" sz="1500" b="1" dirty="0">
                <a:solidFill>
                  <a:schemeClr val="tx2"/>
                </a:solidFill>
              </a:rPr>
              <a:t>El servidor clasifica la parada</a:t>
            </a:r>
            <a:endParaRPr lang="en-US" sz="1500" dirty="0"/>
          </a:p>
        </p:txBody>
      </p:sp>
      <p:sp>
        <p:nvSpPr>
          <p:cNvPr id="22" name="Text 16"/>
          <p:cNvSpPr txBox="1"/>
          <p:nvPr/>
        </p:nvSpPr>
        <p:spPr>
          <a:xfrm>
            <a:off x="548640" y="3520440"/>
            <a:ext cx="5943600" cy="365760"/>
          </a:xfrm>
          <a:prstGeom prst="rect">
            <a:avLst/>
          </a:prstGeom>
          <a:noFill/>
          <a:ln/>
        </p:spPr>
        <p:txBody>
          <a:bodyPr wrap="square" lIns="0" tIns="0" rIns="0" bIns="0" rtlCol="0" anchor="t"/>
          <a:lstStyle/>
          <a:p>
            <a:pPr marL="0" indent="0">
              <a:buNone/>
            </a:pPr>
            <a:r>
              <a:rPr lang="en-US" sz="1700" b="1" dirty="0">
                <a:solidFill>
                  <a:schemeClr val="tx2"/>
                </a:solidFill>
              </a:rPr>
              <a:t>Qué decide la foto</a:t>
            </a:r>
            <a:endParaRPr lang="en-US" sz="1700" dirty="0"/>
          </a:p>
        </p:txBody>
      </p:sp>
      <p:sp>
        <p:nvSpPr>
          <p:cNvPr id="23" name="resB0"/>
          <p:cNvSpPr/>
          <p:nvPr/>
        </p:nvSpPr>
        <p:spPr>
          <a:xfrm>
            <a:off x="548640" y="4023360"/>
            <a:ext cx="2880360" cy="777240"/>
          </a:xfrm>
          <a:prstGeom prst="roundRect">
            <a:avLst>
              <a:gd name="adj" fmla="val 11765"/>
            </a:avLst>
          </a:prstGeom>
          <a:solidFill>
            <a:schemeClr val="bg2"/>
          </a:solidFill>
          <a:ln/>
        </p:spPr>
      </p:sp>
      <p:sp>
        <p:nvSpPr>
          <p:cNvPr id="24" name="Shape 18"/>
          <p:cNvSpPr/>
          <p:nvPr/>
        </p:nvSpPr>
        <p:spPr>
          <a:xfrm>
            <a:off x="731520" y="4297680"/>
            <a:ext cx="228600" cy="228600"/>
          </a:xfrm>
          <a:prstGeom prst="ellipse">
            <a:avLst/>
          </a:prstGeom>
          <a:solidFill>
            <a:schemeClr val="accent6"/>
          </a:solidFill>
          <a:ln/>
        </p:spPr>
      </p:sp>
      <p:sp>
        <p:nvSpPr>
          <p:cNvPr id="25" name="Text 19"/>
          <p:cNvSpPr txBox="1"/>
          <p:nvPr/>
        </p:nvSpPr>
        <p:spPr>
          <a:xfrm>
            <a:off x="1097280" y="4114800"/>
            <a:ext cx="2240280" cy="320040"/>
          </a:xfrm>
          <a:prstGeom prst="rect">
            <a:avLst/>
          </a:prstGeom>
          <a:noFill/>
          <a:ln/>
        </p:spPr>
        <p:txBody>
          <a:bodyPr wrap="square" lIns="0" tIns="0" rIns="0" bIns="0" rtlCol="0" anchor="t"/>
          <a:lstStyle/>
          <a:p>
            <a:pPr marL="0" indent="0">
              <a:buNone/>
            </a:pPr>
            <a:r>
              <a:rPr lang="en-US" sz="1500" b="1" dirty="0">
                <a:solidFill>
                  <a:schemeClr val="tx2"/>
                </a:solidFill>
              </a:rPr>
              <a:t>Manipulación larga</a:t>
            </a:r>
            <a:endParaRPr lang="en-US" sz="1500" dirty="0"/>
          </a:p>
        </p:txBody>
      </p:sp>
      <p:sp>
        <p:nvSpPr>
          <p:cNvPr id="26" name="Text 20"/>
          <p:cNvSpPr txBox="1"/>
          <p:nvPr/>
        </p:nvSpPr>
        <p:spPr>
          <a:xfrm>
            <a:off x="1097280" y="4434840"/>
            <a:ext cx="2240280" cy="320040"/>
          </a:xfrm>
          <a:prstGeom prst="rect">
            <a:avLst/>
          </a:prstGeom>
          <a:noFill/>
          <a:ln/>
        </p:spPr>
        <p:txBody>
          <a:bodyPr wrap="square" lIns="0" tIns="0" rIns="0" bIns="0" rtlCol="0" anchor="t"/>
          <a:lstStyle/>
          <a:p>
            <a:pPr marL="0" indent="0">
              <a:buNone/>
            </a:pPr>
            <a:r>
              <a:rPr lang="en-US" sz="1300" dirty="0">
                <a:solidFill>
                  <a:schemeClr val="accent5"/>
                </a:solidFill>
              </a:rPr>
              <a:t>No se descuenta</a:t>
            </a:r>
            <a:endParaRPr lang="en-US" sz="1300" dirty="0"/>
          </a:p>
        </p:txBody>
      </p:sp>
      <p:sp>
        <p:nvSpPr>
          <p:cNvPr id="27" name="resB1"/>
          <p:cNvSpPr/>
          <p:nvPr/>
        </p:nvSpPr>
        <p:spPr>
          <a:xfrm>
            <a:off x="3611880" y="4023360"/>
            <a:ext cx="2880360" cy="777240"/>
          </a:xfrm>
          <a:prstGeom prst="roundRect">
            <a:avLst>
              <a:gd name="adj" fmla="val 11765"/>
            </a:avLst>
          </a:prstGeom>
          <a:solidFill>
            <a:schemeClr val="bg2"/>
          </a:solidFill>
          <a:ln/>
        </p:spPr>
      </p:sp>
      <p:sp>
        <p:nvSpPr>
          <p:cNvPr id="28" name="Shape 22"/>
          <p:cNvSpPr/>
          <p:nvPr/>
        </p:nvSpPr>
        <p:spPr>
          <a:xfrm>
            <a:off x="3794760" y="4297680"/>
            <a:ext cx="228600" cy="228600"/>
          </a:xfrm>
          <a:prstGeom prst="ellipse">
            <a:avLst/>
          </a:prstGeom>
          <a:solidFill>
            <a:schemeClr val="accent6"/>
          </a:solidFill>
          <a:ln/>
        </p:spPr>
      </p:sp>
      <p:sp>
        <p:nvSpPr>
          <p:cNvPr id="29" name="Text 23"/>
          <p:cNvSpPr txBox="1"/>
          <p:nvPr/>
        </p:nvSpPr>
        <p:spPr>
          <a:xfrm>
            <a:off x="4160520" y="4114800"/>
            <a:ext cx="2240280" cy="320040"/>
          </a:xfrm>
          <a:prstGeom prst="rect">
            <a:avLst/>
          </a:prstGeom>
          <a:noFill/>
          <a:ln/>
        </p:spPr>
        <p:txBody>
          <a:bodyPr wrap="square" lIns="0" tIns="0" rIns="0" bIns="0" rtlCol="0" anchor="t"/>
          <a:lstStyle/>
          <a:p>
            <a:pPr marL="0" indent="0">
              <a:buNone/>
            </a:pPr>
            <a:r>
              <a:rPr lang="en-US" sz="1500" b="1" dirty="0">
                <a:solidFill>
                  <a:schemeClr val="tx2"/>
                </a:solidFill>
              </a:rPr>
              <a:t>Espera de material</a:t>
            </a:r>
            <a:endParaRPr lang="en-US" sz="1500" dirty="0"/>
          </a:p>
        </p:txBody>
      </p:sp>
      <p:sp>
        <p:nvSpPr>
          <p:cNvPr id="30" name="Text 24"/>
          <p:cNvSpPr txBox="1"/>
          <p:nvPr/>
        </p:nvSpPr>
        <p:spPr>
          <a:xfrm>
            <a:off x="4160520" y="4434840"/>
            <a:ext cx="2240280" cy="320040"/>
          </a:xfrm>
          <a:prstGeom prst="rect">
            <a:avLst/>
          </a:prstGeom>
          <a:noFill/>
          <a:ln/>
        </p:spPr>
        <p:txBody>
          <a:bodyPr wrap="square" lIns="0" tIns="0" rIns="0" bIns="0" rtlCol="0" anchor="t"/>
          <a:lstStyle/>
          <a:p>
            <a:pPr marL="0" indent="0">
              <a:buNone/>
            </a:pPr>
            <a:r>
              <a:rPr lang="en-US" sz="1300" dirty="0">
                <a:solidFill>
                  <a:schemeClr val="accent5"/>
                </a:solidFill>
              </a:rPr>
              <a:t>Se compensa</a:t>
            </a:r>
            <a:endParaRPr lang="en-US" sz="1300" dirty="0"/>
          </a:p>
        </p:txBody>
      </p:sp>
      <p:sp>
        <p:nvSpPr>
          <p:cNvPr id="31" name="resB2"/>
          <p:cNvSpPr/>
          <p:nvPr/>
        </p:nvSpPr>
        <p:spPr>
          <a:xfrm>
            <a:off x="548640" y="4937760"/>
            <a:ext cx="2880360" cy="777240"/>
          </a:xfrm>
          <a:prstGeom prst="roundRect">
            <a:avLst>
              <a:gd name="adj" fmla="val 11765"/>
            </a:avLst>
          </a:prstGeom>
          <a:solidFill>
            <a:schemeClr val="bg2"/>
          </a:solidFill>
          <a:ln/>
        </p:spPr>
      </p:sp>
      <p:sp>
        <p:nvSpPr>
          <p:cNvPr id="32" name="Shape 26"/>
          <p:cNvSpPr/>
          <p:nvPr/>
        </p:nvSpPr>
        <p:spPr>
          <a:xfrm>
            <a:off x="731520" y="5212080"/>
            <a:ext cx="228600" cy="228600"/>
          </a:xfrm>
          <a:prstGeom prst="ellipse">
            <a:avLst/>
          </a:prstGeom>
          <a:solidFill>
            <a:schemeClr val="accent4"/>
          </a:solidFill>
          <a:ln/>
        </p:spPr>
      </p:sp>
      <p:sp>
        <p:nvSpPr>
          <p:cNvPr id="33" name="Text 27"/>
          <p:cNvSpPr txBox="1"/>
          <p:nvPr/>
        </p:nvSpPr>
        <p:spPr>
          <a:xfrm>
            <a:off x="1097280" y="5029200"/>
            <a:ext cx="2240280" cy="320040"/>
          </a:xfrm>
          <a:prstGeom prst="rect">
            <a:avLst/>
          </a:prstGeom>
          <a:noFill/>
          <a:ln/>
        </p:spPr>
        <p:txBody>
          <a:bodyPr wrap="square" lIns="0" tIns="0" rIns="0" bIns="0" rtlCol="0" anchor="t"/>
          <a:lstStyle/>
          <a:p>
            <a:pPr marL="0" indent="0">
              <a:buNone/>
            </a:pPr>
            <a:r>
              <a:rPr lang="en-US" sz="1500" b="1" dirty="0">
                <a:solidFill>
                  <a:schemeClr val="tx2"/>
                </a:solidFill>
              </a:rPr>
              <a:t>Inactiva</a:t>
            </a:r>
            <a:endParaRPr lang="en-US" sz="1500" dirty="0"/>
          </a:p>
        </p:txBody>
      </p:sp>
      <p:sp>
        <p:nvSpPr>
          <p:cNvPr id="34" name="Text 28"/>
          <p:cNvSpPr txBox="1"/>
          <p:nvPr/>
        </p:nvSpPr>
        <p:spPr>
          <a:xfrm>
            <a:off x="1097280" y="5349240"/>
            <a:ext cx="2240280" cy="320040"/>
          </a:xfrm>
          <a:prstGeom prst="rect">
            <a:avLst/>
          </a:prstGeom>
          <a:noFill/>
          <a:ln/>
        </p:spPr>
        <p:txBody>
          <a:bodyPr wrap="square" lIns="0" tIns="0" rIns="0" bIns="0" rtlCol="0" anchor="t"/>
          <a:lstStyle/>
          <a:p>
            <a:pPr marL="0" indent="0">
              <a:buNone/>
            </a:pPr>
            <a:r>
              <a:rPr lang="en-US" sz="1300" dirty="0">
                <a:solidFill>
                  <a:schemeClr val="accent5"/>
                </a:solidFill>
              </a:rPr>
              <a:t>Cuenta contra ella</a:t>
            </a:r>
            <a:endParaRPr lang="en-US" sz="1300" dirty="0"/>
          </a:p>
        </p:txBody>
      </p:sp>
      <p:sp>
        <p:nvSpPr>
          <p:cNvPr id="35" name="resB3"/>
          <p:cNvSpPr/>
          <p:nvPr/>
        </p:nvSpPr>
        <p:spPr>
          <a:xfrm>
            <a:off x="3611880" y="4937760"/>
            <a:ext cx="2880360" cy="777240"/>
          </a:xfrm>
          <a:prstGeom prst="roundRect">
            <a:avLst>
              <a:gd name="adj" fmla="val 11765"/>
            </a:avLst>
          </a:prstGeom>
          <a:solidFill>
            <a:schemeClr val="bg2"/>
          </a:solidFill>
          <a:ln/>
        </p:spPr>
      </p:sp>
      <p:sp>
        <p:nvSpPr>
          <p:cNvPr id="36" name="Shape 30"/>
          <p:cNvSpPr/>
          <p:nvPr/>
        </p:nvSpPr>
        <p:spPr>
          <a:xfrm>
            <a:off x="3794760" y="5212080"/>
            <a:ext cx="228600" cy="228600"/>
          </a:xfrm>
          <a:prstGeom prst="ellipse">
            <a:avLst/>
          </a:prstGeom>
          <a:solidFill>
            <a:schemeClr val="accent2"/>
          </a:solidFill>
          <a:ln/>
        </p:spPr>
      </p:sp>
      <p:sp>
        <p:nvSpPr>
          <p:cNvPr id="37" name="Text 31"/>
          <p:cNvSpPr txBox="1"/>
          <p:nvPr/>
        </p:nvSpPr>
        <p:spPr>
          <a:xfrm>
            <a:off x="4160520" y="5029200"/>
            <a:ext cx="2240280" cy="320040"/>
          </a:xfrm>
          <a:prstGeom prst="rect">
            <a:avLst/>
          </a:prstGeom>
          <a:noFill/>
          <a:ln/>
        </p:spPr>
        <p:txBody>
          <a:bodyPr wrap="square" lIns="0" tIns="0" rIns="0" bIns="0" rtlCol="0" anchor="t"/>
          <a:lstStyle/>
          <a:p>
            <a:pPr marL="0" indent="0">
              <a:buNone/>
            </a:pPr>
            <a:r>
              <a:rPr lang="en-US" sz="1500" b="1" dirty="0">
                <a:solidFill>
                  <a:schemeClr val="tx2"/>
                </a:solidFill>
              </a:rPr>
              <a:t>Ausente</a:t>
            </a:r>
            <a:endParaRPr lang="en-US" sz="1500" dirty="0"/>
          </a:p>
        </p:txBody>
      </p:sp>
      <p:sp>
        <p:nvSpPr>
          <p:cNvPr id="38" name="Text 32"/>
          <p:cNvSpPr txBox="1"/>
          <p:nvPr/>
        </p:nvSpPr>
        <p:spPr>
          <a:xfrm>
            <a:off x="4160520" y="5349240"/>
            <a:ext cx="2240280" cy="320040"/>
          </a:xfrm>
          <a:prstGeom prst="rect">
            <a:avLst/>
          </a:prstGeom>
          <a:noFill/>
          <a:ln/>
        </p:spPr>
        <p:txBody>
          <a:bodyPr wrap="square" lIns="0" tIns="0" rIns="0" bIns="0" rtlCol="0" anchor="t"/>
          <a:lstStyle/>
          <a:p>
            <a:pPr marL="0" indent="0">
              <a:buNone/>
            </a:pPr>
            <a:r>
              <a:rPr lang="en-US" sz="1300" dirty="0">
                <a:solidFill>
                  <a:schemeClr val="accent5"/>
                </a:solidFill>
              </a:rPr>
              <a:t>Según la política</a:t>
            </a:r>
            <a:endParaRPr lang="en-US" sz="1300" dirty="0"/>
          </a:p>
        </p:txBody>
      </p:sp>
      <p:sp>
        <p:nvSpPr>
          <p:cNvPr id="39" name="statB"/>
          <p:cNvSpPr/>
          <p:nvPr/>
        </p:nvSpPr>
        <p:spPr>
          <a:xfrm>
            <a:off x="6675120" y="3520440"/>
            <a:ext cx="4965192" cy="2194560"/>
          </a:xfrm>
          <a:prstGeom prst="roundRect">
            <a:avLst>
              <a:gd name="adj" fmla="val 4167"/>
            </a:avLst>
          </a:prstGeom>
          <a:solidFill>
            <a:schemeClr val="tx2"/>
          </a:solidFill>
          <a:ln/>
        </p:spPr>
      </p:sp>
      <p:sp>
        <p:nvSpPr>
          <p:cNvPr id="40" name="Text 34"/>
          <p:cNvSpPr txBox="1"/>
          <p:nvPr/>
        </p:nvSpPr>
        <p:spPr>
          <a:xfrm>
            <a:off x="6949440" y="3703320"/>
            <a:ext cx="4480560" cy="685800"/>
          </a:xfrm>
          <a:prstGeom prst="rect">
            <a:avLst/>
          </a:prstGeom>
          <a:noFill/>
          <a:ln/>
        </p:spPr>
        <p:txBody>
          <a:bodyPr wrap="square" lIns="0" tIns="0" rIns="0" bIns="0" rtlCol="0" anchor="t"/>
          <a:lstStyle/>
          <a:p>
            <a:pPr marL="0" indent="0">
              <a:buNone/>
            </a:pPr>
            <a:r>
              <a:rPr lang="en-US" sz="3600" b="1" dirty="0">
                <a:solidFill>
                  <a:schemeClr val="bg1"/>
                </a:solidFill>
              </a:rPr>
              <a:t>USD 2,800–3,800</a:t>
            </a:r>
            <a:endParaRPr lang="en-US" sz="3600" dirty="0"/>
          </a:p>
        </p:txBody>
      </p:sp>
      <p:sp>
        <p:nvSpPr>
          <p:cNvPr id="41" name="Text 35"/>
          <p:cNvSpPr txBox="1"/>
          <p:nvPr/>
        </p:nvSpPr>
        <p:spPr>
          <a:xfrm>
            <a:off x="6949440" y="4434840"/>
            <a:ext cx="4480560" cy="365760"/>
          </a:xfrm>
          <a:prstGeom prst="rect">
            <a:avLst/>
          </a:prstGeom>
          <a:noFill/>
          <a:ln/>
        </p:spPr>
        <p:txBody>
          <a:bodyPr wrap="square" lIns="0" tIns="0" rIns="0" bIns="0" rtlCol="0" anchor="t"/>
          <a:lstStyle/>
          <a:p>
            <a:pPr marL="0" indent="0">
              <a:buNone/>
            </a:pPr>
            <a:r>
              <a:rPr lang="en-US" sz="1400" dirty="0">
                <a:solidFill>
                  <a:schemeClr val="accent3"/>
                </a:solidFill>
              </a:rPr>
              <a:t>por línea de 25 · USD 55–80 por máquina</a:t>
            </a:r>
            <a:endParaRPr lang="en-US" sz="1400" dirty="0"/>
          </a:p>
        </p:txBody>
      </p:sp>
      <p:sp>
        <p:nvSpPr>
          <p:cNvPr id="42" name="Text 36"/>
          <p:cNvSpPr txBox="1"/>
          <p:nvPr/>
        </p:nvSpPr>
        <p:spPr>
          <a:xfrm>
            <a:off x="6949440" y="4846320"/>
            <a:ext cx="4480560" cy="731520"/>
          </a:xfrm>
          <a:prstGeom prst="rect">
            <a:avLst/>
          </a:prstGeom>
          <a:noFill/>
          <a:ln/>
        </p:spPr>
        <p:txBody>
          <a:bodyPr wrap="square" lIns="0" tIns="0" rIns="0" bIns="0" rtlCol="0" anchor="t"/>
          <a:lstStyle/>
          <a:p>
            <a:pPr marL="0" indent="0">
              <a:buNone/>
            </a:pPr>
            <a:r>
              <a:rPr lang="en-US" sz="1300" dirty="0">
                <a:solidFill>
                  <a:schemeClr val="bg1"/>
                </a:solidFill>
              </a:rPr>
              <a:t>Kit: Waveshare ESP32-S3-POE-ETH-M-CAM-KIT (placa + cámara OV5640 + PoE), switch PoE y PC servidor</a:t>
            </a:r>
            <a:endParaRPr lang="en-US" sz="1300" dirty="0"/>
          </a:p>
        </p:txBody>
      </p:sp>
      <p:sp>
        <p:nvSpPr>
          <p:cNvPr id="43"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F6B70"/>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1672" cy="868680"/>
          </a:xfrm>
          <a:prstGeom prst="rect">
            <a:avLst/>
          </a:prstGeom>
          <a:noFill/>
          <a:ln/>
        </p:spPr>
        <p:txBody>
          <a:bodyPr wrap="square" lIns="0" tIns="0" rIns="0" bIns="0" rtlCol="0" anchor="ctr"/>
          <a:lstStyle/>
          <a:p>
            <a:pPr marL="0" indent="0" algn="l">
              <a:buNone/>
            </a:pPr>
            <a:r>
              <a:rPr lang="en-US" sz="3200" b="1" dirty="0">
                <a:solidFill>
                  <a:schemeClr val="tx2"/>
                </a:solidFill>
              </a:rPr>
              <a:t>C · Cámara cenital: ¿trabaja o no?</a:t>
            </a:r>
            <a:endParaRPr lang="en-US" sz="3200" dirty="0"/>
          </a:p>
        </p:txBody>
      </p:sp>
      <p:sp>
        <p:nvSpPr>
          <p:cNvPr id="3" name="pipeC0"/>
          <p:cNvSpPr/>
          <p:nvPr/>
        </p:nvSpPr>
        <p:spPr>
          <a:xfrm>
            <a:off x="548640" y="1417320"/>
            <a:ext cx="5760720" cy="960120"/>
          </a:xfrm>
          <a:prstGeom prst="roundRect">
            <a:avLst>
              <a:gd name="adj" fmla="val 9524"/>
            </a:avLst>
          </a:prstGeom>
          <a:solidFill>
            <a:schemeClr val="bg2"/>
          </a:solidFill>
          <a:ln/>
        </p:spPr>
      </p:sp>
      <p:sp>
        <p:nvSpPr>
          <p:cNvPr id="4" name="pipeC0-circulo"/>
          <p:cNvSpPr/>
          <p:nvPr/>
        </p:nvSpPr>
        <p:spPr>
          <a:xfrm>
            <a:off x="777240" y="1572768"/>
            <a:ext cx="640080" cy="640080"/>
          </a:xfrm>
          <a:prstGeom prst="ellipse">
            <a:avLst/>
          </a:prstGeom>
          <a:solidFill>
            <a:schemeClr val="accent1"/>
          </a:solidFill>
          <a:ln/>
        </p:spPr>
      </p:sp>
      <p:pic>
        <p:nvPicPr>
          <p:cNvPr id="5" name="pipeC0-icono" descr="preencoded.png"/>
          <p:cNvPicPr>
            <a:picLocks noChangeAspect="1"/>
          </p:cNvPicPr>
          <p:nvPr/>
        </p:nvPicPr>
        <p:blipFill>
          <a:blip r:embed="rId3"/>
          <a:stretch>
            <a:fillRect/>
          </a:stretch>
        </p:blipFill>
        <p:spPr>
          <a:xfrm>
            <a:off x="956462" y="1751990"/>
            <a:ext cx="281635" cy="281635"/>
          </a:xfrm>
          <a:prstGeom prst="rect">
            <a:avLst/>
          </a:prstGeom>
        </p:spPr>
      </p:pic>
      <p:sp>
        <p:nvSpPr>
          <p:cNvPr id="6" name="Text 3"/>
          <p:cNvSpPr txBox="1"/>
          <p:nvPr/>
        </p:nvSpPr>
        <p:spPr>
          <a:xfrm>
            <a:off x="1645920" y="1508760"/>
            <a:ext cx="4480560" cy="365760"/>
          </a:xfrm>
          <a:prstGeom prst="rect">
            <a:avLst/>
          </a:prstGeom>
          <a:noFill/>
          <a:ln/>
        </p:spPr>
        <p:txBody>
          <a:bodyPr wrap="square" lIns="0" tIns="0" rIns="0" bIns="0" rtlCol="0" anchor="t"/>
          <a:lstStyle/>
          <a:p>
            <a:pPr marL="0" indent="0">
              <a:buNone/>
            </a:pPr>
            <a:r>
              <a:rPr lang="en-US" sz="1700" b="1" dirty="0">
                <a:solidFill>
                  <a:schemeClr val="tx2"/>
                </a:solidFill>
              </a:rPr>
              <a:t>Una cámara cubre 4–6 puestos</a:t>
            </a:r>
            <a:endParaRPr lang="en-US" sz="1700" dirty="0"/>
          </a:p>
        </p:txBody>
      </p:sp>
      <p:sp>
        <p:nvSpPr>
          <p:cNvPr id="7" name="Text 4"/>
          <p:cNvSpPr txBox="1"/>
          <p:nvPr/>
        </p:nvSpPr>
        <p:spPr>
          <a:xfrm>
            <a:off x="1645920" y="1874520"/>
            <a:ext cx="4526280" cy="457200"/>
          </a:xfrm>
          <a:prstGeom prst="rect">
            <a:avLst/>
          </a:prstGeom>
          <a:noFill/>
          <a:ln/>
        </p:spPr>
        <p:txBody>
          <a:bodyPr wrap="square" lIns="0" tIns="0" rIns="0" bIns="0" rtlCol="0" anchor="t"/>
          <a:lstStyle/>
          <a:p>
            <a:pPr marL="0" indent="0">
              <a:buNone/>
            </a:pPr>
            <a:r>
              <a:rPr lang="en-US" sz="1300" dirty="0">
                <a:solidFill>
                  <a:schemeClr val="tx1"/>
                </a:solidFill>
              </a:rPr>
              <a:t>Cámara IP de 4 MP en lo alto; una zona dibujada por puesto</a:t>
            </a:r>
            <a:endParaRPr lang="en-US" sz="1300" dirty="0"/>
          </a:p>
        </p:txBody>
      </p:sp>
      <p:sp>
        <p:nvSpPr>
          <p:cNvPr id="8" name="Shape 5"/>
          <p:cNvSpPr/>
          <p:nvPr/>
        </p:nvSpPr>
        <p:spPr>
          <a:xfrm>
            <a:off x="3429000" y="2395728"/>
            <a:ext cx="0" cy="182880"/>
          </a:xfrm>
          <a:prstGeom prst="line">
            <a:avLst/>
          </a:prstGeom>
          <a:noFill/>
          <a:ln w="22225">
            <a:solidFill>
              <a:srgbClr val="5F6B70"/>
            </a:solidFill>
            <a:prstDash val="solid"/>
            <a:tailEnd type="triangle"/>
          </a:ln>
        </p:spPr>
      </p:sp>
      <p:sp>
        <p:nvSpPr>
          <p:cNvPr id="9" name="pipeC1"/>
          <p:cNvSpPr/>
          <p:nvPr/>
        </p:nvSpPr>
        <p:spPr>
          <a:xfrm>
            <a:off x="548640" y="2606040"/>
            <a:ext cx="5760720" cy="960120"/>
          </a:xfrm>
          <a:prstGeom prst="roundRect">
            <a:avLst>
              <a:gd name="adj" fmla="val 9524"/>
            </a:avLst>
          </a:prstGeom>
          <a:solidFill>
            <a:schemeClr val="bg2"/>
          </a:solidFill>
          <a:ln/>
        </p:spPr>
      </p:sp>
      <p:sp>
        <p:nvSpPr>
          <p:cNvPr id="10" name="pipeC1-circulo"/>
          <p:cNvSpPr/>
          <p:nvPr/>
        </p:nvSpPr>
        <p:spPr>
          <a:xfrm>
            <a:off x="777240" y="2761488"/>
            <a:ext cx="640080" cy="640080"/>
          </a:xfrm>
          <a:prstGeom prst="ellipse">
            <a:avLst/>
          </a:prstGeom>
          <a:solidFill>
            <a:schemeClr val="accent1"/>
          </a:solidFill>
          <a:ln/>
        </p:spPr>
      </p:sp>
      <p:pic>
        <p:nvPicPr>
          <p:cNvPr id="11" name="pipeC1-icono" descr="preencoded.png"/>
          <p:cNvPicPr>
            <a:picLocks noChangeAspect="1"/>
          </p:cNvPicPr>
          <p:nvPr/>
        </p:nvPicPr>
        <p:blipFill>
          <a:blip r:embed="rId4"/>
          <a:stretch>
            <a:fillRect/>
          </a:stretch>
        </p:blipFill>
        <p:spPr>
          <a:xfrm>
            <a:off x="956462" y="2940710"/>
            <a:ext cx="281635" cy="281635"/>
          </a:xfrm>
          <a:prstGeom prst="rect">
            <a:avLst/>
          </a:prstGeom>
        </p:spPr>
      </p:pic>
      <p:sp>
        <p:nvSpPr>
          <p:cNvPr id="12" name="Text 8"/>
          <p:cNvSpPr txBox="1"/>
          <p:nvPr/>
        </p:nvSpPr>
        <p:spPr>
          <a:xfrm>
            <a:off x="1645920" y="2697480"/>
            <a:ext cx="4480560" cy="365760"/>
          </a:xfrm>
          <a:prstGeom prst="rect">
            <a:avLst/>
          </a:prstGeom>
          <a:noFill/>
          <a:ln/>
        </p:spPr>
        <p:txBody>
          <a:bodyPr wrap="square" lIns="0" tIns="0" rIns="0" bIns="0" rtlCol="0" anchor="t"/>
          <a:lstStyle/>
          <a:p>
            <a:pPr marL="0" indent="0">
              <a:buNone/>
            </a:pPr>
            <a:r>
              <a:rPr lang="en-US" sz="1700" b="1" dirty="0">
                <a:solidFill>
                  <a:schemeClr val="tx2"/>
                </a:solidFill>
              </a:rPr>
              <a:t>Persona y muñecas en cada zona</a:t>
            </a:r>
            <a:endParaRPr lang="en-US" sz="1700" dirty="0"/>
          </a:p>
        </p:txBody>
      </p:sp>
      <p:sp>
        <p:nvSpPr>
          <p:cNvPr id="13" name="Text 9"/>
          <p:cNvSpPr txBox="1"/>
          <p:nvPr/>
        </p:nvSpPr>
        <p:spPr>
          <a:xfrm>
            <a:off x="1645920" y="3063240"/>
            <a:ext cx="4526280" cy="457200"/>
          </a:xfrm>
          <a:prstGeom prst="rect">
            <a:avLst/>
          </a:prstGeom>
          <a:noFill/>
          <a:ln/>
        </p:spPr>
        <p:txBody>
          <a:bodyPr wrap="square" lIns="0" tIns="0" rIns="0" bIns="0" rtlCol="0" anchor="t"/>
          <a:lstStyle/>
          <a:p>
            <a:pPr marL="0" indent="0">
              <a:buNone/>
            </a:pPr>
            <a:r>
              <a:rPr lang="en-US" sz="1300" dirty="0">
                <a:solidFill>
                  <a:schemeClr val="tx1"/>
                </a:solidFill>
              </a:rPr>
              <a:t>Modelo de pose ya entrenado: no hay que etiquetar semanas de video</a:t>
            </a:r>
            <a:endParaRPr lang="en-US" sz="1300" dirty="0"/>
          </a:p>
        </p:txBody>
      </p:sp>
      <p:sp>
        <p:nvSpPr>
          <p:cNvPr id="14" name="Shape 10"/>
          <p:cNvSpPr/>
          <p:nvPr/>
        </p:nvSpPr>
        <p:spPr>
          <a:xfrm>
            <a:off x="3429000" y="3584448"/>
            <a:ext cx="0" cy="182880"/>
          </a:xfrm>
          <a:prstGeom prst="line">
            <a:avLst/>
          </a:prstGeom>
          <a:noFill/>
          <a:ln w="22225">
            <a:solidFill>
              <a:srgbClr val="5F6B70"/>
            </a:solidFill>
            <a:prstDash val="solid"/>
            <a:tailEnd type="triangle"/>
          </a:ln>
        </p:spPr>
      </p:sp>
      <p:sp>
        <p:nvSpPr>
          <p:cNvPr id="15" name="pipeC2"/>
          <p:cNvSpPr/>
          <p:nvPr/>
        </p:nvSpPr>
        <p:spPr>
          <a:xfrm>
            <a:off x="548640" y="3794760"/>
            <a:ext cx="5760720" cy="960120"/>
          </a:xfrm>
          <a:prstGeom prst="roundRect">
            <a:avLst>
              <a:gd name="adj" fmla="val 9524"/>
            </a:avLst>
          </a:prstGeom>
          <a:solidFill>
            <a:schemeClr val="bg2"/>
          </a:solidFill>
          <a:ln/>
        </p:spPr>
      </p:sp>
      <p:sp>
        <p:nvSpPr>
          <p:cNvPr id="16" name="pipeC2-circulo"/>
          <p:cNvSpPr/>
          <p:nvPr/>
        </p:nvSpPr>
        <p:spPr>
          <a:xfrm>
            <a:off x="777240" y="3950208"/>
            <a:ext cx="640080" cy="640080"/>
          </a:xfrm>
          <a:prstGeom prst="ellipse">
            <a:avLst/>
          </a:prstGeom>
          <a:solidFill>
            <a:schemeClr val="accent1"/>
          </a:solidFill>
          <a:ln/>
        </p:spPr>
      </p:sp>
      <p:pic>
        <p:nvPicPr>
          <p:cNvPr id="17" name="pipeC2-icono" descr="preencoded.png"/>
          <p:cNvPicPr>
            <a:picLocks noChangeAspect="1"/>
          </p:cNvPicPr>
          <p:nvPr/>
        </p:nvPicPr>
        <p:blipFill>
          <a:blip r:embed="rId5"/>
          <a:stretch>
            <a:fillRect/>
          </a:stretch>
        </p:blipFill>
        <p:spPr>
          <a:xfrm>
            <a:off x="956462" y="4129430"/>
            <a:ext cx="281635" cy="281635"/>
          </a:xfrm>
          <a:prstGeom prst="rect">
            <a:avLst/>
          </a:prstGeom>
        </p:spPr>
      </p:pic>
      <p:sp>
        <p:nvSpPr>
          <p:cNvPr id="18" name="Text 13"/>
          <p:cNvSpPr txBox="1"/>
          <p:nvPr/>
        </p:nvSpPr>
        <p:spPr>
          <a:xfrm>
            <a:off x="1645920" y="3886200"/>
            <a:ext cx="4480560" cy="365760"/>
          </a:xfrm>
          <a:prstGeom prst="rect">
            <a:avLst/>
          </a:prstGeom>
          <a:noFill/>
          <a:ln/>
        </p:spPr>
        <p:txBody>
          <a:bodyPr wrap="square" lIns="0" tIns="0" rIns="0" bIns="0" rtlCol="0" anchor="t"/>
          <a:lstStyle/>
          <a:p>
            <a:pPr marL="0" indent="0">
              <a:buNone/>
            </a:pPr>
            <a:r>
              <a:rPr lang="en-US" sz="1700" b="1" dirty="0">
                <a:solidFill>
                  <a:schemeClr val="tx2"/>
                </a:solidFill>
              </a:rPr>
              <a:t>Regla de movimiento</a:t>
            </a:r>
            <a:endParaRPr lang="en-US" sz="1700" dirty="0"/>
          </a:p>
        </p:txBody>
      </p:sp>
      <p:sp>
        <p:nvSpPr>
          <p:cNvPr id="19" name="Text 14"/>
          <p:cNvSpPr txBox="1"/>
          <p:nvPr/>
        </p:nvSpPr>
        <p:spPr>
          <a:xfrm>
            <a:off x="1645920" y="4251960"/>
            <a:ext cx="4526280" cy="457200"/>
          </a:xfrm>
          <a:prstGeom prst="rect">
            <a:avLst/>
          </a:prstGeom>
          <a:noFill/>
          <a:ln/>
        </p:spPr>
        <p:txBody>
          <a:bodyPr wrap="square" lIns="0" tIns="0" rIns="0" bIns="0" rtlCol="0" anchor="t"/>
          <a:lstStyle/>
          <a:p>
            <a:pPr marL="0" indent="0">
              <a:buNone/>
            </a:pPr>
            <a:r>
              <a:rPr lang="en-US" sz="1300" dirty="0">
                <a:solidFill>
                  <a:schemeClr val="tx1"/>
                </a:solidFill>
              </a:rPr>
              <a:t>Presente + manos en movimiento = trabajando; quieta = inactiva; sin persona = ausente</a:t>
            </a:r>
            <a:endParaRPr lang="en-US" sz="1300" dirty="0"/>
          </a:p>
        </p:txBody>
      </p:sp>
      <p:sp>
        <p:nvSpPr>
          <p:cNvPr id="20" name="Shape 15"/>
          <p:cNvSpPr/>
          <p:nvPr/>
        </p:nvSpPr>
        <p:spPr>
          <a:xfrm>
            <a:off x="3429000" y="4773168"/>
            <a:ext cx="0" cy="182880"/>
          </a:xfrm>
          <a:prstGeom prst="line">
            <a:avLst/>
          </a:prstGeom>
          <a:noFill/>
          <a:ln w="22225">
            <a:solidFill>
              <a:srgbClr val="5F6B70"/>
            </a:solidFill>
            <a:prstDash val="solid"/>
            <a:tailEnd type="triangle"/>
          </a:ln>
        </p:spPr>
      </p:sp>
      <p:sp>
        <p:nvSpPr>
          <p:cNvPr id="21" name="pipeC3"/>
          <p:cNvSpPr/>
          <p:nvPr/>
        </p:nvSpPr>
        <p:spPr>
          <a:xfrm>
            <a:off x="548640" y="4983480"/>
            <a:ext cx="5760720" cy="960120"/>
          </a:xfrm>
          <a:prstGeom prst="roundRect">
            <a:avLst>
              <a:gd name="adj" fmla="val 9524"/>
            </a:avLst>
          </a:prstGeom>
          <a:solidFill>
            <a:schemeClr val="bg2"/>
          </a:solidFill>
          <a:ln/>
        </p:spPr>
      </p:sp>
      <p:sp>
        <p:nvSpPr>
          <p:cNvPr id="22" name="pipeC3-circulo"/>
          <p:cNvSpPr/>
          <p:nvPr/>
        </p:nvSpPr>
        <p:spPr>
          <a:xfrm>
            <a:off x="777240" y="5138928"/>
            <a:ext cx="640080" cy="640080"/>
          </a:xfrm>
          <a:prstGeom prst="ellipse">
            <a:avLst/>
          </a:prstGeom>
          <a:solidFill>
            <a:schemeClr val="accent1"/>
          </a:solidFill>
          <a:ln/>
        </p:spPr>
      </p:sp>
      <p:pic>
        <p:nvPicPr>
          <p:cNvPr id="23" name="pipeC3-icono" descr="preencoded.png"/>
          <p:cNvPicPr>
            <a:picLocks noChangeAspect="1"/>
          </p:cNvPicPr>
          <p:nvPr/>
        </p:nvPicPr>
        <p:blipFill>
          <a:blip r:embed="rId6"/>
          <a:stretch>
            <a:fillRect/>
          </a:stretch>
        </p:blipFill>
        <p:spPr>
          <a:xfrm>
            <a:off x="956462" y="5318150"/>
            <a:ext cx="281635" cy="281635"/>
          </a:xfrm>
          <a:prstGeom prst="rect">
            <a:avLst/>
          </a:prstGeom>
        </p:spPr>
      </p:pic>
      <p:sp>
        <p:nvSpPr>
          <p:cNvPr id="24" name="Text 18"/>
          <p:cNvSpPr txBox="1"/>
          <p:nvPr/>
        </p:nvSpPr>
        <p:spPr>
          <a:xfrm>
            <a:off x="1645920" y="5074920"/>
            <a:ext cx="4480560" cy="365760"/>
          </a:xfrm>
          <a:prstGeom prst="rect">
            <a:avLst/>
          </a:prstGeom>
          <a:noFill/>
          <a:ln/>
        </p:spPr>
        <p:txBody>
          <a:bodyPr wrap="square" lIns="0" tIns="0" rIns="0" bIns="0" rtlCol="0" anchor="t"/>
          <a:lstStyle/>
          <a:p>
            <a:pPr marL="0" indent="0">
              <a:buNone/>
            </a:pPr>
            <a:r>
              <a:rPr lang="en-US" sz="1700" b="1" dirty="0">
                <a:solidFill>
                  <a:schemeClr val="tx2"/>
                </a:solidFill>
              </a:rPr>
              <a:t>Solo decide cuando la máquina para</a:t>
            </a:r>
            <a:endParaRPr lang="en-US" sz="1700" dirty="0"/>
          </a:p>
        </p:txBody>
      </p:sp>
      <p:sp>
        <p:nvSpPr>
          <p:cNvPr id="25" name="Text 19"/>
          <p:cNvSpPr txBox="1"/>
          <p:nvPr/>
        </p:nvSpPr>
        <p:spPr>
          <a:xfrm>
            <a:off x="1645920" y="5440680"/>
            <a:ext cx="4526280" cy="457200"/>
          </a:xfrm>
          <a:prstGeom prst="rect">
            <a:avLst/>
          </a:prstGeom>
          <a:noFill/>
          <a:ln/>
        </p:spPr>
        <p:txBody>
          <a:bodyPr wrap="square" lIns="0" tIns="0" rIns="0" bIns="0" rtlCol="0" anchor="t"/>
          <a:lstStyle/>
          <a:p>
            <a:pPr marL="0" indent="0">
              <a:buNone/>
            </a:pPr>
            <a:r>
              <a:rPr lang="en-US" sz="1300" dirty="0">
                <a:solidFill>
                  <a:schemeClr val="tx1"/>
                </a:solidFill>
              </a:rPr>
              <a:t>Si la pinza de corriente detecta costura, está trabajando</a:t>
            </a:r>
            <a:endParaRPr lang="en-US" sz="1300" dirty="0"/>
          </a:p>
        </p:txBody>
      </p:sp>
      <p:sp>
        <p:nvSpPr>
          <p:cNvPr id="26" name="statC"/>
          <p:cNvSpPr/>
          <p:nvPr/>
        </p:nvSpPr>
        <p:spPr>
          <a:xfrm>
            <a:off x="6675120" y="1417320"/>
            <a:ext cx="4965192" cy="1600200"/>
          </a:xfrm>
          <a:prstGeom prst="roundRect">
            <a:avLst>
              <a:gd name="adj" fmla="val 5714"/>
            </a:avLst>
          </a:prstGeom>
          <a:solidFill>
            <a:schemeClr val="tx2"/>
          </a:solidFill>
          <a:ln/>
        </p:spPr>
      </p:sp>
      <p:sp>
        <p:nvSpPr>
          <p:cNvPr id="27" name="Text 21"/>
          <p:cNvSpPr txBox="1"/>
          <p:nvPr/>
        </p:nvSpPr>
        <p:spPr>
          <a:xfrm>
            <a:off x="6949440" y="1572768"/>
            <a:ext cx="4480560" cy="685800"/>
          </a:xfrm>
          <a:prstGeom prst="rect">
            <a:avLst/>
          </a:prstGeom>
          <a:noFill/>
          <a:ln/>
        </p:spPr>
        <p:txBody>
          <a:bodyPr wrap="square" lIns="0" tIns="0" rIns="0" bIns="0" rtlCol="0" anchor="t"/>
          <a:lstStyle/>
          <a:p>
            <a:pPr marL="0" indent="0">
              <a:buNone/>
            </a:pPr>
            <a:r>
              <a:rPr lang="en-US" sz="3600" b="1" dirty="0">
                <a:solidFill>
                  <a:schemeClr val="bg1"/>
                </a:solidFill>
              </a:rPr>
              <a:t>USD 1,900–3,300</a:t>
            </a:r>
            <a:endParaRPr lang="en-US" sz="3600" dirty="0"/>
          </a:p>
        </p:txBody>
      </p:sp>
      <p:sp>
        <p:nvSpPr>
          <p:cNvPr id="28" name="Text 22"/>
          <p:cNvSpPr txBox="1"/>
          <p:nvPr/>
        </p:nvSpPr>
        <p:spPr>
          <a:xfrm>
            <a:off x="6949440" y="2331720"/>
            <a:ext cx="4480560" cy="457200"/>
          </a:xfrm>
          <a:prstGeom prst="rect">
            <a:avLst/>
          </a:prstGeom>
          <a:noFill/>
          <a:ln/>
        </p:spPr>
        <p:txBody>
          <a:bodyPr wrap="square" lIns="0" tIns="0" rIns="0" bIns="0" rtlCol="0" anchor="t"/>
          <a:lstStyle/>
          <a:p>
            <a:pPr marL="0" indent="0">
              <a:buNone/>
            </a:pPr>
            <a:r>
              <a:rPr lang="en-US" sz="1400" dirty="0">
                <a:solidFill>
                  <a:schemeClr val="accent3"/>
                </a:solidFill>
              </a:rPr>
              <a:t>por línea de 25 · 5–7 cámaras en vez de 25</a:t>
            </a:r>
            <a:endParaRPr lang="en-US" sz="1400" dirty="0"/>
          </a:p>
        </p:txBody>
      </p:sp>
      <p:sp>
        <p:nvSpPr>
          <p:cNvPr id="29" name="riesgosC"/>
          <p:cNvSpPr/>
          <p:nvPr/>
        </p:nvSpPr>
        <p:spPr>
          <a:xfrm>
            <a:off x="6675120" y="3200400"/>
            <a:ext cx="4965192" cy="2697480"/>
          </a:xfrm>
          <a:prstGeom prst="roundRect">
            <a:avLst>
              <a:gd name="adj" fmla="val 3390"/>
            </a:avLst>
          </a:prstGeom>
          <a:solidFill>
            <a:schemeClr val="bg2"/>
          </a:solidFill>
          <a:ln/>
        </p:spPr>
      </p:sp>
      <p:sp>
        <p:nvSpPr>
          <p:cNvPr id="30" name="Text 24"/>
          <p:cNvSpPr txBox="1"/>
          <p:nvPr/>
        </p:nvSpPr>
        <p:spPr>
          <a:xfrm>
            <a:off x="6949440" y="3383280"/>
            <a:ext cx="4480560" cy="365760"/>
          </a:xfrm>
          <a:prstGeom prst="rect">
            <a:avLst/>
          </a:prstGeom>
          <a:noFill/>
          <a:ln/>
        </p:spPr>
        <p:txBody>
          <a:bodyPr wrap="square" lIns="0" tIns="0" rIns="0" bIns="0" rtlCol="0" anchor="t"/>
          <a:lstStyle/>
          <a:p>
            <a:pPr marL="0" indent="0">
              <a:buNone/>
            </a:pPr>
            <a:r>
              <a:rPr lang="en-US" sz="1700" b="1" dirty="0">
                <a:solidFill>
                  <a:schemeClr val="accent4"/>
                </a:solidFill>
              </a:rPr>
              <a:t>A tener en cuenta</a:t>
            </a:r>
            <a:endParaRPr lang="en-US" sz="1700" dirty="0"/>
          </a:p>
        </p:txBody>
      </p:sp>
      <p:sp>
        <p:nvSpPr>
          <p:cNvPr id="31" name="Text 25"/>
          <p:cNvSpPr txBox="1"/>
          <p:nvPr/>
        </p:nvSpPr>
        <p:spPr>
          <a:xfrm>
            <a:off x="6949440" y="3840480"/>
            <a:ext cx="4480560" cy="19202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Moverse no siempre es trabajar (celular, conversar)</a:t>
            </a:r>
            <a:endParaRPr lang="en-US" sz="1400" dirty="0"/>
          </a:p>
          <a:p>
            <a:pPr marL="342900" indent="-342900">
              <a:spcAft>
                <a:spcPts val="600"/>
              </a:spcAft>
              <a:buSzPct val="100000"/>
              <a:buChar char="•"/>
            </a:pPr>
            <a:r>
              <a:rPr lang="en-US" sz="1400" dirty="0">
                <a:solidFill>
                  <a:schemeClr val="tx1"/>
                </a:solidFill>
              </a:rPr>
              <a:t>Desde arriba las manos se ven pequeñas o tapadas</a:t>
            </a:r>
            <a:endParaRPr lang="en-US" sz="1400" dirty="0"/>
          </a:p>
          <a:p>
            <a:pPr marL="342900" indent="-342900">
              <a:spcAft>
                <a:spcPts val="600"/>
              </a:spcAft>
              <a:buSzPct val="100000"/>
              <a:buChar char="•"/>
            </a:pPr>
            <a:r>
              <a:rPr lang="en-US" sz="1400" dirty="0">
                <a:solidFill>
                  <a:schemeClr val="tx1"/>
                </a:solidFill>
              </a:rPr>
              <a:t>No sabe por qué paró: sigue el registro de causas</a:t>
            </a:r>
            <a:endParaRPr lang="en-US" sz="1400" dirty="0"/>
          </a:p>
          <a:p>
            <a:pPr marL="342900" indent="-342900">
              <a:spcAft>
                <a:spcPts val="600"/>
              </a:spcAft>
              <a:buSzPct val="100000"/>
              <a:buChar char="•"/>
            </a:pPr>
            <a:r>
              <a:rPr lang="en-US" sz="1400" dirty="0">
                <a:solidFill>
                  <a:schemeClr val="tx1"/>
                </a:solidFill>
              </a:rPr>
              <a:t>Validar con 1 cámara grabando un día completo</a:t>
            </a:r>
            <a:endParaRPr lang="en-US" sz="1400" dirty="0"/>
          </a:p>
        </p:txBody>
      </p:sp>
      <p:sp>
        <p:nvSpPr>
          <p:cNvPr id="32"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F6B70"/>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1672" cy="868680"/>
          </a:xfrm>
          <a:prstGeom prst="rect">
            <a:avLst/>
          </a:prstGeom>
          <a:noFill/>
          <a:ln/>
        </p:spPr>
        <p:txBody>
          <a:bodyPr wrap="square" lIns="0" tIns="0" rIns="0" bIns="0" rtlCol="0" anchor="ctr"/>
          <a:lstStyle/>
          <a:p>
            <a:pPr marL="0" indent="0" algn="l">
              <a:buNone/>
            </a:pPr>
            <a:r>
              <a:rPr lang="en-US" sz="3200" b="1" dirty="0">
                <a:solidFill>
                  <a:schemeClr val="tx2"/>
                </a:solidFill>
              </a:rPr>
              <a:t>Comparación de las tres propuestas</a:t>
            </a:r>
            <a:endParaRPr lang="en-US" sz="3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1672" cy="914400"/>
        </p:xfrm>
        <a:graphic>
          <a:graphicData uri="http://schemas.openxmlformats.org/drawingml/2006/table">
            <a:tbl>
              <a:tblPr/>
              <a:tblGrid>
                <a:gridCol w="3410712">
                  <a:extLst>
                    <a:ext uri="{9D8B030D-6E8A-4147-A177-3AD203B41FA5}">
                      <a16:colId xmlns:a16="http://schemas.microsoft.com/office/drawing/2014/main" val="20000"/>
                    </a:ext>
                  </a:extLst>
                </a:gridCol>
                <a:gridCol w="2560320">
                  <a:extLst>
                    <a:ext uri="{9D8B030D-6E8A-4147-A177-3AD203B41FA5}">
                      <a16:colId xmlns:a16="http://schemas.microsoft.com/office/drawing/2014/main" val="20001"/>
                    </a:ext>
                  </a:extLst>
                </a:gridCol>
                <a:gridCol w="2560320">
                  <a:extLst>
                    <a:ext uri="{9D8B030D-6E8A-4147-A177-3AD203B41FA5}">
                      <a16:colId xmlns:a16="http://schemas.microsoft.com/office/drawing/2014/main" val="20002"/>
                    </a:ext>
                  </a:extLst>
                </a:gridCol>
                <a:gridCol w="2560320">
                  <a:extLst>
                    <a:ext uri="{9D8B030D-6E8A-4147-A177-3AD203B41FA5}">
                      <a16:colId xmlns:a16="http://schemas.microsoft.com/office/drawing/2014/main" val="20003"/>
                    </a:ext>
                  </a:extLst>
                </a:gridCol>
              </a:tblGrid>
              <a:tr h="548640">
                <a:tc>
                  <a:txBody>
                    <a:bodyPr/>
                    <a:lstStyle/>
                    <a:p>
                      <a:pPr marL="0" indent="0">
                        <a:buNone/>
                      </a:pPr>
                      <a:endParaRPr lang="en-US" sz="1500" dirty="0"/>
                    </a:p>
                  </a:txBody>
                  <a:tcPr marL="109728" marR="1097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marL="0" indent="0" algn="ctr">
                        <a:buNone/>
                      </a:pPr>
                      <a:r>
                        <a:rPr lang="en-US" sz="1500" b="1" dirty="0">
                          <a:solidFill>
                            <a:schemeClr val="bg1"/>
                          </a:solidFill>
                        </a:rPr>
                        <a:t>A · Low cost</a:t>
                      </a:r>
                      <a:endParaRPr lang="en-US" sz="1500" dirty="0"/>
                    </a:p>
                  </a:txBody>
                  <a:tcPr marL="109728" marR="1097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marL="0" indent="0" algn="ctr">
                        <a:buNone/>
                      </a:pPr>
                      <a:r>
                        <a:rPr lang="en-US" sz="1500" b="1" dirty="0">
                          <a:solidFill>
                            <a:schemeClr val="bg1"/>
                          </a:solidFill>
                        </a:rPr>
                        <a:t>B · Mixta</a:t>
                      </a:r>
                      <a:endParaRPr lang="en-US" sz="1500" dirty="0"/>
                    </a:p>
                  </a:txBody>
                  <a:tcPr marL="109728" marR="1097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marL="0" indent="0" algn="ctr">
                        <a:buNone/>
                      </a:pPr>
                      <a:r>
                        <a:rPr lang="en-US" sz="1500" b="1" dirty="0">
                          <a:solidFill>
                            <a:schemeClr val="bg1"/>
                          </a:solidFill>
                        </a:rPr>
                        <a:t>C · Cámara cenital</a:t>
                      </a:r>
                      <a:endParaRPr lang="en-US" sz="1500" dirty="0"/>
                    </a:p>
                  </a:txBody>
                  <a:tcPr marL="109728" marR="1097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548640">
                <a:tc>
                  <a:txBody>
                    <a:bodyPr/>
                    <a:lstStyle/>
                    <a:p>
                      <a:pPr marL="0" indent="0">
                        <a:buNone/>
                      </a:pPr>
                      <a:r>
                        <a:rPr lang="en-US" sz="1500" b="1" dirty="0">
                          <a:solidFill>
                            <a:schemeClr val="tx2"/>
                          </a:solidFill>
                        </a:rPr>
                        <a:t>Costo por línea de 25 (USD aprox.)</a:t>
                      </a:r>
                      <a:endParaRPr lang="en-US" sz="1500" dirty="0"/>
                    </a:p>
                  </a:txBody>
                  <a:tcPr marL="109728" marR="1097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500" dirty="0">
                          <a:solidFill>
                            <a:schemeClr val="tx1"/>
                          </a:solidFill>
                        </a:rPr>
                        <a:t>1,500–2,200</a:t>
                      </a:r>
                      <a:endParaRPr lang="en-US" sz="1500" dirty="0"/>
                    </a:p>
                  </a:txBody>
                  <a:tcPr marL="109728" marR="1097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1500" dirty="0">
                          <a:solidFill>
                            <a:schemeClr val="tx1"/>
                          </a:solidFill>
                        </a:rPr>
                        <a:t>2,800–3,800</a:t>
                      </a:r>
                      <a:endParaRPr lang="en-US" sz="1500" dirty="0"/>
                    </a:p>
                  </a:txBody>
                  <a:tcPr marL="109728" marR="1097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1500" dirty="0">
                          <a:solidFill>
                            <a:schemeClr val="tx1"/>
                          </a:solidFill>
                        </a:rPr>
                        <a:t>1,900–3,300</a:t>
                      </a:r>
                      <a:endParaRPr lang="en-US" sz="1500" dirty="0"/>
                    </a:p>
                  </a:txBody>
                  <a:tcPr marL="109728" marR="1097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marL="0" indent="0">
                        <a:buNone/>
                      </a:pPr>
                      <a:r>
                        <a:rPr lang="en-US" sz="1500" b="1" dirty="0">
                          <a:solidFill>
                            <a:schemeClr val="tx2"/>
                          </a:solidFill>
                        </a:rPr>
                        <a:t>Cámaras para 25 puestos</a:t>
                      </a:r>
                      <a:endParaRPr lang="en-US" sz="1500" dirty="0"/>
                    </a:p>
                  </a:txBody>
                  <a:tcPr marL="109728" marR="1097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500" dirty="0">
                          <a:solidFill>
                            <a:schemeClr val="tx1"/>
                          </a:solidFill>
                        </a:rPr>
                        <a:t>0</a:t>
                      </a:r>
                      <a:endParaRPr lang="en-US" sz="1500" dirty="0"/>
                    </a:p>
                  </a:txBody>
                  <a:tcPr marL="109728" marR="1097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1500" dirty="0">
                          <a:solidFill>
                            <a:schemeClr val="tx1"/>
                          </a:solidFill>
                        </a:rPr>
                        <a:t>25 (en la placa)</a:t>
                      </a:r>
                      <a:endParaRPr lang="en-US" sz="1500" dirty="0"/>
                    </a:p>
                  </a:txBody>
                  <a:tcPr marL="109728" marR="1097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1500" dirty="0">
                          <a:solidFill>
                            <a:schemeClr val="accent6"/>
                          </a:solidFill>
                        </a:rPr>
                        <a:t>5–7</a:t>
                      </a:r>
                      <a:endParaRPr lang="en-US" sz="1500" dirty="0"/>
                    </a:p>
                  </a:txBody>
                  <a:tcPr marL="109728" marR="1097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48640">
                <a:tc>
                  <a:txBody>
                    <a:bodyPr/>
                    <a:lstStyle/>
                    <a:p>
                      <a:pPr marL="0" indent="0">
                        <a:buNone/>
                      </a:pPr>
                      <a:r>
                        <a:rPr lang="en-US" sz="1500" b="1" dirty="0">
                          <a:solidFill>
                            <a:schemeClr val="tx2"/>
                          </a:solidFill>
                        </a:rPr>
                        <a:t>¿Depende de que marquen botones?</a:t>
                      </a:r>
                      <a:endParaRPr lang="en-US" sz="1500" dirty="0"/>
                    </a:p>
                  </a:txBody>
                  <a:tcPr marL="109728" marR="1097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500" dirty="0">
                          <a:solidFill>
                            <a:schemeClr val="accent4"/>
                          </a:solidFill>
                        </a:rPr>
                        <a:t>Sí, en parte</a:t>
                      </a:r>
                      <a:endParaRPr lang="en-US" sz="1500" dirty="0"/>
                    </a:p>
                  </a:txBody>
                  <a:tcPr marL="109728" marR="1097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1500" dirty="0">
                          <a:solidFill>
                            <a:schemeClr val="accent6"/>
                          </a:solidFill>
                        </a:rPr>
                        <a:t>No en paradas largas</a:t>
                      </a:r>
                      <a:endParaRPr lang="en-US" sz="1500" dirty="0"/>
                    </a:p>
                  </a:txBody>
                  <a:tcPr marL="109728" marR="1097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1500" dirty="0">
                          <a:solidFill>
                            <a:schemeClr val="accent6"/>
                          </a:solidFill>
                        </a:rPr>
                        <a:t>No en paradas largas</a:t>
                      </a:r>
                      <a:endParaRPr lang="en-US" sz="1500" dirty="0"/>
                    </a:p>
                  </a:txBody>
                  <a:tcPr marL="109728" marR="1097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48640">
                <a:tc>
                  <a:txBody>
                    <a:bodyPr/>
                    <a:lstStyle/>
                    <a:p>
                      <a:pPr marL="0" indent="0">
                        <a:buNone/>
                      </a:pPr>
                      <a:r>
                        <a:rPr lang="en-US" sz="1500" b="1" dirty="0">
                          <a:solidFill>
                            <a:schemeClr val="tx2"/>
                          </a:solidFill>
                        </a:rPr>
                        <a:t>Trabajando vs. inactiva</a:t>
                      </a:r>
                      <a:endParaRPr lang="en-US" sz="1500" dirty="0"/>
                    </a:p>
                  </a:txBody>
                  <a:tcPr marL="109728" marR="1097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500" dirty="0">
                          <a:solidFill>
                            <a:schemeClr val="accent4"/>
                          </a:solidFill>
                        </a:rPr>
                        <a:t>No lo distingue</a:t>
                      </a:r>
                      <a:endParaRPr lang="en-US" sz="1500" dirty="0"/>
                    </a:p>
                  </a:txBody>
                  <a:tcPr marL="109728" marR="1097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1500" dirty="0">
                          <a:solidFill>
                            <a:schemeClr val="tx1"/>
                          </a:solidFill>
                        </a:rPr>
                        <a:t>En paradas largas</a:t>
                      </a:r>
                      <a:endParaRPr lang="en-US" sz="1500" dirty="0"/>
                    </a:p>
                  </a:txBody>
                  <a:tcPr marL="109728" marR="1097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1500" dirty="0">
                          <a:solidFill>
                            <a:schemeClr val="accent6"/>
                          </a:solidFill>
                        </a:rPr>
                        <a:t>Siempre (por movimiento)</a:t>
                      </a:r>
                      <a:endParaRPr lang="en-US" sz="1500" dirty="0"/>
                    </a:p>
                  </a:txBody>
                  <a:tcPr marL="109728" marR="1097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48640">
                <a:tc>
                  <a:txBody>
                    <a:bodyPr/>
                    <a:lstStyle/>
                    <a:p>
                      <a:pPr marL="0" indent="0">
                        <a:buNone/>
                      </a:pPr>
                      <a:r>
                        <a:rPr lang="en-US" sz="1500" b="1" dirty="0">
                          <a:solidFill>
                            <a:schemeClr val="tx2"/>
                          </a:solidFill>
                        </a:rPr>
                        <a:t>Conteo de piezas</a:t>
                      </a:r>
                      <a:endParaRPr lang="en-US" sz="1500" dirty="0"/>
                    </a:p>
                  </a:txBody>
                  <a:tcPr marL="109728" marR="1097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500" dirty="0">
                          <a:solidFill>
                            <a:schemeClr val="tx1"/>
                          </a:solidFill>
                        </a:rPr>
                        <a:t>Estimado + tickets</a:t>
                      </a:r>
                      <a:endParaRPr lang="en-US" sz="1500" dirty="0"/>
                    </a:p>
                  </a:txBody>
                  <a:tcPr marL="109728" marR="1097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1500" dirty="0">
                          <a:solidFill>
                            <a:schemeClr val="tx1"/>
                          </a:solidFill>
                        </a:rPr>
                        <a:t>Igual que A</a:t>
                      </a:r>
                      <a:endParaRPr lang="en-US" sz="1500" dirty="0"/>
                    </a:p>
                  </a:txBody>
                  <a:tcPr marL="109728" marR="1097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1500" dirty="0">
                          <a:solidFill>
                            <a:schemeClr val="tx1"/>
                          </a:solidFill>
                        </a:rPr>
                        <a:t>Igual que A</a:t>
                      </a:r>
                      <a:endParaRPr lang="en-US" sz="1500" dirty="0"/>
                    </a:p>
                  </a:txBody>
                  <a:tcPr marL="109728" marR="1097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48640">
                <a:tc>
                  <a:txBody>
                    <a:bodyPr/>
                    <a:lstStyle/>
                    <a:p>
                      <a:pPr marL="0" indent="0">
                        <a:buNone/>
                      </a:pPr>
                      <a:r>
                        <a:rPr lang="en-US" sz="1500" b="1" dirty="0">
                          <a:solidFill>
                            <a:schemeClr val="tx2"/>
                          </a:solidFill>
                        </a:rPr>
                        <a:t>Desarrollo de software</a:t>
                      </a:r>
                      <a:endParaRPr lang="en-US" sz="1500" dirty="0"/>
                    </a:p>
                  </a:txBody>
                  <a:tcPr marL="109728" marR="1097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500" dirty="0">
                          <a:solidFill>
                            <a:schemeClr val="accent6"/>
                          </a:solidFill>
                        </a:rPr>
                        <a:t>Bajo</a:t>
                      </a:r>
                      <a:endParaRPr lang="en-US" sz="1500" dirty="0"/>
                    </a:p>
                  </a:txBody>
                  <a:tcPr marL="109728" marR="1097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1500" dirty="0">
                          <a:solidFill>
                            <a:schemeClr val="tx1"/>
                          </a:solidFill>
                        </a:rPr>
                        <a:t>Medio</a:t>
                      </a:r>
                      <a:endParaRPr lang="en-US" sz="1500" dirty="0"/>
                    </a:p>
                  </a:txBody>
                  <a:tcPr marL="109728" marR="1097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1500" dirty="0">
                          <a:solidFill>
                            <a:schemeClr val="tx1"/>
                          </a:solidFill>
                        </a:rPr>
                        <a:t>Medio</a:t>
                      </a:r>
                      <a:endParaRPr lang="en-US" sz="1500" dirty="0"/>
                    </a:p>
                  </a:txBody>
                  <a:tcPr marL="109728" marR="1097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548640">
                <a:tc>
                  <a:txBody>
                    <a:bodyPr/>
                    <a:lstStyle/>
                    <a:p>
                      <a:pPr marL="0" indent="0">
                        <a:buNone/>
                      </a:pPr>
                      <a:r>
                        <a:rPr lang="en-US" sz="1500" b="1" dirty="0">
                          <a:solidFill>
                            <a:schemeClr val="tx2"/>
                          </a:solidFill>
                        </a:rPr>
                        <a:t>Implementación</a:t>
                      </a:r>
                      <a:endParaRPr lang="en-US" sz="1500" dirty="0"/>
                    </a:p>
                  </a:txBody>
                  <a:tcPr marL="109728" marR="1097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500" dirty="0">
                          <a:solidFill>
                            <a:schemeClr val="tx1"/>
                          </a:solidFill>
                        </a:rPr>
                        <a:t>4–6 semanas</a:t>
                      </a:r>
                      <a:endParaRPr lang="en-US" sz="1500" dirty="0"/>
                    </a:p>
                  </a:txBody>
                  <a:tcPr marL="109728" marR="1097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1500" dirty="0">
                          <a:solidFill>
                            <a:schemeClr val="tx1"/>
                          </a:solidFill>
                        </a:rPr>
                        <a:t>8–10 semanas</a:t>
                      </a:r>
                      <a:endParaRPr lang="en-US" sz="1500" dirty="0"/>
                    </a:p>
                  </a:txBody>
                  <a:tcPr marL="109728" marR="1097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1500" dirty="0">
                          <a:solidFill>
                            <a:schemeClr val="tx1"/>
                          </a:solidFill>
                        </a:rPr>
                        <a:t>8–10 semanas</a:t>
                      </a:r>
                      <a:endParaRPr lang="en-US" sz="1500" dirty="0"/>
                    </a:p>
                  </a:txBody>
                  <a:tcPr marL="109728" marR="1097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4" name="Text 1"/>
          <p:cNvSpPr txBox="1"/>
          <p:nvPr/>
        </p:nvSpPr>
        <p:spPr>
          <a:xfrm>
            <a:off x="548640" y="5943600"/>
            <a:ext cx="11091672" cy="274320"/>
          </a:xfrm>
          <a:prstGeom prst="rect">
            <a:avLst/>
          </a:prstGeom>
          <a:noFill/>
          <a:ln/>
        </p:spPr>
        <p:txBody>
          <a:bodyPr wrap="square" lIns="0" tIns="0" rIns="0" bIns="0" rtlCol="0" anchor="t"/>
          <a:lstStyle/>
          <a:p>
            <a:pPr marL="0" indent="0">
              <a:buNone/>
            </a:pPr>
            <a:r>
              <a:rPr lang="en-US" sz="1100" i="1" dirty="0">
                <a:solidFill>
                  <a:schemeClr val="accent5"/>
                </a:solidFill>
              </a:rPr>
              <a:t>Costos de hardware aproximados, sin instalación ni desarrollo. Cotizar en Perú. El escaneo QR de paquetes puede mejorar el conteo de piezas en los tres caminos.</a:t>
            </a:r>
            <a:endParaRPr lang="en-US" sz="11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F6B70"/>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1672" cy="868680"/>
          </a:xfrm>
          <a:prstGeom prst="rect">
            <a:avLst/>
          </a:prstGeom>
          <a:noFill/>
          <a:ln/>
        </p:spPr>
        <p:txBody>
          <a:bodyPr wrap="square" lIns="0" tIns="0" rIns="0" bIns="0" rtlCol="0" anchor="ctr"/>
          <a:lstStyle/>
          <a:p>
            <a:pPr marL="0" indent="0" algn="l">
              <a:buNone/>
            </a:pPr>
            <a:r>
              <a:rPr lang="en-US" sz="3200" b="1" dirty="0">
                <a:solidFill>
                  <a:schemeClr val="tx2"/>
                </a:solidFill>
              </a:rPr>
              <a:t>Matriz morfológica: tres caminos de solución</a:t>
            </a:r>
            <a:endParaRPr lang="en-US" sz="3200" dirty="0"/>
          </a:p>
        </p:txBody>
      </p:sp>
      <p:sp>
        <p:nvSpPr>
          <p:cNvPr id="3" name="leyendaA"/>
          <p:cNvSpPr/>
          <p:nvPr/>
        </p:nvSpPr>
        <p:spPr>
          <a:xfrm>
            <a:off x="9692640" y="384048"/>
            <a:ext cx="219456" cy="219456"/>
          </a:xfrm>
          <a:prstGeom prst="ellipse">
            <a:avLst/>
          </a:prstGeom>
          <a:solidFill>
            <a:schemeClr val="accent1"/>
          </a:solidFill>
          <a:ln/>
        </p:spPr>
      </p:sp>
      <p:sp>
        <p:nvSpPr>
          <p:cNvPr id="4" name="Text 2"/>
          <p:cNvSpPr txBox="1"/>
          <p:nvPr/>
        </p:nvSpPr>
        <p:spPr>
          <a:xfrm>
            <a:off x="9692640" y="384048"/>
            <a:ext cx="219456" cy="219456"/>
          </a:xfrm>
          <a:prstGeom prst="rect">
            <a:avLst/>
          </a:prstGeom>
          <a:noFill/>
          <a:ln/>
        </p:spPr>
        <p:txBody>
          <a:bodyPr wrap="square" lIns="0" tIns="0" rIns="0" bIns="0" rtlCol="0" anchor="ctr"/>
          <a:lstStyle/>
          <a:p>
            <a:pPr marL="0" indent="0" algn="ctr">
              <a:buNone/>
            </a:pPr>
            <a:r>
              <a:rPr lang="en-US" sz="900" b="1" dirty="0">
                <a:solidFill>
                  <a:schemeClr val="bg1"/>
                </a:solidFill>
              </a:rPr>
              <a:t>A</a:t>
            </a:r>
            <a:endParaRPr lang="en-US" sz="900" dirty="0"/>
          </a:p>
        </p:txBody>
      </p:sp>
      <p:sp>
        <p:nvSpPr>
          <p:cNvPr id="5" name="Text 3"/>
          <p:cNvSpPr txBox="1"/>
          <p:nvPr/>
        </p:nvSpPr>
        <p:spPr>
          <a:xfrm>
            <a:off x="10012680" y="365760"/>
            <a:ext cx="1627632" cy="256032"/>
          </a:xfrm>
          <a:prstGeom prst="rect">
            <a:avLst/>
          </a:prstGeom>
          <a:noFill/>
          <a:ln/>
        </p:spPr>
        <p:txBody>
          <a:bodyPr wrap="square" lIns="0" tIns="0" rIns="0" bIns="0" rtlCol="0" anchor="ctr"/>
          <a:lstStyle/>
          <a:p>
            <a:pPr marL="0" indent="0">
              <a:buNone/>
            </a:pPr>
            <a:r>
              <a:rPr lang="en-US" sz="1200" dirty="0">
                <a:solidFill>
                  <a:schemeClr val="tx1"/>
                </a:solidFill>
              </a:rPr>
              <a:t>Low cost</a:t>
            </a:r>
            <a:endParaRPr lang="en-US" sz="1200" dirty="0"/>
          </a:p>
        </p:txBody>
      </p:sp>
      <p:sp>
        <p:nvSpPr>
          <p:cNvPr id="6" name="leyendaB"/>
          <p:cNvSpPr/>
          <p:nvPr/>
        </p:nvSpPr>
        <p:spPr>
          <a:xfrm>
            <a:off x="9692640" y="676656"/>
            <a:ext cx="219456" cy="219456"/>
          </a:xfrm>
          <a:prstGeom prst="ellipse">
            <a:avLst/>
          </a:prstGeom>
          <a:solidFill>
            <a:schemeClr val="accent2"/>
          </a:solidFill>
          <a:ln/>
        </p:spPr>
      </p:sp>
      <p:sp>
        <p:nvSpPr>
          <p:cNvPr id="7" name="Text 5"/>
          <p:cNvSpPr txBox="1"/>
          <p:nvPr/>
        </p:nvSpPr>
        <p:spPr>
          <a:xfrm>
            <a:off x="9692640" y="676656"/>
            <a:ext cx="219456" cy="219456"/>
          </a:xfrm>
          <a:prstGeom prst="rect">
            <a:avLst/>
          </a:prstGeom>
          <a:noFill/>
          <a:ln/>
        </p:spPr>
        <p:txBody>
          <a:bodyPr wrap="square" lIns="0" tIns="0" rIns="0" bIns="0" rtlCol="0" anchor="ctr"/>
          <a:lstStyle/>
          <a:p>
            <a:pPr marL="0" indent="0" algn="ctr">
              <a:buNone/>
            </a:pPr>
            <a:r>
              <a:rPr lang="en-US" sz="900" b="1" dirty="0">
                <a:solidFill>
                  <a:schemeClr val="bg1"/>
                </a:solidFill>
              </a:rPr>
              <a:t>B</a:t>
            </a:r>
            <a:endParaRPr lang="en-US" sz="900" dirty="0"/>
          </a:p>
        </p:txBody>
      </p:sp>
      <p:sp>
        <p:nvSpPr>
          <p:cNvPr id="8" name="Text 6"/>
          <p:cNvSpPr txBox="1"/>
          <p:nvPr/>
        </p:nvSpPr>
        <p:spPr>
          <a:xfrm>
            <a:off x="10012680" y="658368"/>
            <a:ext cx="1627632" cy="256032"/>
          </a:xfrm>
          <a:prstGeom prst="rect">
            <a:avLst/>
          </a:prstGeom>
          <a:noFill/>
          <a:ln/>
        </p:spPr>
        <p:txBody>
          <a:bodyPr wrap="square" lIns="0" tIns="0" rIns="0" bIns="0" rtlCol="0" anchor="ctr"/>
          <a:lstStyle/>
          <a:p>
            <a:pPr marL="0" indent="0">
              <a:buNone/>
            </a:pPr>
            <a:r>
              <a:rPr lang="en-US" sz="1200" dirty="0">
                <a:solidFill>
                  <a:schemeClr val="tx1"/>
                </a:solidFill>
              </a:rPr>
              <a:t>Mixta</a:t>
            </a:r>
            <a:endParaRPr lang="en-US" sz="1200" dirty="0"/>
          </a:p>
        </p:txBody>
      </p:sp>
      <p:sp>
        <p:nvSpPr>
          <p:cNvPr id="9" name="leyendaC"/>
          <p:cNvSpPr/>
          <p:nvPr/>
        </p:nvSpPr>
        <p:spPr>
          <a:xfrm>
            <a:off x="9692640" y="969264"/>
            <a:ext cx="219456" cy="219456"/>
          </a:xfrm>
          <a:prstGeom prst="ellipse">
            <a:avLst/>
          </a:prstGeom>
          <a:solidFill>
            <a:schemeClr val="accent4"/>
          </a:solidFill>
          <a:ln/>
        </p:spPr>
      </p:sp>
      <p:sp>
        <p:nvSpPr>
          <p:cNvPr id="10" name="Text 8"/>
          <p:cNvSpPr txBox="1"/>
          <p:nvPr/>
        </p:nvSpPr>
        <p:spPr>
          <a:xfrm>
            <a:off x="9692640" y="969264"/>
            <a:ext cx="219456" cy="219456"/>
          </a:xfrm>
          <a:prstGeom prst="rect">
            <a:avLst/>
          </a:prstGeom>
          <a:noFill/>
          <a:ln/>
        </p:spPr>
        <p:txBody>
          <a:bodyPr wrap="square" lIns="0" tIns="0" rIns="0" bIns="0" rtlCol="0" anchor="ctr"/>
          <a:lstStyle/>
          <a:p>
            <a:pPr marL="0" indent="0" algn="ctr">
              <a:buNone/>
            </a:pPr>
            <a:r>
              <a:rPr lang="en-US" sz="900" b="1" dirty="0">
                <a:solidFill>
                  <a:schemeClr val="bg1"/>
                </a:solidFill>
              </a:rPr>
              <a:t>C</a:t>
            </a:r>
            <a:endParaRPr lang="en-US" sz="900" dirty="0"/>
          </a:p>
        </p:txBody>
      </p:sp>
      <p:sp>
        <p:nvSpPr>
          <p:cNvPr id="11" name="Text 9"/>
          <p:cNvSpPr txBox="1"/>
          <p:nvPr/>
        </p:nvSpPr>
        <p:spPr>
          <a:xfrm>
            <a:off x="10012680" y="950976"/>
            <a:ext cx="1627632" cy="256032"/>
          </a:xfrm>
          <a:prstGeom prst="rect">
            <a:avLst/>
          </a:prstGeom>
          <a:noFill/>
          <a:ln/>
        </p:spPr>
        <p:txBody>
          <a:bodyPr wrap="square" lIns="0" tIns="0" rIns="0" bIns="0" rtlCol="0" anchor="ctr"/>
          <a:lstStyle/>
          <a:p>
            <a:pPr marL="0" indent="0">
              <a:buNone/>
            </a:pPr>
            <a:r>
              <a:rPr lang="en-US" sz="1200" dirty="0">
                <a:solidFill>
                  <a:schemeClr val="tx1"/>
                </a:solidFill>
              </a:rPr>
              <a:t>Cámara cenital</a:t>
            </a:r>
            <a:endParaRPr lang="en-US" sz="1200" dirty="0"/>
          </a:p>
        </p:txBody>
      </p:sp>
      <p:sp>
        <p:nvSpPr>
          <p:cNvPr id="12" name="funcion0"/>
          <p:cNvSpPr/>
          <p:nvPr/>
        </p:nvSpPr>
        <p:spPr>
          <a:xfrm>
            <a:off x="548640" y="1280160"/>
            <a:ext cx="2057400" cy="484632"/>
          </a:xfrm>
          <a:prstGeom prst="roundRect">
            <a:avLst>
              <a:gd name="adj" fmla="val 18868"/>
            </a:avLst>
          </a:prstGeom>
          <a:solidFill>
            <a:schemeClr val="tx2"/>
          </a:solidFill>
          <a:ln/>
        </p:spPr>
      </p:sp>
      <p:sp>
        <p:nvSpPr>
          <p:cNvPr id="13" name="Text 11"/>
          <p:cNvSpPr txBox="1"/>
          <p:nvPr/>
        </p:nvSpPr>
        <p:spPr>
          <a:xfrm>
            <a:off x="658368" y="1280160"/>
            <a:ext cx="1874520" cy="484632"/>
          </a:xfrm>
          <a:prstGeom prst="rect">
            <a:avLst/>
          </a:prstGeom>
          <a:noFill/>
          <a:ln/>
        </p:spPr>
        <p:txBody>
          <a:bodyPr wrap="square" lIns="0" tIns="0" rIns="0" bIns="0" rtlCol="0" anchor="ctr"/>
          <a:lstStyle/>
          <a:p>
            <a:pPr marL="0" indent="0">
              <a:buNone/>
            </a:pPr>
            <a:r>
              <a:rPr lang="en-US" sz="1300" b="1" dirty="0">
                <a:solidFill>
                  <a:schemeClr val="bg1"/>
                </a:solidFill>
              </a:rPr>
              <a:t>¿La máquina cose?</a:t>
            </a:r>
            <a:endParaRPr lang="en-US" sz="1300" dirty="0"/>
          </a:p>
        </p:txBody>
      </p:sp>
      <p:sp>
        <p:nvSpPr>
          <p:cNvPr id="14" name="op0-0"/>
          <p:cNvSpPr/>
          <p:nvPr/>
        </p:nvSpPr>
        <p:spPr>
          <a:xfrm>
            <a:off x="2660904" y="1280160"/>
            <a:ext cx="2203704" cy="484632"/>
          </a:xfrm>
          <a:prstGeom prst="roundRect">
            <a:avLst>
              <a:gd name="adj" fmla="val 18868"/>
            </a:avLst>
          </a:prstGeom>
          <a:solidFill>
            <a:schemeClr val="bg2"/>
          </a:solidFill>
          <a:ln/>
        </p:spPr>
      </p:sp>
      <p:sp>
        <p:nvSpPr>
          <p:cNvPr id="15" name="Text 13"/>
          <p:cNvSpPr txBox="1"/>
          <p:nvPr/>
        </p:nvSpPr>
        <p:spPr>
          <a:xfrm>
            <a:off x="2752344" y="1280160"/>
            <a:ext cx="1280160" cy="484632"/>
          </a:xfrm>
          <a:prstGeom prst="rect">
            <a:avLst/>
          </a:prstGeom>
          <a:noFill/>
          <a:ln/>
        </p:spPr>
        <p:txBody>
          <a:bodyPr wrap="square" lIns="0" tIns="0" rIns="0" bIns="0" rtlCol="0" anchor="ctr"/>
          <a:lstStyle/>
          <a:p>
            <a:pPr marL="0" indent="0">
              <a:buNone/>
            </a:pPr>
            <a:r>
              <a:rPr lang="en-US" sz="1200" b="1" dirty="0">
                <a:solidFill>
                  <a:schemeClr val="tx1"/>
                </a:solidFill>
              </a:rPr>
              <a:t>Pinza de corriente</a:t>
            </a:r>
            <a:endParaRPr lang="en-US" sz="1200" dirty="0"/>
          </a:p>
        </p:txBody>
      </p:sp>
      <p:sp>
        <p:nvSpPr>
          <p:cNvPr id="16" name="marca0-0-A"/>
          <p:cNvSpPr/>
          <p:nvPr/>
        </p:nvSpPr>
        <p:spPr>
          <a:xfrm>
            <a:off x="4050792" y="1412748"/>
            <a:ext cx="219456" cy="219456"/>
          </a:xfrm>
          <a:prstGeom prst="ellipse">
            <a:avLst/>
          </a:prstGeom>
          <a:solidFill>
            <a:schemeClr val="accent1"/>
          </a:solidFill>
          <a:ln/>
        </p:spPr>
      </p:sp>
      <p:sp>
        <p:nvSpPr>
          <p:cNvPr id="17" name="Text 15"/>
          <p:cNvSpPr txBox="1"/>
          <p:nvPr/>
        </p:nvSpPr>
        <p:spPr>
          <a:xfrm>
            <a:off x="4050792" y="1412748"/>
            <a:ext cx="219456" cy="219456"/>
          </a:xfrm>
          <a:prstGeom prst="rect">
            <a:avLst/>
          </a:prstGeom>
          <a:noFill/>
          <a:ln/>
        </p:spPr>
        <p:txBody>
          <a:bodyPr wrap="square" lIns="0" tIns="0" rIns="0" bIns="0" rtlCol="0" anchor="ctr"/>
          <a:lstStyle/>
          <a:p>
            <a:pPr marL="0" indent="0" algn="ctr">
              <a:buNone/>
            </a:pPr>
            <a:r>
              <a:rPr lang="en-US" sz="900" b="1" dirty="0">
                <a:solidFill>
                  <a:schemeClr val="bg1"/>
                </a:solidFill>
              </a:rPr>
              <a:t>A</a:t>
            </a:r>
            <a:endParaRPr lang="en-US" sz="900" dirty="0"/>
          </a:p>
        </p:txBody>
      </p:sp>
      <p:sp>
        <p:nvSpPr>
          <p:cNvPr id="18" name="marca0-0-B"/>
          <p:cNvSpPr/>
          <p:nvPr/>
        </p:nvSpPr>
        <p:spPr>
          <a:xfrm>
            <a:off x="4297680" y="1412748"/>
            <a:ext cx="219456" cy="219456"/>
          </a:xfrm>
          <a:prstGeom prst="ellipse">
            <a:avLst/>
          </a:prstGeom>
          <a:solidFill>
            <a:schemeClr val="accent2"/>
          </a:solidFill>
          <a:ln/>
        </p:spPr>
      </p:sp>
      <p:sp>
        <p:nvSpPr>
          <p:cNvPr id="19" name="Text 17"/>
          <p:cNvSpPr txBox="1"/>
          <p:nvPr/>
        </p:nvSpPr>
        <p:spPr>
          <a:xfrm>
            <a:off x="4297680" y="1412748"/>
            <a:ext cx="219456" cy="219456"/>
          </a:xfrm>
          <a:prstGeom prst="rect">
            <a:avLst/>
          </a:prstGeom>
          <a:noFill/>
          <a:ln/>
        </p:spPr>
        <p:txBody>
          <a:bodyPr wrap="square" lIns="0" tIns="0" rIns="0" bIns="0" rtlCol="0" anchor="ctr"/>
          <a:lstStyle/>
          <a:p>
            <a:pPr marL="0" indent="0" algn="ctr">
              <a:buNone/>
            </a:pPr>
            <a:r>
              <a:rPr lang="en-US" sz="900" b="1" dirty="0">
                <a:solidFill>
                  <a:schemeClr val="bg1"/>
                </a:solidFill>
              </a:rPr>
              <a:t>B</a:t>
            </a:r>
            <a:endParaRPr lang="en-US" sz="900" dirty="0"/>
          </a:p>
        </p:txBody>
      </p:sp>
      <p:sp>
        <p:nvSpPr>
          <p:cNvPr id="20" name="marca0-0-C"/>
          <p:cNvSpPr/>
          <p:nvPr/>
        </p:nvSpPr>
        <p:spPr>
          <a:xfrm>
            <a:off x="4544568" y="1412748"/>
            <a:ext cx="219456" cy="219456"/>
          </a:xfrm>
          <a:prstGeom prst="ellipse">
            <a:avLst/>
          </a:prstGeom>
          <a:solidFill>
            <a:schemeClr val="accent4"/>
          </a:solidFill>
          <a:ln/>
        </p:spPr>
      </p:sp>
      <p:sp>
        <p:nvSpPr>
          <p:cNvPr id="21" name="Text 19"/>
          <p:cNvSpPr txBox="1"/>
          <p:nvPr/>
        </p:nvSpPr>
        <p:spPr>
          <a:xfrm>
            <a:off x="4544568" y="1412748"/>
            <a:ext cx="219456" cy="219456"/>
          </a:xfrm>
          <a:prstGeom prst="rect">
            <a:avLst/>
          </a:prstGeom>
          <a:noFill/>
          <a:ln/>
        </p:spPr>
        <p:txBody>
          <a:bodyPr wrap="square" lIns="0" tIns="0" rIns="0" bIns="0" rtlCol="0" anchor="ctr"/>
          <a:lstStyle/>
          <a:p>
            <a:pPr marL="0" indent="0" algn="ctr">
              <a:buNone/>
            </a:pPr>
            <a:r>
              <a:rPr lang="en-US" sz="900" b="1" dirty="0">
                <a:solidFill>
                  <a:schemeClr val="bg1"/>
                </a:solidFill>
              </a:rPr>
              <a:t>C</a:t>
            </a:r>
            <a:endParaRPr lang="en-US" sz="900" dirty="0"/>
          </a:p>
        </p:txBody>
      </p:sp>
      <p:sp>
        <p:nvSpPr>
          <p:cNvPr id="22" name="op0-1"/>
          <p:cNvSpPr/>
          <p:nvPr/>
        </p:nvSpPr>
        <p:spPr>
          <a:xfrm>
            <a:off x="4919472" y="1280160"/>
            <a:ext cx="2203704" cy="484632"/>
          </a:xfrm>
          <a:prstGeom prst="roundRect">
            <a:avLst>
              <a:gd name="adj" fmla="val 18868"/>
            </a:avLst>
          </a:prstGeom>
          <a:solidFill>
            <a:schemeClr val="bg1"/>
          </a:solidFill>
          <a:ln w="12700">
            <a:solidFill>
              <a:srgbClr val="EEF4F3"/>
            </a:solidFill>
            <a:prstDash val="solid"/>
          </a:ln>
        </p:spPr>
      </p:sp>
      <p:sp>
        <p:nvSpPr>
          <p:cNvPr id="23" name="Text 21"/>
          <p:cNvSpPr txBox="1"/>
          <p:nvPr/>
        </p:nvSpPr>
        <p:spPr>
          <a:xfrm>
            <a:off x="5010912" y="1280160"/>
            <a:ext cx="2020824" cy="484632"/>
          </a:xfrm>
          <a:prstGeom prst="rect">
            <a:avLst/>
          </a:prstGeom>
          <a:noFill/>
          <a:ln/>
        </p:spPr>
        <p:txBody>
          <a:bodyPr wrap="square" lIns="0" tIns="0" rIns="0" bIns="0" rtlCol="0" anchor="ctr"/>
          <a:lstStyle/>
          <a:p>
            <a:pPr marL="0" indent="0">
              <a:buNone/>
            </a:pPr>
            <a:r>
              <a:rPr lang="en-US" sz="1200" dirty="0">
                <a:solidFill>
                  <a:schemeClr val="accent5"/>
                </a:solidFill>
              </a:rPr>
              <a:t>Señal del pedal o motor</a:t>
            </a:r>
            <a:endParaRPr lang="en-US" sz="1200" dirty="0"/>
          </a:p>
        </p:txBody>
      </p:sp>
      <p:sp>
        <p:nvSpPr>
          <p:cNvPr id="24" name="op0-2"/>
          <p:cNvSpPr/>
          <p:nvPr/>
        </p:nvSpPr>
        <p:spPr>
          <a:xfrm>
            <a:off x="7178040" y="1280160"/>
            <a:ext cx="2203704" cy="484632"/>
          </a:xfrm>
          <a:prstGeom prst="roundRect">
            <a:avLst>
              <a:gd name="adj" fmla="val 18868"/>
            </a:avLst>
          </a:prstGeom>
          <a:solidFill>
            <a:schemeClr val="bg1"/>
          </a:solidFill>
          <a:ln w="12700">
            <a:solidFill>
              <a:srgbClr val="EEF4F3"/>
            </a:solidFill>
            <a:prstDash val="solid"/>
          </a:ln>
        </p:spPr>
      </p:sp>
      <p:sp>
        <p:nvSpPr>
          <p:cNvPr id="25" name="Text 23"/>
          <p:cNvSpPr txBox="1"/>
          <p:nvPr/>
        </p:nvSpPr>
        <p:spPr>
          <a:xfrm>
            <a:off x="7269480" y="1280160"/>
            <a:ext cx="2020824" cy="484632"/>
          </a:xfrm>
          <a:prstGeom prst="rect">
            <a:avLst/>
          </a:prstGeom>
          <a:noFill/>
          <a:ln/>
        </p:spPr>
        <p:txBody>
          <a:bodyPr wrap="square" lIns="0" tIns="0" rIns="0" bIns="0" rtlCol="0" anchor="ctr"/>
          <a:lstStyle/>
          <a:p>
            <a:pPr marL="0" indent="0">
              <a:buNone/>
            </a:pPr>
            <a:r>
              <a:rPr lang="en-US" sz="1200" dirty="0">
                <a:solidFill>
                  <a:schemeClr val="accent5"/>
                </a:solidFill>
              </a:rPr>
              <a:t>Datos del controlador</a:t>
            </a:r>
            <a:endParaRPr lang="en-US" sz="1200" dirty="0"/>
          </a:p>
        </p:txBody>
      </p:sp>
      <p:sp>
        <p:nvSpPr>
          <p:cNvPr id="26" name="op0-3"/>
          <p:cNvSpPr/>
          <p:nvPr/>
        </p:nvSpPr>
        <p:spPr>
          <a:xfrm>
            <a:off x="9436608" y="1280160"/>
            <a:ext cx="2203704" cy="484632"/>
          </a:xfrm>
          <a:prstGeom prst="roundRect">
            <a:avLst>
              <a:gd name="adj" fmla="val 18868"/>
            </a:avLst>
          </a:prstGeom>
          <a:solidFill>
            <a:schemeClr val="bg1"/>
          </a:solidFill>
          <a:ln w="12700">
            <a:solidFill>
              <a:srgbClr val="EEF4F3"/>
            </a:solidFill>
            <a:prstDash val="solid"/>
          </a:ln>
        </p:spPr>
      </p:sp>
      <p:sp>
        <p:nvSpPr>
          <p:cNvPr id="27" name="Text 25"/>
          <p:cNvSpPr txBox="1"/>
          <p:nvPr/>
        </p:nvSpPr>
        <p:spPr>
          <a:xfrm>
            <a:off x="9528048" y="1280160"/>
            <a:ext cx="2020824" cy="484632"/>
          </a:xfrm>
          <a:prstGeom prst="rect">
            <a:avLst/>
          </a:prstGeom>
          <a:noFill/>
          <a:ln/>
        </p:spPr>
        <p:txBody>
          <a:bodyPr wrap="square" lIns="0" tIns="0" rIns="0" bIns="0" rtlCol="0" anchor="ctr"/>
          <a:lstStyle/>
          <a:p>
            <a:pPr marL="0" indent="0">
              <a:buNone/>
            </a:pPr>
            <a:r>
              <a:rPr lang="en-US" sz="1200" dirty="0">
                <a:solidFill>
                  <a:schemeClr val="accent5"/>
                </a:solidFill>
              </a:rPr>
              <a:t>Visión de la aguja</a:t>
            </a:r>
            <a:endParaRPr lang="en-US" sz="1200" dirty="0"/>
          </a:p>
        </p:txBody>
      </p:sp>
      <p:sp>
        <p:nvSpPr>
          <p:cNvPr id="28" name="funcion1"/>
          <p:cNvSpPr/>
          <p:nvPr/>
        </p:nvSpPr>
        <p:spPr>
          <a:xfrm>
            <a:off x="548640" y="1810512"/>
            <a:ext cx="2057400" cy="484632"/>
          </a:xfrm>
          <a:prstGeom prst="roundRect">
            <a:avLst>
              <a:gd name="adj" fmla="val 18868"/>
            </a:avLst>
          </a:prstGeom>
          <a:solidFill>
            <a:schemeClr val="tx2"/>
          </a:solidFill>
          <a:ln/>
        </p:spPr>
      </p:sp>
      <p:sp>
        <p:nvSpPr>
          <p:cNvPr id="29" name="Text 27"/>
          <p:cNvSpPr txBox="1"/>
          <p:nvPr/>
        </p:nvSpPr>
        <p:spPr>
          <a:xfrm>
            <a:off x="658368" y="1810512"/>
            <a:ext cx="1874520" cy="484632"/>
          </a:xfrm>
          <a:prstGeom prst="rect">
            <a:avLst/>
          </a:prstGeom>
          <a:noFill/>
          <a:ln/>
        </p:spPr>
        <p:txBody>
          <a:bodyPr wrap="square" lIns="0" tIns="0" rIns="0" bIns="0" rtlCol="0" anchor="ctr"/>
          <a:lstStyle/>
          <a:p>
            <a:pPr marL="0" indent="0">
              <a:buNone/>
            </a:pPr>
            <a:r>
              <a:rPr lang="en-US" sz="1300" b="1" dirty="0">
                <a:solidFill>
                  <a:schemeClr val="bg1"/>
                </a:solidFill>
              </a:rPr>
              <a:t>¿Está la operaria?</a:t>
            </a:r>
            <a:endParaRPr lang="en-US" sz="1300" dirty="0"/>
          </a:p>
        </p:txBody>
      </p:sp>
      <p:sp>
        <p:nvSpPr>
          <p:cNvPr id="30" name="op1-0"/>
          <p:cNvSpPr/>
          <p:nvPr/>
        </p:nvSpPr>
        <p:spPr>
          <a:xfrm>
            <a:off x="2660904" y="1810512"/>
            <a:ext cx="2203704" cy="484632"/>
          </a:xfrm>
          <a:prstGeom prst="roundRect">
            <a:avLst>
              <a:gd name="adj" fmla="val 18868"/>
            </a:avLst>
          </a:prstGeom>
          <a:solidFill>
            <a:schemeClr val="bg2"/>
          </a:solidFill>
          <a:ln/>
        </p:spPr>
      </p:sp>
      <p:sp>
        <p:nvSpPr>
          <p:cNvPr id="31" name="Text 29"/>
          <p:cNvSpPr txBox="1"/>
          <p:nvPr/>
        </p:nvSpPr>
        <p:spPr>
          <a:xfrm>
            <a:off x="2752344" y="1810512"/>
            <a:ext cx="1527048" cy="484632"/>
          </a:xfrm>
          <a:prstGeom prst="rect">
            <a:avLst/>
          </a:prstGeom>
          <a:noFill/>
          <a:ln/>
        </p:spPr>
        <p:txBody>
          <a:bodyPr wrap="square" lIns="0" tIns="0" rIns="0" bIns="0" rtlCol="0" anchor="ctr"/>
          <a:lstStyle/>
          <a:p>
            <a:pPr marL="0" indent="0">
              <a:buNone/>
            </a:pPr>
            <a:r>
              <a:rPr lang="en-US" sz="1200" b="1" dirty="0">
                <a:solidFill>
                  <a:schemeClr val="tx1"/>
                </a:solidFill>
              </a:rPr>
              <a:t>Radar mmWave</a:t>
            </a:r>
            <a:endParaRPr lang="en-US" sz="1200" dirty="0"/>
          </a:p>
        </p:txBody>
      </p:sp>
      <p:sp>
        <p:nvSpPr>
          <p:cNvPr id="32" name="marca1-0-A"/>
          <p:cNvSpPr/>
          <p:nvPr/>
        </p:nvSpPr>
        <p:spPr>
          <a:xfrm>
            <a:off x="4297680" y="1943100"/>
            <a:ext cx="219456" cy="219456"/>
          </a:xfrm>
          <a:prstGeom prst="ellipse">
            <a:avLst/>
          </a:prstGeom>
          <a:solidFill>
            <a:schemeClr val="accent1"/>
          </a:solidFill>
          <a:ln/>
        </p:spPr>
      </p:sp>
      <p:sp>
        <p:nvSpPr>
          <p:cNvPr id="33" name="Text 31"/>
          <p:cNvSpPr txBox="1"/>
          <p:nvPr/>
        </p:nvSpPr>
        <p:spPr>
          <a:xfrm>
            <a:off x="4297680" y="1943100"/>
            <a:ext cx="219456" cy="219456"/>
          </a:xfrm>
          <a:prstGeom prst="rect">
            <a:avLst/>
          </a:prstGeom>
          <a:noFill/>
          <a:ln/>
        </p:spPr>
        <p:txBody>
          <a:bodyPr wrap="square" lIns="0" tIns="0" rIns="0" bIns="0" rtlCol="0" anchor="ctr"/>
          <a:lstStyle/>
          <a:p>
            <a:pPr marL="0" indent="0" algn="ctr">
              <a:buNone/>
            </a:pPr>
            <a:r>
              <a:rPr lang="en-US" sz="900" b="1" dirty="0">
                <a:solidFill>
                  <a:schemeClr val="bg1"/>
                </a:solidFill>
              </a:rPr>
              <a:t>A</a:t>
            </a:r>
            <a:endParaRPr lang="en-US" sz="900" dirty="0"/>
          </a:p>
        </p:txBody>
      </p:sp>
      <p:sp>
        <p:nvSpPr>
          <p:cNvPr id="34" name="marca1-0-B"/>
          <p:cNvSpPr/>
          <p:nvPr/>
        </p:nvSpPr>
        <p:spPr>
          <a:xfrm>
            <a:off x="4544568" y="1943100"/>
            <a:ext cx="219456" cy="219456"/>
          </a:xfrm>
          <a:prstGeom prst="ellipse">
            <a:avLst/>
          </a:prstGeom>
          <a:solidFill>
            <a:schemeClr val="accent2"/>
          </a:solidFill>
          <a:ln/>
        </p:spPr>
      </p:sp>
      <p:sp>
        <p:nvSpPr>
          <p:cNvPr id="35" name="Text 33"/>
          <p:cNvSpPr txBox="1"/>
          <p:nvPr/>
        </p:nvSpPr>
        <p:spPr>
          <a:xfrm>
            <a:off x="4544568" y="1943100"/>
            <a:ext cx="219456" cy="219456"/>
          </a:xfrm>
          <a:prstGeom prst="rect">
            <a:avLst/>
          </a:prstGeom>
          <a:noFill/>
          <a:ln/>
        </p:spPr>
        <p:txBody>
          <a:bodyPr wrap="square" lIns="0" tIns="0" rIns="0" bIns="0" rtlCol="0" anchor="ctr"/>
          <a:lstStyle/>
          <a:p>
            <a:pPr marL="0" indent="0" algn="ctr">
              <a:buNone/>
            </a:pPr>
            <a:r>
              <a:rPr lang="en-US" sz="900" b="1" dirty="0">
                <a:solidFill>
                  <a:schemeClr val="bg1"/>
                </a:solidFill>
              </a:rPr>
              <a:t>B</a:t>
            </a:r>
            <a:endParaRPr lang="en-US" sz="900" dirty="0"/>
          </a:p>
        </p:txBody>
      </p:sp>
      <p:sp>
        <p:nvSpPr>
          <p:cNvPr id="36" name="op1-1"/>
          <p:cNvSpPr/>
          <p:nvPr/>
        </p:nvSpPr>
        <p:spPr>
          <a:xfrm>
            <a:off x="4919472" y="1810512"/>
            <a:ext cx="2203704" cy="484632"/>
          </a:xfrm>
          <a:prstGeom prst="roundRect">
            <a:avLst>
              <a:gd name="adj" fmla="val 18868"/>
            </a:avLst>
          </a:prstGeom>
          <a:solidFill>
            <a:schemeClr val="bg1"/>
          </a:solidFill>
          <a:ln w="12700">
            <a:solidFill>
              <a:srgbClr val="EEF4F3"/>
            </a:solidFill>
            <a:prstDash val="solid"/>
          </a:ln>
        </p:spPr>
      </p:sp>
      <p:sp>
        <p:nvSpPr>
          <p:cNvPr id="37" name="Text 35"/>
          <p:cNvSpPr txBox="1"/>
          <p:nvPr/>
        </p:nvSpPr>
        <p:spPr>
          <a:xfrm>
            <a:off x="5010912" y="1810512"/>
            <a:ext cx="2020824" cy="484632"/>
          </a:xfrm>
          <a:prstGeom prst="rect">
            <a:avLst/>
          </a:prstGeom>
          <a:noFill/>
          <a:ln/>
        </p:spPr>
        <p:txBody>
          <a:bodyPr wrap="square" lIns="0" tIns="0" rIns="0" bIns="0" rtlCol="0" anchor="ctr"/>
          <a:lstStyle/>
          <a:p>
            <a:pPr marL="0" indent="0">
              <a:buNone/>
            </a:pPr>
            <a:r>
              <a:rPr lang="en-US" sz="1200" dirty="0">
                <a:solidFill>
                  <a:schemeClr val="accent5"/>
                </a:solidFill>
              </a:rPr>
              <a:t>Sensor PIR</a:t>
            </a:r>
            <a:endParaRPr lang="en-US" sz="1200" dirty="0"/>
          </a:p>
        </p:txBody>
      </p:sp>
      <p:sp>
        <p:nvSpPr>
          <p:cNvPr id="38" name="op1-2"/>
          <p:cNvSpPr/>
          <p:nvPr/>
        </p:nvSpPr>
        <p:spPr>
          <a:xfrm>
            <a:off x="7178040" y="1810512"/>
            <a:ext cx="2203704" cy="484632"/>
          </a:xfrm>
          <a:prstGeom prst="roundRect">
            <a:avLst>
              <a:gd name="adj" fmla="val 18868"/>
            </a:avLst>
          </a:prstGeom>
          <a:solidFill>
            <a:schemeClr val="bg2"/>
          </a:solidFill>
          <a:ln/>
        </p:spPr>
      </p:sp>
      <p:sp>
        <p:nvSpPr>
          <p:cNvPr id="39" name="Text 37"/>
          <p:cNvSpPr txBox="1"/>
          <p:nvPr/>
        </p:nvSpPr>
        <p:spPr>
          <a:xfrm>
            <a:off x="7269480" y="1810512"/>
            <a:ext cx="1773936" cy="484632"/>
          </a:xfrm>
          <a:prstGeom prst="rect">
            <a:avLst/>
          </a:prstGeom>
          <a:noFill/>
          <a:ln/>
        </p:spPr>
        <p:txBody>
          <a:bodyPr wrap="square" lIns="0" tIns="0" rIns="0" bIns="0" rtlCol="0" anchor="ctr"/>
          <a:lstStyle/>
          <a:p>
            <a:pPr marL="0" indent="0">
              <a:buNone/>
            </a:pPr>
            <a:r>
              <a:rPr lang="en-US" sz="1200" b="1" dirty="0">
                <a:solidFill>
                  <a:schemeClr val="tx1"/>
                </a:solidFill>
              </a:rPr>
              <a:t>Cámara cenital</a:t>
            </a:r>
            <a:endParaRPr lang="en-US" sz="1200" dirty="0"/>
          </a:p>
        </p:txBody>
      </p:sp>
      <p:sp>
        <p:nvSpPr>
          <p:cNvPr id="40" name="marca1-2-C"/>
          <p:cNvSpPr/>
          <p:nvPr/>
        </p:nvSpPr>
        <p:spPr>
          <a:xfrm>
            <a:off x="9061704" y="1943100"/>
            <a:ext cx="219456" cy="219456"/>
          </a:xfrm>
          <a:prstGeom prst="ellipse">
            <a:avLst/>
          </a:prstGeom>
          <a:solidFill>
            <a:schemeClr val="accent4"/>
          </a:solidFill>
          <a:ln/>
        </p:spPr>
      </p:sp>
      <p:sp>
        <p:nvSpPr>
          <p:cNvPr id="41" name="Text 39"/>
          <p:cNvSpPr txBox="1"/>
          <p:nvPr/>
        </p:nvSpPr>
        <p:spPr>
          <a:xfrm>
            <a:off x="9061704" y="1943100"/>
            <a:ext cx="219456" cy="219456"/>
          </a:xfrm>
          <a:prstGeom prst="rect">
            <a:avLst/>
          </a:prstGeom>
          <a:noFill/>
          <a:ln/>
        </p:spPr>
        <p:txBody>
          <a:bodyPr wrap="square" lIns="0" tIns="0" rIns="0" bIns="0" rtlCol="0" anchor="ctr"/>
          <a:lstStyle/>
          <a:p>
            <a:pPr marL="0" indent="0" algn="ctr">
              <a:buNone/>
            </a:pPr>
            <a:r>
              <a:rPr lang="en-US" sz="900" b="1" dirty="0">
                <a:solidFill>
                  <a:schemeClr val="bg1"/>
                </a:solidFill>
              </a:rPr>
              <a:t>C</a:t>
            </a:r>
            <a:endParaRPr lang="en-US" sz="900" dirty="0"/>
          </a:p>
        </p:txBody>
      </p:sp>
      <p:sp>
        <p:nvSpPr>
          <p:cNvPr id="42" name="op1-3"/>
          <p:cNvSpPr/>
          <p:nvPr/>
        </p:nvSpPr>
        <p:spPr>
          <a:xfrm>
            <a:off x="9436608" y="1810512"/>
            <a:ext cx="2203704" cy="484632"/>
          </a:xfrm>
          <a:prstGeom prst="roundRect">
            <a:avLst>
              <a:gd name="adj" fmla="val 18868"/>
            </a:avLst>
          </a:prstGeom>
          <a:solidFill>
            <a:schemeClr val="bg1"/>
          </a:solidFill>
          <a:ln w="12700">
            <a:solidFill>
              <a:srgbClr val="EEF4F3"/>
            </a:solidFill>
            <a:prstDash val="solid"/>
          </a:ln>
        </p:spPr>
      </p:sp>
      <p:sp>
        <p:nvSpPr>
          <p:cNvPr id="43" name="Text 41"/>
          <p:cNvSpPr txBox="1"/>
          <p:nvPr/>
        </p:nvSpPr>
        <p:spPr>
          <a:xfrm>
            <a:off x="9528048" y="1810512"/>
            <a:ext cx="2020824" cy="484632"/>
          </a:xfrm>
          <a:prstGeom prst="rect">
            <a:avLst/>
          </a:prstGeom>
          <a:noFill/>
          <a:ln/>
        </p:spPr>
        <p:txBody>
          <a:bodyPr wrap="square" lIns="0" tIns="0" rIns="0" bIns="0" rtlCol="0" anchor="ctr"/>
          <a:lstStyle/>
          <a:p>
            <a:pPr marL="0" indent="0">
              <a:buNone/>
            </a:pPr>
            <a:r>
              <a:rPr lang="en-US" sz="1200" dirty="0">
                <a:solidFill>
                  <a:schemeClr val="accent5"/>
                </a:solidFill>
              </a:rPr>
              <a:t>Tarjeta RFID (descartada)</a:t>
            </a:r>
            <a:endParaRPr lang="en-US" sz="1200" dirty="0"/>
          </a:p>
        </p:txBody>
      </p:sp>
      <p:sp>
        <p:nvSpPr>
          <p:cNvPr id="44" name="funcion2"/>
          <p:cNvSpPr/>
          <p:nvPr/>
        </p:nvSpPr>
        <p:spPr>
          <a:xfrm>
            <a:off x="548640" y="2340864"/>
            <a:ext cx="2057400" cy="484632"/>
          </a:xfrm>
          <a:prstGeom prst="roundRect">
            <a:avLst>
              <a:gd name="adj" fmla="val 18868"/>
            </a:avLst>
          </a:prstGeom>
          <a:solidFill>
            <a:schemeClr val="tx2"/>
          </a:solidFill>
          <a:ln/>
        </p:spPr>
      </p:sp>
      <p:sp>
        <p:nvSpPr>
          <p:cNvPr id="45" name="Text 43"/>
          <p:cNvSpPr txBox="1"/>
          <p:nvPr/>
        </p:nvSpPr>
        <p:spPr>
          <a:xfrm>
            <a:off x="658368" y="2340864"/>
            <a:ext cx="1874520" cy="484632"/>
          </a:xfrm>
          <a:prstGeom prst="rect">
            <a:avLst/>
          </a:prstGeom>
          <a:noFill/>
          <a:ln/>
        </p:spPr>
        <p:txBody>
          <a:bodyPr wrap="square" lIns="0" tIns="0" rIns="0" bIns="0" rtlCol="0" anchor="ctr"/>
          <a:lstStyle/>
          <a:p>
            <a:pPr marL="0" indent="0">
              <a:buNone/>
            </a:pPr>
            <a:r>
              <a:rPr lang="en-US" sz="1300" b="1" dirty="0">
                <a:solidFill>
                  <a:schemeClr val="bg1"/>
                </a:solidFill>
              </a:rPr>
              <a:t>¿Trabaja o está quieta?</a:t>
            </a:r>
            <a:endParaRPr lang="en-US" sz="1300" dirty="0"/>
          </a:p>
        </p:txBody>
      </p:sp>
      <p:sp>
        <p:nvSpPr>
          <p:cNvPr id="46" name="op2-0"/>
          <p:cNvSpPr/>
          <p:nvPr/>
        </p:nvSpPr>
        <p:spPr>
          <a:xfrm>
            <a:off x="2660904" y="2340864"/>
            <a:ext cx="2203704" cy="484632"/>
          </a:xfrm>
          <a:prstGeom prst="roundRect">
            <a:avLst>
              <a:gd name="adj" fmla="val 18868"/>
            </a:avLst>
          </a:prstGeom>
          <a:solidFill>
            <a:schemeClr val="bg2"/>
          </a:solidFill>
          <a:ln/>
        </p:spPr>
      </p:sp>
      <p:sp>
        <p:nvSpPr>
          <p:cNvPr id="47" name="Text 45"/>
          <p:cNvSpPr txBox="1"/>
          <p:nvPr/>
        </p:nvSpPr>
        <p:spPr>
          <a:xfrm>
            <a:off x="2752344" y="2340864"/>
            <a:ext cx="1773936" cy="484632"/>
          </a:xfrm>
          <a:prstGeom prst="rect">
            <a:avLst/>
          </a:prstGeom>
          <a:noFill/>
          <a:ln/>
        </p:spPr>
        <p:txBody>
          <a:bodyPr wrap="square" lIns="0" tIns="0" rIns="0" bIns="0" rtlCol="0" anchor="ctr"/>
          <a:lstStyle/>
          <a:p>
            <a:pPr marL="0" indent="0">
              <a:buNone/>
            </a:pPr>
            <a:r>
              <a:rPr lang="en-US" sz="1200" b="1" dirty="0">
                <a:solidFill>
                  <a:schemeClr val="tx1"/>
                </a:solidFill>
              </a:rPr>
              <a:t>No se mide</a:t>
            </a:r>
            <a:endParaRPr lang="en-US" sz="1200" dirty="0"/>
          </a:p>
        </p:txBody>
      </p:sp>
      <p:sp>
        <p:nvSpPr>
          <p:cNvPr id="48" name="marca2-0-A"/>
          <p:cNvSpPr/>
          <p:nvPr/>
        </p:nvSpPr>
        <p:spPr>
          <a:xfrm>
            <a:off x="4544568" y="2473452"/>
            <a:ext cx="219456" cy="219456"/>
          </a:xfrm>
          <a:prstGeom prst="ellipse">
            <a:avLst/>
          </a:prstGeom>
          <a:solidFill>
            <a:schemeClr val="accent1"/>
          </a:solidFill>
          <a:ln/>
        </p:spPr>
      </p:sp>
      <p:sp>
        <p:nvSpPr>
          <p:cNvPr id="49" name="Text 47"/>
          <p:cNvSpPr txBox="1"/>
          <p:nvPr/>
        </p:nvSpPr>
        <p:spPr>
          <a:xfrm>
            <a:off x="4544568" y="2473452"/>
            <a:ext cx="219456" cy="219456"/>
          </a:xfrm>
          <a:prstGeom prst="rect">
            <a:avLst/>
          </a:prstGeom>
          <a:noFill/>
          <a:ln/>
        </p:spPr>
        <p:txBody>
          <a:bodyPr wrap="square" lIns="0" tIns="0" rIns="0" bIns="0" rtlCol="0" anchor="ctr"/>
          <a:lstStyle/>
          <a:p>
            <a:pPr marL="0" indent="0" algn="ctr">
              <a:buNone/>
            </a:pPr>
            <a:r>
              <a:rPr lang="en-US" sz="900" b="1" dirty="0">
                <a:solidFill>
                  <a:schemeClr val="bg1"/>
                </a:solidFill>
              </a:rPr>
              <a:t>A</a:t>
            </a:r>
            <a:endParaRPr lang="en-US" sz="900" dirty="0"/>
          </a:p>
        </p:txBody>
      </p:sp>
      <p:sp>
        <p:nvSpPr>
          <p:cNvPr id="50" name="op2-1"/>
          <p:cNvSpPr/>
          <p:nvPr/>
        </p:nvSpPr>
        <p:spPr>
          <a:xfrm>
            <a:off x="4919472" y="2340864"/>
            <a:ext cx="2203704" cy="484632"/>
          </a:xfrm>
          <a:prstGeom prst="roundRect">
            <a:avLst>
              <a:gd name="adj" fmla="val 18868"/>
            </a:avLst>
          </a:prstGeom>
          <a:solidFill>
            <a:schemeClr val="bg2"/>
          </a:solidFill>
          <a:ln/>
        </p:spPr>
      </p:sp>
      <p:sp>
        <p:nvSpPr>
          <p:cNvPr id="51" name="Text 49"/>
          <p:cNvSpPr txBox="1"/>
          <p:nvPr/>
        </p:nvSpPr>
        <p:spPr>
          <a:xfrm>
            <a:off x="5010912" y="2340864"/>
            <a:ext cx="1773936" cy="484632"/>
          </a:xfrm>
          <a:prstGeom prst="rect">
            <a:avLst/>
          </a:prstGeom>
          <a:noFill/>
          <a:ln/>
        </p:spPr>
        <p:txBody>
          <a:bodyPr wrap="square" lIns="0" tIns="0" rIns="0" bIns="0" rtlCol="0" anchor="ctr"/>
          <a:lstStyle/>
          <a:p>
            <a:pPr marL="0" indent="0">
              <a:buNone/>
            </a:pPr>
            <a:r>
              <a:rPr lang="en-US" sz="1200" b="1" dirty="0">
                <a:solidFill>
                  <a:schemeClr val="tx1"/>
                </a:solidFill>
              </a:rPr>
              <a:t>Fotos en paradas largas</a:t>
            </a:r>
            <a:endParaRPr lang="en-US" sz="1200" dirty="0"/>
          </a:p>
        </p:txBody>
      </p:sp>
      <p:sp>
        <p:nvSpPr>
          <p:cNvPr id="52" name="marca2-1-B"/>
          <p:cNvSpPr/>
          <p:nvPr/>
        </p:nvSpPr>
        <p:spPr>
          <a:xfrm>
            <a:off x="6803136" y="2473452"/>
            <a:ext cx="219456" cy="219456"/>
          </a:xfrm>
          <a:prstGeom prst="ellipse">
            <a:avLst/>
          </a:prstGeom>
          <a:solidFill>
            <a:schemeClr val="accent2"/>
          </a:solidFill>
          <a:ln/>
        </p:spPr>
      </p:sp>
      <p:sp>
        <p:nvSpPr>
          <p:cNvPr id="53" name="Text 51"/>
          <p:cNvSpPr txBox="1"/>
          <p:nvPr/>
        </p:nvSpPr>
        <p:spPr>
          <a:xfrm>
            <a:off x="6803136" y="2473452"/>
            <a:ext cx="219456" cy="219456"/>
          </a:xfrm>
          <a:prstGeom prst="rect">
            <a:avLst/>
          </a:prstGeom>
          <a:noFill/>
          <a:ln/>
        </p:spPr>
        <p:txBody>
          <a:bodyPr wrap="square" lIns="0" tIns="0" rIns="0" bIns="0" rtlCol="0" anchor="ctr"/>
          <a:lstStyle/>
          <a:p>
            <a:pPr marL="0" indent="0" algn="ctr">
              <a:buNone/>
            </a:pPr>
            <a:r>
              <a:rPr lang="en-US" sz="900" b="1" dirty="0">
                <a:solidFill>
                  <a:schemeClr val="bg1"/>
                </a:solidFill>
              </a:rPr>
              <a:t>B</a:t>
            </a:r>
            <a:endParaRPr lang="en-US" sz="900" dirty="0"/>
          </a:p>
        </p:txBody>
      </p:sp>
      <p:sp>
        <p:nvSpPr>
          <p:cNvPr id="54" name="op2-2"/>
          <p:cNvSpPr/>
          <p:nvPr/>
        </p:nvSpPr>
        <p:spPr>
          <a:xfrm>
            <a:off x="7178040" y="2340864"/>
            <a:ext cx="2203704" cy="484632"/>
          </a:xfrm>
          <a:prstGeom prst="roundRect">
            <a:avLst>
              <a:gd name="adj" fmla="val 18868"/>
            </a:avLst>
          </a:prstGeom>
          <a:solidFill>
            <a:schemeClr val="bg2"/>
          </a:solidFill>
          <a:ln/>
        </p:spPr>
      </p:sp>
      <p:sp>
        <p:nvSpPr>
          <p:cNvPr id="55" name="Text 53"/>
          <p:cNvSpPr txBox="1"/>
          <p:nvPr/>
        </p:nvSpPr>
        <p:spPr>
          <a:xfrm>
            <a:off x="7269480" y="2340864"/>
            <a:ext cx="1773936" cy="484632"/>
          </a:xfrm>
          <a:prstGeom prst="rect">
            <a:avLst/>
          </a:prstGeom>
          <a:noFill/>
          <a:ln/>
        </p:spPr>
        <p:txBody>
          <a:bodyPr wrap="square" lIns="0" tIns="0" rIns="0" bIns="0" rtlCol="0" anchor="ctr"/>
          <a:lstStyle/>
          <a:p>
            <a:pPr marL="0" indent="0">
              <a:buNone/>
            </a:pPr>
            <a:r>
              <a:rPr lang="en-US" sz="1200" b="1" dirty="0">
                <a:solidFill>
                  <a:schemeClr val="tx1"/>
                </a:solidFill>
              </a:rPr>
              <a:t>Movimiento de manos</a:t>
            </a:r>
            <a:endParaRPr lang="en-US" sz="1200" dirty="0"/>
          </a:p>
        </p:txBody>
      </p:sp>
      <p:sp>
        <p:nvSpPr>
          <p:cNvPr id="56" name="marca2-2-C"/>
          <p:cNvSpPr/>
          <p:nvPr/>
        </p:nvSpPr>
        <p:spPr>
          <a:xfrm>
            <a:off x="9061704" y="2473452"/>
            <a:ext cx="219456" cy="219456"/>
          </a:xfrm>
          <a:prstGeom prst="ellipse">
            <a:avLst/>
          </a:prstGeom>
          <a:solidFill>
            <a:schemeClr val="accent4"/>
          </a:solidFill>
          <a:ln/>
        </p:spPr>
      </p:sp>
      <p:sp>
        <p:nvSpPr>
          <p:cNvPr id="57" name="Text 55"/>
          <p:cNvSpPr txBox="1"/>
          <p:nvPr/>
        </p:nvSpPr>
        <p:spPr>
          <a:xfrm>
            <a:off x="9061704" y="2473452"/>
            <a:ext cx="219456" cy="219456"/>
          </a:xfrm>
          <a:prstGeom prst="rect">
            <a:avLst/>
          </a:prstGeom>
          <a:noFill/>
          <a:ln/>
        </p:spPr>
        <p:txBody>
          <a:bodyPr wrap="square" lIns="0" tIns="0" rIns="0" bIns="0" rtlCol="0" anchor="ctr"/>
          <a:lstStyle/>
          <a:p>
            <a:pPr marL="0" indent="0" algn="ctr">
              <a:buNone/>
            </a:pPr>
            <a:r>
              <a:rPr lang="en-US" sz="900" b="1" dirty="0">
                <a:solidFill>
                  <a:schemeClr val="bg1"/>
                </a:solidFill>
              </a:rPr>
              <a:t>C</a:t>
            </a:r>
            <a:endParaRPr lang="en-US" sz="900" dirty="0"/>
          </a:p>
        </p:txBody>
      </p:sp>
      <p:sp>
        <p:nvSpPr>
          <p:cNvPr id="58" name="op2-3"/>
          <p:cNvSpPr/>
          <p:nvPr/>
        </p:nvSpPr>
        <p:spPr>
          <a:xfrm>
            <a:off x="9436608" y="2340864"/>
            <a:ext cx="2203704" cy="484632"/>
          </a:xfrm>
          <a:prstGeom prst="roundRect">
            <a:avLst>
              <a:gd name="adj" fmla="val 18868"/>
            </a:avLst>
          </a:prstGeom>
          <a:solidFill>
            <a:schemeClr val="bg1"/>
          </a:solidFill>
          <a:ln w="12700">
            <a:solidFill>
              <a:srgbClr val="EEF4F3"/>
            </a:solidFill>
            <a:prstDash val="solid"/>
          </a:ln>
        </p:spPr>
      </p:sp>
      <p:sp>
        <p:nvSpPr>
          <p:cNvPr id="59" name="Text 57"/>
          <p:cNvSpPr txBox="1"/>
          <p:nvPr/>
        </p:nvSpPr>
        <p:spPr>
          <a:xfrm>
            <a:off x="9528048" y="2340864"/>
            <a:ext cx="2020824" cy="484632"/>
          </a:xfrm>
          <a:prstGeom prst="rect">
            <a:avLst/>
          </a:prstGeom>
          <a:noFill/>
          <a:ln/>
        </p:spPr>
        <p:txBody>
          <a:bodyPr wrap="square" lIns="0" tIns="0" rIns="0" bIns="0" rtlCol="0" anchor="ctr"/>
          <a:lstStyle/>
          <a:p>
            <a:pPr marL="0" indent="0">
              <a:buNone/>
            </a:pPr>
            <a:r>
              <a:rPr lang="en-US" sz="1200" dirty="0">
                <a:solidFill>
                  <a:schemeClr val="accent5"/>
                </a:solidFill>
              </a:rPr>
              <a:t>Acciones detalladas</a:t>
            </a:r>
            <a:endParaRPr lang="en-US" sz="1200" dirty="0"/>
          </a:p>
        </p:txBody>
      </p:sp>
      <p:sp>
        <p:nvSpPr>
          <p:cNvPr id="60" name="funcion3"/>
          <p:cNvSpPr/>
          <p:nvPr/>
        </p:nvSpPr>
        <p:spPr>
          <a:xfrm>
            <a:off x="548640" y="2871216"/>
            <a:ext cx="2057400" cy="484632"/>
          </a:xfrm>
          <a:prstGeom prst="roundRect">
            <a:avLst>
              <a:gd name="adj" fmla="val 18868"/>
            </a:avLst>
          </a:prstGeom>
          <a:solidFill>
            <a:schemeClr val="tx2"/>
          </a:solidFill>
          <a:ln/>
        </p:spPr>
      </p:sp>
      <p:sp>
        <p:nvSpPr>
          <p:cNvPr id="61" name="Text 59"/>
          <p:cNvSpPr txBox="1"/>
          <p:nvPr/>
        </p:nvSpPr>
        <p:spPr>
          <a:xfrm>
            <a:off x="658368" y="2871216"/>
            <a:ext cx="1874520" cy="484632"/>
          </a:xfrm>
          <a:prstGeom prst="rect">
            <a:avLst/>
          </a:prstGeom>
          <a:noFill/>
          <a:ln/>
        </p:spPr>
        <p:txBody>
          <a:bodyPr wrap="square" lIns="0" tIns="0" rIns="0" bIns="0" rtlCol="0" anchor="ctr"/>
          <a:lstStyle/>
          <a:p>
            <a:pPr marL="0" indent="0">
              <a:buNone/>
            </a:pPr>
            <a:r>
              <a:rPr lang="en-US" sz="1300" b="1" dirty="0">
                <a:solidFill>
                  <a:schemeClr val="bg1"/>
                </a:solidFill>
              </a:rPr>
              <a:t>¿Por qué paró?</a:t>
            </a:r>
            <a:endParaRPr lang="en-US" sz="1300" dirty="0"/>
          </a:p>
        </p:txBody>
      </p:sp>
      <p:sp>
        <p:nvSpPr>
          <p:cNvPr id="62" name="op3-0"/>
          <p:cNvSpPr/>
          <p:nvPr/>
        </p:nvSpPr>
        <p:spPr>
          <a:xfrm>
            <a:off x="2660904" y="2871216"/>
            <a:ext cx="2203704" cy="484632"/>
          </a:xfrm>
          <a:prstGeom prst="roundRect">
            <a:avLst>
              <a:gd name="adj" fmla="val 18868"/>
            </a:avLst>
          </a:prstGeom>
          <a:solidFill>
            <a:schemeClr val="bg2"/>
          </a:solidFill>
          <a:ln/>
        </p:spPr>
      </p:sp>
      <p:sp>
        <p:nvSpPr>
          <p:cNvPr id="63" name="Text 61"/>
          <p:cNvSpPr txBox="1"/>
          <p:nvPr/>
        </p:nvSpPr>
        <p:spPr>
          <a:xfrm>
            <a:off x="2752344" y="2871216"/>
            <a:ext cx="1527048" cy="484632"/>
          </a:xfrm>
          <a:prstGeom prst="rect">
            <a:avLst/>
          </a:prstGeom>
          <a:noFill/>
          <a:ln/>
        </p:spPr>
        <p:txBody>
          <a:bodyPr wrap="square" lIns="0" tIns="0" rIns="0" bIns="0" rtlCol="0" anchor="ctr"/>
          <a:lstStyle/>
          <a:p>
            <a:pPr marL="0" indent="0">
              <a:buNone/>
            </a:pPr>
            <a:r>
              <a:rPr lang="en-US" sz="1200" b="1" dirty="0">
                <a:solidFill>
                  <a:schemeClr val="tx1"/>
                </a:solidFill>
              </a:rPr>
              <a:t>Botones en la máquina</a:t>
            </a:r>
            <a:endParaRPr lang="en-US" sz="1200" dirty="0"/>
          </a:p>
        </p:txBody>
      </p:sp>
      <p:sp>
        <p:nvSpPr>
          <p:cNvPr id="64" name="marca3-0-A"/>
          <p:cNvSpPr/>
          <p:nvPr/>
        </p:nvSpPr>
        <p:spPr>
          <a:xfrm>
            <a:off x="4297680" y="3003804"/>
            <a:ext cx="219456" cy="219456"/>
          </a:xfrm>
          <a:prstGeom prst="ellipse">
            <a:avLst/>
          </a:prstGeom>
          <a:solidFill>
            <a:schemeClr val="accent1"/>
          </a:solidFill>
          <a:ln/>
        </p:spPr>
      </p:sp>
      <p:sp>
        <p:nvSpPr>
          <p:cNvPr id="65" name="Text 63"/>
          <p:cNvSpPr txBox="1"/>
          <p:nvPr/>
        </p:nvSpPr>
        <p:spPr>
          <a:xfrm>
            <a:off x="4297680" y="3003804"/>
            <a:ext cx="219456" cy="219456"/>
          </a:xfrm>
          <a:prstGeom prst="rect">
            <a:avLst/>
          </a:prstGeom>
          <a:noFill/>
          <a:ln/>
        </p:spPr>
        <p:txBody>
          <a:bodyPr wrap="square" lIns="0" tIns="0" rIns="0" bIns="0" rtlCol="0" anchor="ctr"/>
          <a:lstStyle/>
          <a:p>
            <a:pPr marL="0" indent="0" algn="ctr">
              <a:buNone/>
            </a:pPr>
            <a:r>
              <a:rPr lang="en-US" sz="900" b="1" dirty="0">
                <a:solidFill>
                  <a:schemeClr val="bg1"/>
                </a:solidFill>
              </a:rPr>
              <a:t>A</a:t>
            </a:r>
            <a:endParaRPr lang="en-US" sz="900" dirty="0"/>
          </a:p>
        </p:txBody>
      </p:sp>
      <p:sp>
        <p:nvSpPr>
          <p:cNvPr id="66" name="marca3-0-C"/>
          <p:cNvSpPr/>
          <p:nvPr/>
        </p:nvSpPr>
        <p:spPr>
          <a:xfrm>
            <a:off x="4544568" y="3003804"/>
            <a:ext cx="219456" cy="219456"/>
          </a:xfrm>
          <a:prstGeom prst="ellipse">
            <a:avLst/>
          </a:prstGeom>
          <a:solidFill>
            <a:schemeClr val="accent4"/>
          </a:solidFill>
          <a:ln/>
        </p:spPr>
      </p:sp>
      <p:sp>
        <p:nvSpPr>
          <p:cNvPr id="67" name="Text 65"/>
          <p:cNvSpPr txBox="1"/>
          <p:nvPr/>
        </p:nvSpPr>
        <p:spPr>
          <a:xfrm>
            <a:off x="4544568" y="3003804"/>
            <a:ext cx="219456" cy="219456"/>
          </a:xfrm>
          <a:prstGeom prst="rect">
            <a:avLst/>
          </a:prstGeom>
          <a:noFill/>
          <a:ln/>
        </p:spPr>
        <p:txBody>
          <a:bodyPr wrap="square" lIns="0" tIns="0" rIns="0" bIns="0" rtlCol="0" anchor="ctr"/>
          <a:lstStyle/>
          <a:p>
            <a:pPr marL="0" indent="0" algn="ctr">
              <a:buNone/>
            </a:pPr>
            <a:r>
              <a:rPr lang="en-US" sz="900" b="1" dirty="0">
                <a:solidFill>
                  <a:schemeClr val="bg1"/>
                </a:solidFill>
              </a:rPr>
              <a:t>C</a:t>
            </a:r>
            <a:endParaRPr lang="en-US" sz="900" dirty="0"/>
          </a:p>
        </p:txBody>
      </p:sp>
      <p:sp>
        <p:nvSpPr>
          <p:cNvPr id="68" name="op3-1"/>
          <p:cNvSpPr/>
          <p:nvPr/>
        </p:nvSpPr>
        <p:spPr>
          <a:xfrm>
            <a:off x="4919472" y="2871216"/>
            <a:ext cx="2203704" cy="484632"/>
          </a:xfrm>
          <a:prstGeom prst="roundRect">
            <a:avLst>
              <a:gd name="adj" fmla="val 18868"/>
            </a:avLst>
          </a:prstGeom>
          <a:solidFill>
            <a:schemeClr val="bg1"/>
          </a:solidFill>
          <a:ln w="12700">
            <a:solidFill>
              <a:srgbClr val="EEF4F3"/>
            </a:solidFill>
            <a:prstDash val="solid"/>
          </a:ln>
        </p:spPr>
      </p:sp>
      <p:sp>
        <p:nvSpPr>
          <p:cNvPr id="69" name="Text 67"/>
          <p:cNvSpPr txBox="1"/>
          <p:nvPr/>
        </p:nvSpPr>
        <p:spPr>
          <a:xfrm>
            <a:off x="5010912" y="2871216"/>
            <a:ext cx="2020824" cy="484632"/>
          </a:xfrm>
          <a:prstGeom prst="rect">
            <a:avLst/>
          </a:prstGeom>
          <a:noFill/>
          <a:ln/>
        </p:spPr>
        <p:txBody>
          <a:bodyPr wrap="square" lIns="0" tIns="0" rIns="0" bIns="0" rtlCol="0" anchor="ctr"/>
          <a:lstStyle/>
          <a:p>
            <a:pPr marL="0" indent="0">
              <a:buNone/>
            </a:pPr>
            <a:r>
              <a:rPr lang="en-US" sz="1200" dirty="0">
                <a:solidFill>
                  <a:schemeClr val="accent5"/>
                </a:solidFill>
              </a:rPr>
              <a:t>Tablet del supervisor</a:t>
            </a:r>
            <a:endParaRPr lang="en-US" sz="1200" dirty="0"/>
          </a:p>
        </p:txBody>
      </p:sp>
      <p:sp>
        <p:nvSpPr>
          <p:cNvPr id="70" name="op3-2"/>
          <p:cNvSpPr/>
          <p:nvPr/>
        </p:nvSpPr>
        <p:spPr>
          <a:xfrm>
            <a:off x="7178040" y="2871216"/>
            <a:ext cx="2203704" cy="484632"/>
          </a:xfrm>
          <a:prstGeom prst="roundRect">
            <a:avLst>
              <a:gd name="adj" fmla="val 18868"/>
            </a:avLst>
          </a:prstGeom>
          <a:solidFill>
            <a:schemeClr val="bg1"/>
          </a:solidFill>
          <a:ln w="12700">
            <a:solidFill>
              <a:srgbClr val="EEF4F3"/>
            </a:solidFill>
            <a:prstDash val="solid"/>
          </a:ln>
        </p:spPr>
      </p:sp>
      <p:sp>
        <p:nvSpPr>
          <p:cNvPr id="71" name="Text 69"/>
          <p:cNvSpPr txBox="1"/>
          <p:nvPr/>
        </p:nvSpPr>
        <p:spPr>
          <a:xfrm>
            <a:off x="7269480" y="2871216"/>
            <a:ext cx="2020824" cy="484632"/>
          </a:xfrm>
          <a:prstGeom prst="rect">
            <a:avLst/>
          </a:prstGeom>
          <a:noFill/>
          <a:ln/>
        </p:spPr>
        <p:txBody>
          <a:bodyPr wrap="square" lIns="0" tIns="0" rIns="0" bIns="0" rtlCol="0" anchor="ctr"/>
          <a:lstStyle/>
          <a:p>
            <a:pPr marL="0" indent="0">
              <a:buNone/>
            </a:pPr>
            <a:r>
              <a:rPr lang="en-US" sz="1200" dirty="0">
                <a:solidFill>
                  <a:schemeClr val="accent5"/>
                </a:solidFill>
              </a:rPr>
              <a:t>Inferencia por línea</a:t>
            </a:r>
            <a:endParaRPr lang="en-US" sz="1200" dirty="0"/>
          </a:p>
        </p:txBody>
      </p:sp>
      <p:sp>
        <p:nvSpPr>
          <p:cNvPr id="72" name="op3-3"/>
          <p:cNvSpPr/>
          <p:nvPr/>
        </p:nvSpPr>
        <p:spPr>
          <a:xfrm>
            <a:off x="9436608" y="2871216"/>
            <a:ext cx="2203704" cy="484632"/>
          </a:xfrm>
          <a:prstGeom prst="roundRect">
            <a:avLst>
              <a:gd name="adj" fmla="val 18868"/>
            </a:avLst>
          </a:prstGeom>
          <a:solidFill>
            <a:schemeClr val="bg2"/>
          </a:solidFill>
          <a:ln/>
        </p:spPr>
      </p:sp>
      <p:sp>
        <p:nvSpPr>
          <p:cNvPr id="73" name="Text 71"/>
          <p:cNvSpPr txBox="1"/>
          <p:nvPr/>
        </p:nvSpPr>
        <p:spPr>
          <a:xfrm>
            <a:off x="9528048" y="2871216"/>
            <a:ext cx="1773936" cy="484632"/>
          </a:xfrm>
          <a:prstGeom prst="rect">
            <a:avLst/>
          </a:prstGeom>
          <a:noFill/>
          <a:ln/>
        </p:spPr>
        <p:txBody>
          <a:bodyPr wrap="square" lIns="0" tIns="0" rIns="0" bIns="0" rtlCol="0" anchor="ctr"/>
          <a:lstStyle/>
          <a:p>
            <a:pPr marL="0" indent="0">
              <a:buNone/>
            </a:pPr>
            <a:r>
              <a:rPr lang="en-US" sz="1200" b="1" dirty="0">
                <a:solidFill>
                  <a:schemeClr val="tx1"/>
                </a:solidFill>
              </a:rPr>
              <a:t>Cámara clasifica</a:t>
            </a:r>
            <a:endParaRPr lang="en-US" sz="1200" dirty="0"/>
          </a:p>
        </p:txBody>
      </p:sp>
      <p:sp>
        <p:nvSpPr>
          <p:cNvPr id="74" name="marca3-3-B"/>
          <p:cNvSpPr/>
          <p:nvPr/>
        </p:nvSpPr>
        <p:spPr>
          <a:xfrm>
            <a:off x="11320272" y="3003804"/>
            <a:ext cx="219456" cy="219456"/>
          </a:xfrm>
          <a:prstGeom prst="ellipse">
            <a:avLst/>
          </a:prstGeom>
          <a:solidFill>
            <a:schemeClr val="accent2"/>
          </a:solidFill>
          <a:ln/>
        </p:spPr>
      </p:sp>
      <p:sp>
        <p:nvSpPr>
          <p:cNvPr id="75" name="Text 73"/>
          <p:cNvSpPr txBox="1"/>
          <p:nvPr/>
        </p:nvSpPr>
        <p:spPr>
          <a:xfrm>
            <a:off x="11320272" y="3003804"/>
            <a:ext cx="219456" cy="219456"/>
          </a:xfrm>
          <a:prstGeom prst="rect">
            <a:avLst/>
          </a:prstGeom>
          <a:noFill/>
          <a:ln/>
        </p:spPr>
        <p:txBody>
          <a:bodyPr wrap="square" lIns="0" tIns="0" rIns="0" bIns="0" rtlCol="0" anchor="ctr"/>
          <a:lstStyle/>
          <a:p>
            <a:pPr marL="0" indent="0" algn="ctr">
              <a:buNone/>
            </a:pPr>
            <a:r>
              <a:rPr lang="en-US" sz="900" b="1" dirty="0">
                <a:solidFill>
                  <a:schemeClr val="bg1"/>
                </a:solidFill>
              </a:rPr>
              <a:t>B</a:t>
            </a:r>
            <a:endParaRPr lang="en-US" sz="900" dirty="0"/>
          </a:p>
        </p:txBody>
      </p:sp>
      <p:sp>
        <p:nvSpPr>
          <p:cNvPr id="76" name="funcion4"/>
          <p:cNvSpPr/>
          <p:nvPr/>
        </p:nvSpPr>
        <p:spPr>
          <a:xfrm>
            <a:off x="548640" y="3401568"/>
            <a:ext cx="2057400" cy="484632"/>
          </a:xfrm>
          <a:prstGeom prst="roundRect">
            <a:avLst>
              <a:gd name="adj" fmla="val 18868"/>
            </a:avLst>
          </a:prstGeom>
          <a:solidFill>
            <a:schemeClr val="tx2"/>
          </a:solidFill>
          <a:ln/>
        </p:spPr>
      </p:sp>
      <p:sp>
        <p:nvSpPr>
          <p:cNvPr id="77" name="Text 75"/>
          <p:cNvSpPr txBox="1"/>
          <p:nvPr/>
        </p:nvSpPr>
        <p:spPr>
          <a:xfrm>
            <a:off x="658368" y="3401568"/>
            <a:ext cx="1874520" cy="484632"/>
          </a:xfrm>
          <a:prstGeom prst="rect">
            <a:avLst/>
          </a:prstGeom>
          <a:noFill/>
          <a:ln/>
        </p:spPr>
        <p:txBody>
          <a:bodyPr wrap="square" lIns="0" tIns="0" rIns="0" bIns="0" rtlCol="0" anchor="ctr"/>
          <a:lstStyle/>
          <a:p>
            <a:pPr marL="0" indent="0">
              <a:buNone/>
            </a:pPr>
            <a:r>
              <a:rPr lang="en-US" sz="1300" b="1" dirty="0">
                <a:solidFill>
                  <a:schemeClr val="bg1"/>
                </a:solidFill>
              </a:rPr>
              <a:t>¿Cuántas piezas?</a:t>
            </a:r>
            <a:endParaRPr lang="en-US" sz="1300" dirty="0"/>
          </a:p>
        </p:txBody>
      </p:sp>
      <p:sp>
        <p:nvSpPr>
          <p:cNvPr id="78" name="op4-0"/>
          <p:cNvSpPr/>
          <p:nvPr/>
        </p:nvSpPr>
        <p:spPr>
          <a:xfrm>
            <a:off x="2660904" y="3401568"/>
            <a:ext cx="2203704" cy="484632"/>
          </a:xfrm>
          <a:prstGeom prst="roundRect">
            <a:avLst>
              <a:gd name="adj" fmla="val 18868"/>
            </a:avLst>
          </a:prstGeom>
          <a:solidFill>
            <a:schemeClr val="bg1"/>
          </a:solidFill>
          <a:ln w="12700">
            <a:solidFill>
              <a:srgbClr val="EEF4F3"/>
            </a:solidFill>
            <a:prstDash val="solid"/>
          </a:ln>
        </p:spPr>
      </p:sp>
      <p:sp>
        <p:nvSpPr>
          <p:cNvPr id="79" name="Text 77"/>
          <p:cNvSpPr txBox="1"/>
          <p:nvPr/>
        </p:nvSpPr>
        <p:spPr>
          <a:xfrm>
            <a:off x="2752344" y="3401568"/>
            <a:ext cx="2020824" cy="484632"/>
          </a:xfrm>
          <a:prstGeom prst="rect">
            <a:avLst/>
          </a:prstGeom>
          <a:noFill/>
          <a:ln/>
        </p:spPr>
        <p:txBody>
          <a:bodyPr wrap="square" lIns="0" tIns="0" rIns="0" bIns="0" rtlCol="0" anchor="ctr"/>
          <a:lstStyle/>
          <a:p>
            <a:pPr marL="0" indent="0">
              <a:buNone/>
            </a:pPr>
            <a:r>
              <a:rPr lang="en-US" sz="1200" dirty="0">
                <a:solidFill>
                  <a:schemeClr val="accent5"/>
                </a:solidFill>
              </a:rPr>
              <a:t>Tickets manuales</a:t>
            </a:r>
            <a:endParaRPr lang="en-US" sz="1200" dirty="0"/>
          </a:p>
        </p:txBody>
      </p:sp>
      <p:sp>
        <p:nvSpPr>
          <p:cNvPr id="80" name="op4-1"/>
          <p:cNvSpPr/>
          <p:nvPr/>
        </p:nvSpPr>
        <p:spPr>
          <a:xfrm>
            <a:off x="4919472" y="3401568"/>
            <a:ext cx="2203704" cy="484632"/>
          </a:xfrm>
          <a:prstGeom prst="roundRect">
            <a:avLst>
              <a:gd name="adj" fmla="val 18868"/>
            </a:avLst>
          </a:prstGeom>
          <a:solidFill>
            <a:schemeClr val="bg2"/>
          </a:solidFill>
          <a:ln/>
        </p:spPr>
      </p:sp>
      <p:sp>
        <p:nvSpPr>
          <p:cNvPr id="81" name="Text 79"/>
          <p:cNvSpPr txBox="1"/>
          <p:nvPr/>
        </p:nvSpPr>
        <p:spPr>
          <a:xfrm>
            <a:off x="5010912" y="3401568"/>
            <a:ext cx="1280160" cy="484632"/>
          </a:xfrm>
          <a:prstGeom prst="rect">
            <a:avLst/>
          </a:prstGeom>
          <a:noFill/>
          <a:ln/>
        </p:spPr>
        <p:txBody>
          <a:bodyPr wrap="square" lIns="0" tIns="0" rIns="0" bIns="0" rtlCol="0" anchor="ctr"/>
          <a:lstStyle/>
          <a:p>
            <a:pPr marL="0" indent="0">
              <a:buNone/>
            </a:pPr>
            <a:r>
              <a:rPr lang="en-US" sz="1200" b="1" dirty="0">
                <a:solidFill>
                  <a:schemeClr val="tx1"/>
                </a:solidFill>
              </a:rPr>
              <a:t>Patrón de corriente</a:t>
            </a:r>
            <a:endParaRPr lang="en-US" sz="1200" dirty="0"/>
          </a:p>
        </p:txBody>
      </p:sp>
      <p:sp>
        <p:nvSpPr>
          <p:cNvPr id="82" name="marca4-1-A"/>
          <p:cNvSpPr/>
          <p:nvPr/>
        </p:nvSpPr>
        <p:spPr>
          <a:xfrm>
            <a:off x="6309360" y="3534156"/>
            <a:ext cx="219456" cy="219456"/>
          </a:xfrm>
          <a:prstGeom prst="ellipse">
            <a:avLst/>
          </a:prstGeom>
          <a:solidFill>
            <a:schemeClr val="accent1"/>
          </a:solidFill>
          <a:ln/>
        </p:spPr>
      </p:sp>
      <p:sp>
        <p:nvSpPr>
          <p:cNvPr id="83" name="Text 81"/>
          <p:cNvSpPr txBox="1"/>
          <p:nvPr/>
        </p:nvSpPr>
        <p:spPr>
          <a:xfrm>
            <a:off x="6309360" y="3534156"/>
            <a:ext cx="219456" cy="219456"/>
          </a:xfrm>
          <a:prstGeom prst="rect">
            <a:avLst/>
          </a:prstGeom>
          <a:noFill/>
          <a:ln/>
        </p:spPr>
        <p:txBody>
          <a:bodyPr wrap="square" lIns="0" tIns="0" rIns="0" bIns="0" rtlCol="0" anchor="ctr"/>
          <a:lstStyle/>
          <a:p>
            <a:pPr marL="0" indent="0" algn="ctr">
              <a:buNone/>
            </a:pPr>
            <a:r>
              <a:rPr lang="en-US" sz="900" b="1" dirty="0">
                <a:solidFill>
                  <a:schemeClr val="bg1"/>
                </a:solidFill>
              </a:rPr>
              <a:t>A</a:t>
            </a:r>
            <a:endParaRPr lang="en-US" sz="900" dirty="0"/>
          </a:p>
        </p:txBody>
      </p:sp>
      <p:sp>
        <p:nvSpPr>
          <p:cNvPr id="84" name="marca4-1-B"/>
          <p:cNvSpPr/>
          <p:nvPr/>
        </p:nvSpPr>
        <p:spPr>
          <a:xfrm>
            <a:off x="6556248" y="3534156"/>
            <a:ext cx="219456" cy="219456"/>
          </a:xfrm>
          <a:prstGeom prst="ellipse">
            <a:avLst/>
          </a:prstGeom>
          <a:solidFill>
            <a:schemeClr val="accent2"/>
          </a:solidFill>
          <a:ln/>
        </p:spPr>
      </p:sp>
      <p:sp>
        <p:nvSpPr>
          <p:cNvPr id="85" name="Text 83"/>
          <p:cNvSpPr txBox="1"/>
          <p:nvPr/>
        </p:nvSpPr>
        <p:spPr>
          <a:xfrm>
            <a:off x="6556248" y="3534156"/>
            <a:ext cx="219456" cy="219456"/>
          </a:xfrm>
          <a:prstGeom prst="rect">
            <a:avLst/>
          </a:prstGeom>
          <a:noFill/>
          <a:ln/>
        </p:spPr>
        <p:txBody>
          <a:bodyPr wrap="square" lIns="0" tIns="0" rIns="0" bIns="0" rtlCol="0" anchor="ctr"/>
          <a:lstStyle/>
          <a:p>
            <a:pPr marL="0" indent="0" algn="ctr">
              <a:buNone/>
            </a:pPr>
            <a:r>
              <a:rPr lang="en-US" sz="900" b="1" dirty="0">
                <a:solidFill>
                  <a:schemeClr val="bg1"/>
                </a:solidFill>
              </a:rPr>
              <a:t>B</a:t>
            </a:r>
            <a:endParaRPr lang="en-US" sz="900" dirty="0"/>
          </a:p>
        </p:txBody>
      </p:sp>
      <p:sp>
        <p:nvSpPr>
          <p:cNvPr id="86" name="marca4-1-C"/>
          <p:cNvSpPr/>
          <p:nvPr/>
        </p:nvSpPr>
        <p:spPr>
          <a:xfrm>
            <a:off x="6803136" y="3534156"/>
            <a:ext cx="219456" cy="219456"/>
          </a:xfrm>
          <a:prstGeom prst="ellipse">
            <a:avLst/>
          </a:prstGeom>
          <a:solidFill>
            <a:schemeClr val="accent4"/>
          </a:solidFill>
          <a:ln/>
        </p:spPr>
      </p:sp>
      <p:sp>
        <p:nvSpPr>
          <p:cNvPr id="87" name="Text 85"/>
          <p:cNvSpPr txBox="1"/>
          <p:nvPr/>
        </p:nvSpPr>
        <p:spPr>
          <a:xfrm>
            <a:off x="6803136" y="3534156"/>
            <a:ext cx="219456" cy="219456"/>
          </a:xfrm>
          <a:prstGeom prst="rect">
            <a:avLst/>
          </a:prstGeom>
          <a:noFill/>
          <a:ln/>
        </p:spPr>
        <p:txBody>
          <a:bodyPr wrap="square" lIns="0" tIns="0" rIns="0" bIns="0" rtlCol="0" anchor="ctr"/>
          <a:lstStyle/>
          <a:p>
            <a:pPr marL="0" indent="0" algn="ctr">
              <a:buNone/>
            </a:pPr>
            <a:r>
              <a:rPr lang="en-US" sz="900" b="1" dirty="0">
                <a:solidFill>
                  <a:schemeClr val="bg1"/>
                </a:solidFill>
              </a:rPr>
              <a:t>C</a:t>
            </a:r>
            <a:endParaRPr lang="en-US" sz="900" dirty="0"/>
          </a:p>
        </p:txBody>
      </p:sp>
      <p:sp>
        <p:nvSpPr>
          <p:cNvPr id="88" name="op4-2"/>
          <p:cNvSpPr/>
          <p:nvPr/>
        </p:nvSpPr>
        <p:spPr>
          <a:xfrm>
            <a:off x="7178040" y="3401568"/>
            <a:ext cx="2203704" cy="484632"/>
          </a:xfrm>
          <a:prstGeom prst="roundRect">
            <a:avLst>
              <a:gd name="adj" fmla="val 18868"/>
            </a:avLst>
          </a:prstGeom>
          <a:solidFill>
            <a:schemeClr val="bg1"/>
          </a:solidFill>
          <a:ln w="12700">
            <a:solidFill>
              <a:srgbClr val="EEF4F3"/>
            </a:solidFill>
            <a:prstDash val="solid"/>
          </a:ln>
        </p:spPr>
      </p:sp>
      <p:sp>
        <p:nvSpPr>
          <p:cNvPr id="89" name="Text 87"/>
          <p:cNvSpPr txBox="1"/>
          <p:nvPr/>
        </p:nvSpPr>
        <p:spPr>
          <a:xfrm>
            <a:off x="7269480" y="3401568"/>
            <a:ext cx="2020824" cy="484632"/>
          </a:xfrm>
          <a:prstGeom prst="rect">
            <a:avLst/>
          </a:prstGeom>
          <a:noFill/>
          <a:ln/>
        </p:spPr>
        <p:txBody>
          <a:bodyPr wrap="square" lIns="0" tIns="0" rIns="0" bIns="0" rtlCol="0" anchor="ctr"/>
          <a:lstStyle/>
          <a:p>
            <a:pPr marL="0" indent="0">
              <a:buNone/>
            </a:pPr>
            <a:r>
              <a:rPr lang="en-US" sz="1200" dirty="0">
                <a:solidFill>
                  <a:schemeClr val="accent5"/>
                </a:solidFill>
              </a:rPr>
              <a:t>Escaneo QR de paquetes</a:t>
            </a:r>
            <a:endParaRPr lang="en-US" sz="1200" dirty="0"/>
          </a:p>
        </p:txBody>
      </p:sp>
      <p:sp>
        <p:nvSpPr>
          <p:cNvPr id="90" name="op4-3"/>
          <p:cNvSpPr/>
          <p:nvPr/>
        </p:nvSpPr>
        <p:spPr>
          <a:xfrm>
            <a:off x="9436608" y="3401568"/>
            <a:ext cx="2203704" cy="484632"/>
          </a:xfrm>
          <a:prstGeom prst="roundRect">
            <a:avLst>
              <a:gd name="adj" fmla="val 18868"/>
            </a:avLst>
          </a:prstGeom>
          <a:solidFill>
            <a:schemeClr val="bg1"/>
          </a:solidFill>
          <a:ln w="12700">
            <a:solidFill>
              <a:srgbClr val="EEF4F3"/>
            </a:solidFill>
            <a:prstDash val="solid"/>
          </a:ln>
        </p:spPr>
      </p:sp>
      <p:sp>
        <p:nvSpPr>
          <p:cNvPr id="91" name="Text 89"/>
          <p:cNvSpPr txBox="1"/>
          <p:nvPr/>
        </p:nvSpPr>
        <p:spPr>
          <a:xfrm>
            <a:off x="9528048" y="3401568"/>
            <a:ext cx="2020824" cy="484632"/>
          </a:xfrm>
          <a:prstGeom prst="rect">
            <a:avLst/>
          </a:prstGeom>
          <a:noFill/>
          <a:ln/>
        </p:spPr>
        <p:txBody>
          <a:bodyPr wrap="square" lIns="0" tIns="0" rIns="0" bIns="0" rtlCol="0" anchor="ctr"/>
          <a:lstStyle/>
          <a:p>
            <a:pPr marL="0" indent="0">
              <a:buNone/>
            </a:pPr>
            <a:r>
              <a:rPr lang="en-US" sz="1200" dirty="0">
                <a:solidFill>
                  <a:schemeClr val="accent5"/>
                </a:solidFill>
              </a:rPr>
              <a:t>Cámara en zona de entrega</a:t>
            </a:r>
            <a:endParaRPr lang="en-US" sz="1200" dirty="0"/>
          </a:p>
        </p:txBody>
      </p:sp>
      <p:sp>
        <p:nvSpPr>
          <p:cNvPr id="92" name="funcion5"/>
          <p:cNvSpPr/>
          <p:nvPr/>
        </p:nvSpPr>
        <p:spPr>
          <a:xfrm>
            <a:off x="548640" y="3931920"/>
            <a:ext cx="2057400" cy="484632"/>
          </a:xfrm>
          <a:prstGeom prst="roundRect">
            <a:avLst>
              <a:gd name="adj" fmla="val 18868"/>
            </a:avLst>
          </a:prstGeom>
          <a:solidFill>
            <a:schemeClr val="tx2"/>
          </a:solidFill>
          <a:ln/>
        </p:spPr>
      </p:sp>
      <p:sp>
        <p:nvSpPr>
          <p:cNvPr id="93" name="Text 91"/>
          <p:cNvSpPr txBox="1"/>
          <p:nvPr/>
        </p:nvSpPr>
        <p:spPr>
          <a:xfrm>
            <a:off x="658368" y="3931920"/>
            <a:ext cx="1874520" cy="484632"/>
          </a:xfrm>
          <a:prstGeom prst="rect">
            <a:avLst/>
          </a:prstGeom>
          <a:noFill/>
          <a:ln/>
        </p:spPr>
        <p:txBody>
          <a:bodyPr wrap="square" lIns="0" tIns="0" rIns="0" bIns="0" rtlCol="0" anchor="ctr"/>
          <a:lstStyle/>
          <a:p>
            <a:pPr marL="0" indent="0">
              <a:buNone/>
            </a:pPr>
            <a:r>
              <a:rPr lang="en-US" sz="1300" b="1" dirty="0">
                <a:solidFill>
                  <a:schemeClr val="bg1"/>
                </a:solidFill>
              </a:rPr>
              <a:t>Equipo en el puesto</a:t>
            </a:r>
            <a:endParaRPr lang="en-US" sz="1300" dirty="0"/>
          </a:p>
        </p:txBody>
      </p:sp>
      <p:sp>
        <p:nvSpPr>
          <p:cNvPr id="94" name="op5-0"/>
          <p:cNvSpPr/>
          <p:nvPr/>
        </p:nvSpPr>
        <p:spPr>
          <a:xfrm>
            <a:off x="2660904" y="3931920"/>
            <a:ext cx="2203704" cy="484632"/>
          </a:xfrm>
          <a:prstGeom prst="roundRect">
            <a:avLst>
              <a:gd name="adj" fmla="val 18868"/>
            </a:avLst>
          </a:prstGeom>
          <a:solidFill>
            <a:schemeClr val="bg2"/>
          </a:solidFill>
          <a:ln/>
        </p:spPr>
      </p:sp>
      <p:sp>
        <p:nvSpPr>
          <p:cNvPr id="95" name="Text 93"/>
          <p:cNvSpPr txBox="1"/>
          <p:nvPr/>
        </p:nvSpPr>
        <p:spPr>
          <a:xfrm>
            <a:off x="2752344" y="3931920"/>
            <a:ext cx="1527048" cy="484632"/>
          </a:xfrm>
          <a:prstGeom prst="rect">
            <a:avLst/>
          </a:prstGeom>
          <a:noFill/>
          <a:ln/>
        </p:spPr>
        <p:txBody>
          <a:bodyPr wrap="square" lIns="0" tIns="0" rIns="0" bIns="0" rtlCol="0" anchor="ctr"/>
          <a:lstStyle/>
          <a:p>
            <a:pPr marL="0" indent="0">
              <a:buNone/>
            </a:pPr>
            <a:r>
              <a:rPr lang="en-US" sz="1200" b="1" dirty="0">
                <a:solidFill>
                  <a:schemeClr val="tx1"/>
                </a:solidFill>
              </a:rPr>
              <a:t>ESP32 con WiFi</a:t>
            </a:r>
            <a:endParaRPr lang="en-US" sz="1200" dirty="0"/>
          </a:p>
        </p:txBody>
      </p:sp>
      <p:sp>
        <p:nvSpPr>
          <p:cNvPr id="96" name="marca5-0-A"/>
          <p:cNvSpPr/>
          <p:nvPr/>
        </p:nvSpPr>
        <p:spPr>
          <a:xfrm>
            <a:off x="4297680" y="4064508"/>
            <a:ext cx="219456" cy="219456"/>
          </a:xfrm>
          <a:prstGeom prst="ellipse">
            <a:avLst/>
          </a:prstGeom>
          <a:solidFill>
            <a:schemeClr val="accent1"/>
          </a:solidFill>
          <a:ln/>
        </p:spPr>
      </p:sp>
      <p:sp>
        <p:nvSpPr>
          <p:cNvPr id="97" name="Text 95"/>
          <p:cNvSpPr txBox="1"/>
          <p:nvPr/>
        </p:nvSpPr>
        <p:spPr>
          <a:xfrm>
            <a:off x="4297680" y="4064508"/>
            <a:ext cx="219456" cy="219456"/>
          </a:xfrm>
          <a:prstGeom prst="rect">
            <a:avLst/>
          </a:prstGeom>
          <a:noFill/>
          <a:ln/>
        </p:spPr>
        <p:txBody>
          <a:bodyPr wrap="square" lIns="0" tIns="0" rIns="0" bIns="0" rtlCol="0" anchor="ctr"/>
          <a:lstStyle/>
          <a:p>
            <a:pPr marL="0" indent="0" algn="ctr">
              <a:buNone/>
            </a:pPr>
            <a:r>
              <a:rPr lang="en-US" sz="900" b="1" dirty="0">
                <a:solidFill>
                  <a:schemeClr val="bg1"/>
                </a:solidFill>
              </a:rPr>
              <a:t>A</a:t>
            </a:r>
            <a:endParaRPr lang="en-US" sz="900" dirty="0"/>
          </a:p>
        </p:txBody>
      </p:sp>
      <p:sp>
        <p:nvSpPr>
          <p:cNvPr id="98" name="marca5-0-C"/>
          <p:cNvSpPr/>
          <p:nvPr/>
        </p:nvSpPr>
        <p:spPr>
          <a:xfrm>
            <a:off x="4544568" y="4064508"/>
            <a:ext cx="219456" cy="219456"/>
          </a:xfrm>
          <a:prstGeom prst="ellipse">
            <a:avLst/>
          </a:prstGeom>
          <a:solidFill>
            <a:schemeClr val="accent4"/>
          </a:solidFill>
          <a:ln/>
        </p:spPr>
      </p:sp>
      <p:sp>
        <p:nvSpPr>
          <p:cNvPr id="99" name="Text 97"/>
          <p:cNvSpPr txBox="1"/>
          <p:nvPr/>
        </p:nvSpPr>
        <p:spPr>
          <a:xfrm>
            <a:off x="4544568" y="4064508"/>
            <a:ext cx="219456" cy="219456"/>
          </a:xfrm>
          <a:prstGeom prst="rect">
            <a:avLst/>
          </a:prstGeom>
          <a:noFill/>
          <a:ln/>
        </p:spPr>
        <p:txBody>
          <a:bodyPr wrap="square" lIns="0" tIns="0" rIns="0" bIns="0" rtlCol="0" anchor="ctr"/>
          <a:lstStyle/>
          <a:p>
            <a:pPr marL="0" indent="0" algn="ctr">
              <a:buNone/>
            </a:pPr>
            <a:r>
              <a:rPr lang="en-US" sz="900" b="1" dirty="0">
                <a:solidFill>
                  <a:schemeClr val="bg1"/>
                </a:solidFill>
              </a:rPr>
              <a:t>C</a:t>
            </a:r>
            <a:endParaRPr lang="en-US" sz="900" dirty="0"/>
          </a:p>
        </p:txBody>
      </p:sp>
      <p:sp>
        <p:nvSpPr>
          <p:cNvPr id="100" name="op5-1"/>
          <p:cNvSpPr/>
          <p:nvPr/>
        </p:nvSpPr>
        <p:spPr>
          <a:xfrm>
            <a:off x="4919472" y="3931920"/>
            <a:ext cx="2203704" cy="484632"/>
          </a:xfrm>
          <a:prstGeom prst="roundRect">
            <a:avLst>
              <a:gd name="adj" fmla="val 18868"/>
            </a:avLst>
          </a:prstGeom>
          <a:solidFill>
            <a:schemeClr val="bg2"/>
          </a:solidFill>
          <a:ln/>
        </p:spPr>
      </p:sp>
      <p:sp>
        <p:nvSpPr>
          <p:cNvPr id="101" name="Text 99"/>
          <p:cNvSpPr txBox="1"/>
          <p:nvPr/>
        </p:nvSpPr>
        <p:spPr>
          <a:xfrm>
            <a:off x="5010912" y="3931920"/>
            <a:ext cx="1773936" cy="484632"/>
          </a:xfrm>
          <a:prstGeom prst="rect">
            <a:avLst/>
          </a:prstGeom>
          <a:noFill/>
          <a:ln/>
        </p:spPr>
        <p:txBody>
          <a:bodyPr wrap="square" lIns="0" tIns="0" rIns="0" bIns="0" rtlCol="0" anchor="ctr"/>
          <a:lstStyle/>
          <a:p>
            <a:pPr marL="0" indent="0">
              <a:buNone/>
            </a:pPr>
            <a:r>
              <a:rPr lang="en-US" sz="1200" b="1" dirty="0">
                <a:solidFill>
                  <a:schemeClr val="tx1"/>
                </a:solidFill>
              </a:rPr>
              <a:t>ESP32-S3 PoE + cámara</a:t>
            </a:r>
            <a:endParaRPr lang="en-US" sz="1200" dirty="0"/>
          </a:p>
        </p:txBody>
      </p:sp>
      <p:sp>
        <p:nvSpPr>
          <p:cNvPr id="102" name="marca5-1-B"/>
          <p:cNvSpPr/>
          <p:nvPr/>
        </p:nvSpPr>
        <p:spPr>
          <a:xfrm>
            <a:off x="6803136" y="4064508"/>
            <a:ext cx="219456" cy="219456"/>
          </a:xfrm>
          <a:prstGeom prst="ellipse">
            <a:avLst/>
          </a:prstGeom>
          <a:solidFill>
            <a:schemeClr val="accent2"/>
          </a:solidFill>
          <a:ln/>
        </p:spPr>
      </p:sp>
      <p:sp>
        <p:nvSpPr>
          <p:cNvPr id="103" name="Text 101"/>
          <p:cNvSpPr txBox="1"/>
          <p:nvPr/>
        </p:nvSpPr>
        <p:spPr>
          <a:xfrm>
            <a:off x="6803136" y="4064508"/>
            <a:ext cx="219456" cy="219456"/>
          </a:xfrm>
          <a:prstGeom prst="rect">
            <a:avLst/>
          </a:prstGeom>
          <a:noFill/>
          <a:ln/>
        </p:spPr>
        <p:txBody>
          <a:bodyPr wrap="square" lIns="0" tIns="0" rIns="0" bIns="0" rtlCol="0" anchor="ctr"/>
          <a:lstStyle/>
          <a:p>
            <a:pPr marL="0" indent="0" algn="ctr">
              <a:buNone/>
            </a:pPr>
            <a:r>
              <a:rPr lang="en-US" sz="900" b="1" dirty="0">
                <a:solidFill>
                  <a:schemeClr val="bg1"/>
                </a:solidFill>
              </a:rPr>
              <a:t>B</a:t>
            </a:r>
            <a:endParaRPr lang="en-US" sz="900" dirty="0"/>
          </a:p>
        </p:txBody>
      </p:sp>
      <p:sp>
        <p:nvSpPr>
          <p:cNvPr id="104" name="op5-2"/>
          <p:cNvSpPr/>
          <p:nvPr/>
        </p:nvSpPr>
        <p:spPr>
          <a:xfrm>
            <a:off x="7178040" y="3931920"/>
            <a:ext cx="2203704" cy="484632"/>
          </a:xfrm>
          <a:prstGeom prst="roundRect">
            <a:avLst>
              <a:gd name="adj" fmla="val 18868"/>
            </a:avLst>
          </a:prstGeom>
          <a:solidFill>
            <a:schemeClr val="bg1"/>
          </a:solidFill>
          <a:ln w="12700">
            <a:solidFill>
              <a:srgbClr val="EEF4F3"/>
            </a:solidFill>
            <a:prstDash val="solid"/>
          </a:ln>
        </p:spPr>
      </p:sp>
      <p:sp>
        <p:nvSpPr>
          <p:cNvPr id="105" name="Text 103"/>
          <p:cNvSpPr txBox="1"/>
          <p:nvPr/>
        </p:nvSpPr>
        <p:spPr>
          <a:xfrm>
            <a:off x="7269480" y="3931920"/>
            <a:ext cx="2020824" cy="484632"/>
          </a:xfrm>
          <a:prstGeom prst="rect">
            <a:avLst/>
          </a:prstGeom>
          <a:noFill/>
          <a:ln/>
        </p:spPr>
        <p:txBody>
          <a:bodyPr wrap="square" lIns="0" tIns="0" rIns="0" bIns="0" rtlCol="0" anchor="ctr"/>
          <a:lstStyle/>
          <a:p>
            <a:pPr marL="0" indent="0">
              <a:buNone/>
            </a:pPr>
            <a:r>
              <a:rPr lang="en-US" sz="1200" dirty="0">
                <a:solidFill>
                  <a:schemeClr val="accent5"/>
                </a:solidFill>
              </a:rPr>
              <a:t>Cámara por cada puesto</a:t>
            </a:r>
            <a:endParaRPr lang="en-US" sz="1200" dirty="0"/>
          </a:p>
        </p:txBody>
      </p:sp>
      <p:sp>
        <p:nvSpPr>
          <p:cNvPr id="106" name="op5-3"/>
          <p:cNvSpPr/>
          <p:nvPr/>
        </p:nvSpPr>
        <p:spPr>
          <a:xfrm>
            <a:off x="9436608" y="3931920"/>
            <a:ext cx="2203704" cy="484632"/>
          </a:xfrm>
          <a:prstGeom prst="roundRect">
            <a:avLst>
              <a:gd name="adj" fmla="val 18868"/>
            </a:avLst>
          </a:prstGeom>
          <a:solidFill>
            <a:schemeClr val="bg1"/>
          </a:solidFill>
          <a:ln w="12700">
            <a:solidFill>
              <a:srgbClr val="EEF4F3"/>
            </a:solidFill>
            <a:prstDash val="solid"/>
          </a:ln>
        </p:spPr>
      </p:sp>
      <p:sp>
        <p:nvSpPr>
          <p:cNvPr id="107" name="Text 105"/>
          <p:cNvSpPr txBox="1"/>
          <p:nvPr/>
        </p:nvSpPr>
        <p:spPr>
          <a:xfrm>
            <a:off x="9528048" y="3931920"/>
            <a:ext cx="2020824" cy="484632"/>
          </a:xfrm>
          <a:prstGeom prst="rect">
            <a:avLst/>
          </a:prstGeom>
          <a:noFill/>
          <a:ln/>
        </p:spPr>
        <p:txBody>
          <a:bodyPr wrap="square" lIns="0" tIns="0" rIns="0" bIns="0" rtlCol="0" anchor="ctr"/>
          <a:lstStyle/>
          <a:p>
            <a:pPr marL="0" indent="0">
              <a:buNone/>
            </a:pPr>
            <a:r>
              <a:rPr lang="en-US" sz="1200" dirty="0">
                <a:solidFill>
                  <a:schemeClr val="accent5"/>
                </a:solidFill>
              </a:rPr>
              <a:t>Raspberry Pi o Jetson</a:t>
            </a:r>
            <a:endParaRPr lang="en-US" sz="1200" dirty="0"/>
          </a:p>
        </p:txBody>
      </p:sp>
      <p:sp>
        <p:nvSpPr>
          <p:cNvPr id="108" name="funcion6"/>
          <p:cNvSpPr/>
          <p:nvPr/>
        </p:nvSpPr>
        <p:spPr>
          <a:xfrm>
            <a:off x="548640" y="4462272"/>
            <a:ext cx="2057400" cy="484632"/>
          </a:xfrm>
          <a:prstGeom prst="roundRect">
            <a:avLst>
              <a:gd name="adj" fmla="val 18868"/>
            </a:avLst>
          </a:prstGeom>
          <a:solidFill>
            <a:schemeClr val="tx2"/>
          </a:solidFill>
          <a:ln/>
        </p:spPr>
      </p:sp>
      <p:sp>
        <p:nvSpPr>
          <p:cNvPr id="109" name="Text 107"/>
          <p:cNvSpPr txBox="1"/>
          <p:nvPr/>
        </p:nvSpPr>
        <p:spPr>
          <a:xfrm>
            <a:off x="658368" y="4462272"/>
            <a:ext cx="1874520" cy="484632"/>
          </a:xfrm>
          <a:prstGeom prst="rect">
            <a:avLst/>
          </a:prstGeom>
          <a:noFill/>
          <a:ln/>
        </p:spPr>
        <p:txBody>
          <a:bodyPr wrap="square" lIns="0" tIns="0" rIns="0" bIns="0" rtlCol="0" anchor="ctr"/>
          <a:lstStyle/>
          <a:p>
            <a:pPr marL="0" indent="0">
              <a:buNone/>
            </a:pPr>
            <a:r>
              <a:rPr lang="en-US" sz="1300" b="1" dirty="0">
                <a:solidFill>
                  <a:schemeClr val="bg1"/>
                </a:solidFill>
              </a:rPr>
              <a:t>Red</a:t>
            </a:r>
            <a:endParaRPr lang="en-US" sz="1300" dirty="0"/>
          </a:p>
        </p:txBody>
      </p:sp>
      <p:sp>
        <p:nvSpPr>
          <p:cNvPr id="110" name="op6-0"/>
          <p:cNvSpPr/>
          <p:nvPr/>
        </p:nvSpPr>
        <p:spPr>
          <a:xfrm>
            <a:off x="2660904" y="4462272"/>
            <a:ext cx="2203704" cy="484632"/>
          </a:xfrm>
          <a:prstGeom prst="roundRect">
            <a:avLst>
              <a:gd name="adj" fmla="val 18868"/>
            </a:avLst>
          </a:prstGeom>
          <a:solidFill>
            <a:schemeClr val="bg2"/>
          </a:solidFill>
          <a:ln/>
        </p:spPr>
      </p:sp>
      <p:sp>
        <p:nvSpPr>
          <p:cNvPr id="111" name="Text 109"/>
          <p:cNvSpPr txBox="1"/>
          <p:nvPr/>
        </p:nvSpPr>
        <p:spPr>
          <a:xfrm>
            <a:off x="2752344" y="4462272"/>
            <a:ext cx="1527048" cy="484632"/>
          </a:xfrm>
          <a:prstGeom prst="rect">
            <a:avLst/>
          </a:prstGeom>
          <a:noFill/>
          <a:ln/>
        </p:spPr>
        <p:txBody>
          <a:bodyPr wrap="square" lIns="0" tIns="0" rIns="0" bIns="0" rtlCol="0" anchor="ctr"/>
          <a:lstStyle/>
          <a:p>
            <a:pPr marL="0" indent="0">
              <a:buNone/>
            </a:pPr>
            <a:r>
              <a:rPr lang="en-US" sz="1200" b="1" dirty="0">
                <a:solidFill>
                  <a:schemeClr val="tx1"/>
                </a:solidFill>
              </a:rPr>
              <a:t>WiFi</a:t>
            </a:r>
            <a:endParaRPr lang="en-US" sz="1200" dirty="0"/>
          </a:p>
        </p:txBody>
      </p:sp>
      <p:sp>
        <p:nvSpPr>
          <p:cNvPr id="112" name="marca6-0-A"/>
          <p:cNvSpPr/>
          <p:nvPr/>
        </p:nvSpPr>
        <p:spPr>
          <a:xfrm>
            <a:off x="4297680" y="4594860"/>
            <a:ext cx="219456" cy="219456"/>
          </a:xfrm>
          <a:prstGeom prst="ellipse">
            <a:avLst/>
          </a:prstGeom>
          <a:solidFill>
            <a:schemeClr val="accent1"/>
          </a:solidFill>
          <a:ln/>
        </p:spPr>
      </p:sp>
      <p:sp>
        <p:nvSpPr>
          <p:cNvPr id="113" name="Text 111"/>
          <p:cNvSpPr txBox="1"/>
          <p:nvPr/>
        </p:nvSpPr>
        <p:spPr>
          <a:xfrm>
            <a:off x="4297680" y="4594860"/>
            <a:ext cx="219456" cy="219456"/>
          </a:xfrm>
          <a:prstGeom prst="rect">
            <a:avLst/>
          </a:prstGeom>
          <a:noFill/>
          <a:ln/>
        </p:spPr>
        <p:txBody>
          <a:bodyPr wrap="square" lIns="0" tIns="0" rIns="0" bIns="0" rtlCol="0" anchor="ctr"/>
          <a:lstStyle/>
          <a:p>
            <a:pPr marL="0" indent="0" algn="ctr">
              <a:buNone/>
            </a:pPr>
            <a:r>
              <a:rPr lang="en-US" sz="900" b="1" dirty="0">
                <a:solidFill>
                  <a:schemeClr val="bg1"/>
                </a:solidFill>
              </a:rPr>
              <a:t>A</a:t>
            </a:r>
            <a:endParaRPr lang="en-US" sz="900" dirty="0"/>
          </a:p>
        </p:txBody>
      </p:sp>
      <p:sp>
        <p:nvSpPr>
          <p:cNvPr id="114" name="marca6-0-C"/>
          <p:cNvSpPr/>
          <p:nvPr/>
        </p:nvSpPr>
        <p:spPr>
          <a:xfrm>
            <a:off x="4544568" y="4594860"/>
            <a:ext cx="219456" cy="219456"/>
          </a:xfrm>
          <a:prstGeom prst="ellipse">
            <a:avLst/>
          </a:prstGeom>
          <a:solidFill>
            <a:schemeClr val="accent4"/>
          </a:solidFill>
          <a:ln/>
        </p:spPr>
      </p:sp>
      <p:sp>
        <p:nvSpPr>
          <p:cNvPr id="115" name="Text 113"/>
          <p:cNvSpPr txBox="1"/>
          <p:nvPr/>
        </p:nvSpPr>
        <p:spPr>
          <a:xfrm>
            <a:off x="4544568" y="4594860"/>
            <a:ext cx="219456" cy="219456"/>
          </a:xfrm>
          <a:prstGeom prst="rect">
            <a:avLst/>
          </a:prstGeom>
          <a:noFill/>
          <a:ln/>
        </p:spPr>
        <p:txBody>
          <a:bodyPr wrap="square" lIns="0" tIns="0" rIns="0" bIns="0" rtlCol="0" anchor="ctr"/>
          <a:lstStyle/>
          <a:p>
            <a:pPr marL="0" indent="0" algn="ctr">
              <a:buNone/>
            </a:pPr>
            <a:r>
              <a:rPr lang="en-US" sz="900" b="1" dirty="0">
                <a:solidFill>
                  <a:schemeClr val="bg1"/>
                </a:solidFill>
              </a:rPr>
              <a:t>C</a:t>
            </a:r>
            <a:endParaRPr lang="en-US" sz="900" dirty="0"/>
          </a:p>
        </p:txBody>
      </p:sp>
      <p:sp>
        <p:nvSpPr>
          <p:cNvPr id="116" name="op6-1"/>
          <p:cNvSpPr/>
          <p:nvPr/>
        </p:nvSpPr>
        <p:spPr>
          <a:xfrm>
            <a:off x="4919472" y="4462272"/>
            <a:ext cx="2203704" cy="484632"/>
          </a:xfrm>
          <a:prstGeom prst="roundRect">
            <a:avLst>
              <a:gd name="adj" fmla="val 18868"/>
            </a:avLst>
          </a:prstGeom>
          <a:solidFill>
            <a:schemeClr val="bg2"/>
          </a:solidFill>
          <a:ln/>
        </p:spPr>
      </p:sp>
      <p:sp>
        <p:nvSpPr>
          <p:cNvPr id="117" name="Text 115"/>
          <p:cNvSpPr txBox="1"/>
          <p:nvPr/>
        </p:nvSpPr>
        <p:spPr>
          <a:xfrm>
            <a:off x="5010912" y="4462272"/>
            <a:ext cx="1527048" cy="484632"/>
          </a:xfrm>
          <a:prstGeom prst="rect">
            <a:avLst/>
          </a:prstGeom>
          <a:noFill/>
          <a:ln/>
        </p:spPr>
        <p:txBody>
          <a:bodyPr wrap="square" lIns="0" tIns="0" rIns="0" bIns="0" rtlCol="0" anchor="ctr"/>
          <a:lstStyle/>
          <a:p>
            <a:pPr marL="0" indent="0">
              <a:buNone/>
            </a:pPr>
            <a:r>
              <a:rPr lang="en-US" sz="1200" b="1" dirty="0">
                <a:solidFill>
                  <a:schemeClr val="tx1"/>
                </a:solidFill>
              </a:rPr>
              <a:t>Ethernet con PoE</a:t>
            </a:r>
            <a:endParaRPr lang="en-US" sz="1200" dirty="0"/>
          </a:p>
        </p:txBody>
      </p:sp>
      <p:sp>
        <p:nvSpPr>
          <p:cNvPr id="118" name="marca6-1-B"/>
          <p:cNvSpPr/>
          <p:nvPr/>
        </p:nvSpPr>
        <p:spPr>
          <a:xfrm>
            <a:off x="6556248" y="4594860"/>
            <a:ext cx="219456" cy="219456"/>
          </a:xfrm>
          <a:prstGeom prst="ellipse">
            <a:avLst/>
          </a:prstGeom>
          <a:solidFill>
            <a:schemeClr val="accent2"/>
          </a:solidFill>
          <a:ln/>
        </p:spPr>
      </p:sp>
      <p:sp>
        <p:nvSpPr>
          <p:cNvPr id="119" name="Text 117"/>
          <p:cNvSpPr txBox="1"/>
          <p:nvPr/>
        </p:nvSpPr>
        <p:spPr>
          <a:xfrm>
            <a:off x="6556248" y="4594860"/>
            <a:ext cx="219456" cy="219456"/>
          </a:xfrm>
          <a:prstGeom prst="rect">
            <a:avLst/>
          </a:prstGeom>
          <a:noFill/>
          <a:ln/>
        </p:spPr>
        <p:txBody>
          <a:bodyPr wrap="square" lIns="0" tIns="0" rIns="0" bIns="0" rtlCol="0" anchor="ctr"/>
          <a:lstStyle/>
          <a:p>
            <a:pPr marL="0" indent="0" algn="ctr">
              <a:buNone/>
            </a:pPr>
            <a:r>
              <a:rPr lang="en-US" sz="900" b="1" dirty="0">
                <a:solidFill>
                  <a:schemeClr val="bg1"/>
                </a:solidFill>
              </a:rPr>
              <a:t>B</a:t>
            </a:r>
            <a:endParaRPr lang="en-US" sz="900" dirty="0"/>
          </a:p>
        </p:txBody>
      </p:sp>
      <p:sp>
        <p:nvSpPr>
          <p:cNvPr id="120" name="marca6-1-C"/>
          <p:cNvSpPr/>
          <p:nvPr/>
        </p:nvSpPr>
        <p:spPr>
          <a:xfrm>
            <a:off x="6803136" y="4594860"/>
            <a:ext cx="219456" cy="219456"/>
          </a:xfrm>
          <a:prstGeom prst="ellipse">
            <a:avLst/>
          </a:prstGeom>
          <a:solidFill>
            <a:schemeClr val="accent4"/>
          </a:solidFill>
          <a:ln/>
        </p:spPr>
      </p:sp>
      <p:sp>
        <p:nvSpPr>
          <p:cNvPr id="121" name="Text 119"/>
          <p:cNvSpPr txBox="1"/>
          <p:nvPr/>
        </p:nvSpPr>
        <p:spPr>
          <a:xfrm>
            <a:off x="6803136" y="4594860"/>
            <a:ext cx="219456" cy="219456"/>
          </a:xfrm>
          <a:prstGeom prst="rect">
            <a:avLst/>
          </a:prstGeom>
          <a:noFill/>
          <a:ln/>
        </p:spPr>
        <p:txBody>
          <a:bodyPr wrap="square" lIns="0" tIns="0" rIns="0" bIns="0" rtlCol="0" anchor="ctr"/>
          <a:lstStyle/>
          <a:p>
            <a:pPr marL="0" indent="0" algn="ctr">
              <a:buNone/>
            </a:pPr>
            <a:r>
              <a:rPr lang="en-US" sz="900" b="1" dirty="0">
                <a:solidFill>
                  <a:schemeClr val="bg1"/>
                </a:solidFill>
              </a:rPr>
              <a:t>C</a:t>
            </a:r>
            <a:endParaRPr lang="en-US" sz="900" dirty="0"/>
          </a:p>
        </p:txBody>
      </p:sp>
      <p:sp>
        <p:nvSpPr>
          <p:cNvPr id="122" name="op6-2"/>
          <p:cNvSpPr/>
          <p:nvPr/>
        </p:nvSpPr>
        <p:spPr>
          <a:xfrm>
            <a:off x="7178040" y="4462272"/>
            <a:ext cx="2203704" cy="484632"/>
          </a:xfrm>
          <a:prstGeom prst="roundRect">
            <a:avLst>
              <a:gd name="adj" fmla="val 18868"/>
            </a:avLst>
          </a:prstGeom>
          <a:solidFill>
            <a:schemeClr val="bg1"/>
          </a:solidFill>
          <a:ln w="12700">
            <a:solidFill>
              <a:srgbClr val="EEF4F3"/>
            </a:solidFill>
            <a:prstDash val="solid"/>
          </a:ln>
        </p:spPr>
      </p:sp>
      <p:sp>
        <p:nvSpPr>
          <p:cNvPr id="123" name="Text 121"/>
          <p:cNvSpPr txBox="1"/>
          <p:nvPr/>
        </p:nvSpPr>
        <p:spPr>
          <a:xfrm>
            <a:off x="7269480" y="4462272"/>
            <a:ext cx="2020824" cy="484632"/>
          </a:xfrm>
          <a:prstGeom prst="rect">
            <a:avLst/>
          </a:prstGeom>
          <a:noFill/>
          <a:ln/>
        </p:spPr>
        <p:txBody>
          <a:bodyPr wrap="square" lIns="0" tIns="0" rIns="0" bIns="0" rtlCol="0" anchor="ctr"/>
          <a:lstStyle/>
          <a:p>
            <a:pPr marL="0" indent="0">
              <a:buNone/>
            </a:pPr>
            <a:r>
              <a:rPr lang="en-US" sz="1200" dirty="0">
                <a:solidFill>
                  <a:schemeClr val="accent5"/>
                </a:solidFill>
              </a:rPr>
              <a:t>Ethernet + fuente</a:t>
            </a:r>
            <a:endParaRPr lang="en-US" sz="1200" dirty="0"/>
          </a:p>
        </p:txBody>
      </p:sp>
      <p:sp>
        <p:nvSpPr>
          <p:cNvPr id="124" name="funcion7"/>
          <p:cNvSpPr/>
          <p:nvPr/>
        </p:nvSpPr>
        <p:spPr>
          <a:xfrm>
            <a:off x="548640" y="4992624"/>
            <a:ext cx="2057400" cy="484632"/>
          </a:xfrm>
          <a:prstGeom prst="roundRect">
            <a:avLst>
              <a:gd name="adj" fmla="val 18868"/>
            </a:avLst>
          </a:prstGeom>
          <a:solidFill>
            <a:schemeClr val="tx2"/>
          </a:solidFill>
          <a:ln/>
        </p:spPr>
      </p:sp>
      <p:sp>
        <p:nvSpPr>
          <p:cNvPr id="125" name="Text 123"/>
          <p:cNvSpPr txBox="1"/>
          <p:nvPr/>
        </p:nvSpPr>
        <p:spPr>
          <a:xfrm>
            <a:off x="658368" y="4992624"/>
            <a:ext cx="1874520" cy="484632"/>
          </a:xfrm>
          <a:prstGeom prst="rect">
            <a:avLst/>
          </a:prstGeom>
          <a:noFill/>
          <a:ln/>
        </p:spPr>
        <p:txBody>
          <a:bodyPr wrap="square" lIns="0" tIns="0" rIns="0" bIns="0" rtlCol="0" anchor="ctr"/>
          <a:lstStyle/>
          <a:p>
            <a:pPr marL="0" indent="0">
              <a:buNone/>
            </a:pPr>
            <a:r>
              <a:rPr lang="en-US" sz="1300" b="1" dirty="0">
                <a:solidFill>
                  <a:schemeClr val="bg1"/>
                </a:solidFill>
              </a:rPr>
              <a:t>Análisis de imágenes</a:t>
            </a:r>
            <a:endParaRPr lang="en-US" sz="1300" dirty="0"/>
          </a:p>
        </p:txBody>
      </p:sp>
      <p:sp>
        <p:nvSpPr>
          <p:cNvPr id="126" name="op7-0"/>
          <p:cNvSpPr/>
          <p:nvPr/>
        </p:nvSpPr>
        <p:spPr>
          <a:xfrm>
            <a:off x="2660904" y="4992624"/>
            <a:ext cx="2203704" cy="484632"/>
          </a:xfrm>
          <a:prstGeom prst="roundRect">
            <a:avLst>
              <a:gd name="adj" fmla="val 18868"/>
            </a:avLst>
          </a:prstGeom>
          <a:solidFill>
            <a:schemeClr val="bg2"/>
          </a:solidFill>
          <a:ln/>
        </p:spPr>
      </p:sp>
      <p:sp>
        <p:nvSpPr>
          <p:cNvPr id="127" name="Text 125"/>
          <p:cNvSpPr txBox="1"/>
          <p:nvPr/>
        </p:nvSpPr>
        <p:spPr>
          <a:xfrm>
            <a:off x="2752344" y="4992624"/>
            <a:ext cx="1773936" cy="484632"/>
          </a:xfrm>
          <a:prstGeom prst="rect">
            <a:avLst/>
          </a:prstGeom>
          <a:noFill/>
          <a:ln/>
        </p:spPr>
        <p:txBody>
          <a:bodyPr wrap="square" lIns="0" tIns="0" rIns="0" bIns="0" rtlCol="0" anchor="ctr"/>
          <a:lstStyle/>
          <a:p>
            <a:pPr marL="0" indent="0">
              <a:buNone/>
            </a:pPr>
            <a:r>
              <a:rPr lang="en-US" sz="1200" b="1" dirty="0">
                <a:solidFill>
                  <a:schemeClr val="tx1"/>
                </a:solidFill>
              </a:rPr>
              <a:t>No aplica</a:t>
            </a:r>
            <a:endParaRPr lang="en-US" sz="1200" dirty="0"/>
          </a:p>
        </p:txBody>
      </p:sp>
      <p:sp>
        <p:nvSpPr>
          <p:cNvPr id="128" name="marca7-0-A"/>
          <p:cNvSpPr/>
          <p:nvPr/>
        </p:nvSpPr>
        <p:spPr>
          <a:xfrm>
            <a:off x="4544568" y="5125212"/>
            <a:ext cx="219456" cy="219456"/>
          </a:xfrm>
          <a:prstGeom prst="ellipse">
            <a:avLst/>
          </a:prstGeom>
          <a:solidFill>
            <a:schemeClr val="accent1"/>
          </a:solidFill>
          <a:ln/>
        </p:spPr>
      </p:sp>
      <p:sp>
        <p:nvSpPr>
          <p:cNvPr id="129" name="Text 127"/>
          <p:cNvSpPr txBox="1"/>
          <p:nvPr/>
        </p:nvSpPr>
        <p:spPr>
          <a:xfrm>
            <a:off x="4544568" y="5125212"/>
            <a:ext cx="219456" cy="219456"/>
          </a:xfrm>
          <a:prstGeom prst="rect">
            <a:avLst/>
          </a:prstGeom>
          <a:noFill/>
          <a:ln/>
        </p:spPr>
        <p:txBody>
          <a:bodyPr wrap="square" lIns="0" tIns="0" rIns="0" bIns="0" rtlCol="0" anchor="ctr"/>
          <a:lstStyle/>
          <a:p>
            <a:pPr marL="0" indent="0" algn="ctr">
              <a:buNone/>
            </a:pPr>
            <a:r>
              <a:rPr lang="en-US" sz="900" b="1" dirty="0">
                <a:solidFill>
                  <a:schemeClr val="bg1"/>
                </a:solidFill>
              </a:rPr>
              <a:t>A</a:t>
            </a:r>
            <a:endParaRPr lang="en-US" sz="900" dirty="0"/>
          </a:p>
        </p:txBody>
      </p:sp>
      <p:sp>
        <p:nvSpPr>
          <p:cNvPr id="130" name="op7-1"/>
          <p:cNvSpPr/>
          <p:nvPr/>
        </p:nvSpPr>
        <p:spPr>
          <a:xfrm>
            <a:off x="4919472" y="4992624"/>
            <a:ext cx="2203704" cy="484632"/>
          </a:xfrm>
          <a:prstGeom prst="roundRect">
            <a:avLst>
              <a:gd name="adj" fmla="val 18868"/>
            </a:avLst>
          </a:prstGeom>
          <a:solidFill>
            <a:schemeClr val="bg2"/>
          </a:solidFill>
          <a:ln/>
        </p:spPr>
      </p:sp>
      <p:sp>
        <p:nvSpPr>
          <p:cNvPr id="131" name="Text 129"/>
          <p:cNvSpPr txBox="1"/>
          <p:nvPr/>
        </p:nvSpPr>
        <p:spPr>
          <a:xfrm>
            <a:off x="5010912" y="4992624"/>
            <a:ext cx="1773936" cy="484632"/>
          </a:xfrm>
          <a:prstGeom prst="rect">
            <a:avLst/>
          </a:prstGeom>
          <a:noFill/>
          <a:ln/>
        </p:spPr>
        <p:txBody>
          <a:bodyPr wrap="square" lIns="0" tIns="0" rIns="0" bIns="0" rtlCol="0" anchor="ctr"/>
          <a:lstStyle/>
          <a:p>
            <a:pPr marL="0" indent="0">
              <a:buNone/>
            </a:pPr>
            <a:r>
              <a:rPr lang="en-US" sz="1200" b="1" dirty="0">
                <a:solidFill>
                  <a:schemeClr val="tx1"/>
                </a:solidFill>
              </a:rPr>
              <a:t>Servidor con CPU</a:t>
            </a:r>
            <a:endParaRPr lang="en-US" sz="1200" dirty="0"/>
          </a:p>
        </p:txBody>
      </p:sp>
      <p:sp>
        <p:nvSpPr>
          <p:cNvPr id="132" name="marca7-1-B"/>
          <p:cNvSpPr/>
          <p:nvPr/>
        </p:nvSpPr>
        <p:spPr>
          <a:xfrm>
            <a:off x="6803136" y="5125212"/>
            <a:ext cx="219456" cy="219456"/>
          </a:xfrm>
          <a:prstGeom prst="ellipse">
            <a:avLst/>
          </a:prstGeom>
          <a:solidFill>
            <a:schemeClr val="accent2"/>
          </a:solidFill>
          <a:ln/>
        </p:spPr>
      </p:sp>
      <p:sp>
        <p:nvSpPr>
          <p:cNvPr id="133" name="Text 131"/>
          <p:cNvSpPr txBox="1"/>
          <p:nvPr/>
        </p:nvSpPr>
        <p:spPr>
          <a:xfrm>
            <a:off x="6803136" y="5125212"/>
            <a:ext cx="219456" cy="219456"/>
          </a:xfrm>
          <a:prstGeom prst="rect">
            <a:avLst/>
          </a:prstGeom>
          <a:noFill/>
          <a:ln/>
        </p:spPr>
        <p:txBody>
          <a:bodyPr wrap="square" lIns="0" tIns="0" rIns="0" bIns="0" rtlCol="0" anchor="ctr"/>
          <a:lstStyle/>
          <a:p>
            <a:pPr marL="0" indent="0" algn="ctr">
              <a:buNone/>
            </a:pPr>
            <a:r>
              <a:rPr lang="en-US" sz="900" b="1" dirty="0">
                <a:solidFill>
                  <a:schemeClr val="bg1"/>
                </a:solidFill>
              </a:rPr>
              <a:t>B</a:t>
            </a:r>
            <a:endParaRPr lang="en-US" sz="900" dirty="0"/>
          </a:p>
        </p:txBody>
      </p:sp>
      <p:sp>
        <p:nvSpPr>
          <p:cNvPr id="134" name="op7-2"/>
          <p:cNvSpPr/>
          <p:nvPr/>
        </p:nvSpPr>
        <p:spPr>
          <a:xfrm>
            <a:off x="7178040" y="4992624"/>
            <a:ext cx="2203704" cy="484632"/>
          </a:xfrm>
          <a:prstGeom prst="roundRect">
            <a:avLst>
              <a:gd name="adj" fmla="val 18868"/>
            </a:avLst>
          </a:prstGeom>
          <a:solidFill>
            <a:schemeClr val="bg2"/>
          </a:solidFill>
          <a:ln/>
        </p:spPr>
      </p:sp>
      <p:sp>
        <p:nvSpPr>
          <p:cNvPr id="135" name="Text 133"/>
          <p:cNvSpPr txBox="1"/>
          <p:nvPr/>
        </p:nvSpPr>
        <p:spPr>
          <a:xfrm>
            <a:off x="7269480" y="4992624"/>
            <a:ext cx="1773936" cy="484632"/>
          </a:xfrm>
          <a:prstGeom prst="rect">
            <a:avLst/>
          </a:prstGeom>
          <a:noFill/>
          <a:ln/>
        </p:spPr>
        <p:txBody>
          <a:bodyPr wrap="square" lIns="0" tIns="0" rIns="0" bIns="0" rtlCol="0" anchor="ctr"/>
          <a:lstStyle/>
          <a:p>
            <a:pPr marL="0" indent="0">
              <a:buNone/>
            </a:pPr>
            <a:r>
              <a:rPr lang="en-US" sz="1200" b="1" dirty="0">
                <a:solidFill>
                  <a:schemeClr val="tx1"/>
                </a:solidFill>
              </a:rPr>
              <a:t>Servidor con GPU</a:t>
            </a:r>
            <a:endParaRPr lang="en-US" sz="1200" dirty="0"/>
          </a:p>
        </p:txBody>
      </p:sp>
      <p:sp>
        <p:nvSpPr>
          <p:cNvPr id="136" name="marca7-2-C"/>
          <p:cNvSpPr/>
          <p:nvPr/>
        </p:nvSpPr>
        <p:spPr>
          <a:xfrm>
            <a:off x="9061704" y="5125212"/>
            <a:ext cx="219456" cy="219456"/>
          </a:xfrm>
          <a:prstGeom prst="ellipse">
            <a:avLst/>
          </a:prstGeom>
          <a:solidFill>
            <a:schemeClr val="accent4"/>
          </a:solidFill>
          <a:ln/>
        </p:spPr>
      </p:sp>
      <p:sp>
        <p:nvSpPr>
          <p:cNvPr id="137" name="Text 135"/>
          <p:cNvSpPr txBox="1"/>
          <p:nvPr/>
        </p:nvSpPr>
        <p:spPr>
          <a:xfrm>
            <a:off x="9061704" y="5125212"/>
            <a:ext cx="219456" cy="219456"/>
          </a:xfrm>
          <a:prstGeom prst="rect">
            <a:avLst/>
          </a:prstGeom>
          <a:noFill/>
          <a:ln/>
        </p:spPr>
        <p:txBody>
          <a:bodyPr wrap="square" lIns="0" tIns="0" rIns="0" bIns="0" rtlCol="0" anchor="ctr"/>
          <a:lstStyle/>
          <a:p>
            <a:pPr marL="0" indent="0" algn="ctr">
              <a:buNone/>
            </a:pPr>
            <a:r>
              <a:rPr lang="en-US" sz="900" b="1" dirty="0">
                <a:solidFill>
                  <a:schemeClr val="bg1"/>
                </a:solidFill>
              </a:rPr>
              <a:t>C</a:t>
            </a:r>
            <a:endParaRPr lang="en-US" sz="900" dirty="0"/>
          </a:p>
        </p:txBody>
      </p:sp>
      <p:sp>
        <p:nvSpPr>
          <p:cNvPr id="138" name="op7-3"/>
          <p:cNvSpPr/>
          <p:nvPr/>
        </p:nvSpPr>
        <p:spPr>
          <a:xfrm>
            <a:off x="9436608" y="4992624"/>
            <a:ext cx="2203704" cy="484632"/>
          </a:xfrm>
          <a:prstGeom prst="roundRect">
            <a:avLst>
              <a:gd name="adj" fmla="val 18868"/>
            </a:avLst>
          </a:prstGeom>
          <a:solidFill>
            <a:schemeClr val="bg1"/>
          </a:solidFill>
          <a:ln w="12700">
            <a:solidFill>
              <a:srgbClr val="EEF4F3"/>
            </a:solidFill>
            <a:prstDash val="solid"/>
          </a:ln>
        </p:spPr>
      </p:sp>
      <p:sp>
        <p:nvSpPr>
          <p:cNvPr id="139" name="Text 137"/>
          <p:cNvSpPr txBox="1"/>
          <p:nvPr/>
        </p:nvSpPr>
        <p:spPr>
          <a:xfrm>
            <a:off x="9528048" y="4992624"/>
            <a:ext cx="2020824" cy="484632"/>
          </a:xfrm>
          <a:prstGeom prst="rect">
            <a:avLst/>
          </a:prstGeom>
          <a:noFill/>
          <a:ln/>
        </p:spPr>
        <p:txBody>
          <a:bodyPr wrap="square" lIns="0" tIns="0" rIns="0" bIns="0" rtlCol="0" anchor="ctr"/>
          <a:lstStyle/>
          <a:p>
            <a:pPr marL="0" indent="0">
              <a:buNone/>
            </a:pPr>
            <a:r>
              <a:rPr lang="en-US" sz="1200" dirty="0">
                <a:solidFill>
                  <a:schemeClr val="accent5"/>
                </a:solidFill>
              </a:rPr>
              <a:t>En la placa (ESP-DL)</a:t>
            </a:r>
            <a:endParaRPr lang="en-US" sz="1200" dirty="0"/>
          </a:p>
        </p:txBody>
      </p:sp>
      <p:sp>
        <p:nvSpPr>
          <p:cNvPr id="140" name="funcion8"/>
          <p:cNvSpPr/>
          <p:nvPr/>
        </p:nvSpPr>
        <p:spPr>
          <a:xfrm>
            <a:off x="548640" y="5522976"/>
            <a:ext cx="2057400" cy="484632"/>
          </a:xfrm>
          <a:prstGeom prst="roundRect">
            <a:avLst>
              <a:gd name="adj" fmla="val 18868"/>
            </a:avLst>
          </a:prstGeom>
          <a:solidFill>
            <a:schemeClr val="tx2"/>
          </a:solidFill>
          <a:ln/>
        </p:spPr>
      </p:sp>
      <p:sp>
        <p:nvSpPr>
          <p:cNvPr id="141" name="Text 139"/>
          <p:cNvSpPr txBox="1"/>
          <p:nvPr/>
        </p:nvSpPr>
        <p:spPr>
          <a:xfrm>
            <a:off x="658368" y="5522976"/>
            <a:ext cx="1874520" cy="484632"/>
          </a:xfrm>
          <a:prstGeom prst="rect">
            <a:avLst/>
          </a:prstGeom>
          <a:noFill/>
          <a:ln/>
        </p:spPr>
        <p:txBody>
          <a:bodyPr wrap="square" lIns="0" tIns="0" rIns="0" bIns="0" rtlCol="0" anchor="ctr"/>
          <a:lstStyle/>
          <a:p>
            <a:pPr marL="0" indent="0">
              <a:buNone/>
            </a:pPr>
            <a:r>
              <a:rPr lang="en-US" sz="1300" b="1" dirty="0">
                <a:solidFill>
                  <a:schemeClr val="bg1"/>
                </a:solidFill>
              </a:rPr>
              <a:t>Datos y tableros</a:t>
            </a:r>
            <a:endParaRPr lang="en-US" sz="1300" dirty="0"/>
          </a:p>
        </p:txBody>
      </p:sp>
      <p:sp>
        <p:nvSpPr>
          <p:cNvPr id="142" name="op8-0"/>
          <p:cNvSpPr/>
          <p:nvPr/>
        </p:nvSpPr>
        <p:spPr>
          <a:xfrm>
            <a:off x="2660904" y="5522976"/>
            <a:ext cx="2203704" cy="484632"/>
          </a:xfrm>
          <a:prstGeom prst="roundRect">
            <a:avLst>
              <a:gd name="adj" fmla="val 18868"/>
            </a:avLst>
          </a:prstGeom>
          <a:solidFill>
            <a:schemeClr val="bg2"/>
          </a:solidFill>
          <a:ln/>
        </p:spPr>
      </p:sp>
      <p:sp>
        <p:nvSpPr>
          <p:cNvPr id="143" name="Text 141"/>
          <p:cNvSpPr txBox="1"/>
          <p:nvPr/>
        </p:nvSpPr>
        <p:spPr>
          <a:xfrm>
            <a:off x="2752344" y="5522976"/>
            <a:ext cx="1280160" cy="484632"/>
          </a:xfrm>
          <a:prstGeom prst="rect">
            <a:avLst/>
          </a:prstGeom>
          <a:noFill/>
          <a:ln/>
        </p:spPr>
        <p:txBody>
          <a:bodyPr wrap="square" lIns="0" tIns="0" rIns="0" bIns="0" rtlCol="0" anchor="ctr"/>
          <a:lstStyle/>
          <a:p>
            <a:pPr marL="0" indent="0">
              <a:buNone/>
            </a:pPr>
            <a:r>
              <a:rPr lang="en-US" sz="1200" b="1" dirty="0">
                <a:solidFill>
                  <a:schemeClr val="tx1"/>
                </a:solidFill>
              </a:rPr>
              <a:t>Node-RED + Grafana</a:t>
            </a:r>
            <a:endParaRPr lang="en-US" sz="1200" dirty="0"/>
          </a:p>
        </p:txBody>
      </p:sp>
      <p:sp>
        <p:nvSpPr>
          <p:cNvPr id="144" name="marca8-0-A"/>
          <p:cNvSpPr/>
          <p:nvPr/>
        </p:nvSpPr>
        <p:spPr>
          <a:xfrm>
            <a:off x="4050792" y="5655564"/>
            <a:ext cx="219456" cy="219456"/>
          </a:xfrm>
          <a:prstGeom prst="ellipse">
            <a:avLst/>
          </a:prstGeom>
          <a:solidFill>
            <a:schemeClr val="accent1"/>
          </a:solidFill>
          <a:ln/>
        </p:spPr>
      </p:sp>
      <p:sp>
        <p:nvSpPr>
          <p:cNvPr id="145" name="Text 143"/>
          <p:cNvSpPr txBox="1"/>
          <p:nvPr/>
        </p:nvSpPr>
        <p:spPr>
          <a:xfrm>
            <a:off x="4050792" y="5655564"/>
            <a:ext cx="219456" cy="219456"/>
          </a:xfrm>
          <a:prstGeom prst="rect">
            <a:avLst/>
          </a:prstGeom>
          <a:noFill/>
          <a:ln/>
        </p:spPr>
        <p:txBody>
          <a:bodyPr wrap="square" lIns="0" tIns="0" rIns="0" bIns="0" rtlCol="0" anchor="ctr"/>
          <a:lstStyle/>
          <a:p>
            <a:pPr marL="0" indent="0" algn="ctr">
              <a:buNone/>
            </a:pPr>
            <a:r>
              <a:rPr lang="en-US" sz="900" b="1" dirty="0">
                <a:solidFill>
                  <a:schemeClr val="bg1"/>
                </a:solidFill>
              </a:rPr>
              <a:t>A</a:t>
            </a:r>
            <a:endParaRPr lang="en-US" sz="900" dirty="0"/>
          </a:p>
        </p:txBody>
      </p:sp>
      <p:sp>
        <p:nvSpPr>
          <p:cNvPr id="146" name="marca8-0-B"/>
          <p:cNvSpPr/>
          <p:nvPr/>
        </p:nvSpPr>
        <p:spPr>
          <a:xfrm>
            <a:off x="4297680" y="5655564"/>
            <a:ext cx="219456" cy="219456"/>
          </a:xfrm>
          <a:prstGeom prst="ellipse">
            <a:avLst/>
          </a:prstGeom>
          <a:solidFill>
            <a:schemeClr val="accent2"/>
          </a:solidFill>
          <a:ln/>
        </p:spPr>
      </p:sp>
      <p:sp>
        <p:nvSpPr>
          <p:cNvPr id="147" name="Text 145"/>
          <p:cNvSpPr txBox="1"/>
          <p:nvPr/>
        </p:nvSpPr>
        <p:spPr>
          <a:xfrm>
            <a:off x="4297680" y="5655564"/>
            <a:ext cx="219456" cy="219456"/>
          </a:xfrm>
          <a:prstGeom prst="rect">
            <a:avLst/>
          </a:prstGeom>
          <a:noFill/>
          <a:ln/>
        </p:spPr>
        <p:txBody>
          <a:bodyPr wrap="square" lIns="0" tIns="0" rIns="0" bIns="0" rtlCol="0" anchor="ctr"/>
          <a:lstStyle/>
          <a:p>
            <a:pPr marL="0" indent="0" algn="ctr">
              <a:buNone/>
            </a:pPr>
            <a:r>
              <a:rPr lang="en-US" sz="900" b="1" dirty="0">
                <a:solidFill>
                  <a:schemeClr val="bg1"/>
                </a:solidFill>
              </a:rPr>
              <a:t>B</a:t>
            </a:r>
            <a:endParaRPr lang="en-US" sz="900" dirty="0"/>
          </a:p>
        </p:txBody>
      </p:sp>
      <p:sp>
        <p:nvSpPr>
          <p:cNvPr id="148" name="marca8-0-C"/>
          <p:cNvSpPr/>
          <p:nvPr/>
        </p:nvSpPr>
        <p:spPr>
          <a:xfrm>
            <a:off x="4544568" y="5655564"/>
            <a:ext cx="219456" cy="219456"/>
          </a:xfrm>
          <a:prstGeom prst="ellipse">
            <a:avLst/>
          </a:prstGeom>
          <a:solidFill>
            <a:schemeClr val="accent4"/>
          </a:solidFill>
          <a:ln/>
        </p:spPr>
      </p:sp>
      <p:sp>
        <p:nvSpPr>
          <p:cNvPr id="149" name="Text 147"/>
          <p:cNvSpPr txBox="1"/>
          <p:nvPr/>
        </p:nvSpPr>
        <p:spPr>
          <a:xfrm>
            <a:off x="4544568" y="5655564"/>
            <a:ext cx="219456" cy="219456"/>
          </a:xfrm>
          <a:prstGeom prst="rect">
            <a:avLst/>
          </a:prstGeom>
          <a:noFill/>
          <a:ln/>
        </p:spPr>
        <p:txBody>
          <a:bodyPr wrap="square" lIns="0" tIns="0" rIns="0" bIns="0" rtlCol="0" anchor="ctr"/>
          <a:lstStyle/>
          <a:p>
            <a:pPr marL="0" indent="0" algn="ctr">
              <a:buNone/>
            </a:pPr>
            <a:r>
              <a:rPr lang="en-US" sz="900" b="1" dirty="0">
                <a:solidFill>
                  <a:schemeClr val="bg1"/>
                </a:solidFill>
              </a:rPr>
              <a:t>C</a:t>
            </a:r>
            <a:endParaRPr lang="en-US" sz="900" dirty="0"/>
          </a:p>
        </p:txBody>
      </p:sp>
      <p:sp>
        <p:nvSpPr>
          <p:cNvPr id="150" name="op8-1"/>
          <p:cNvSpPr/>
          <p:nvPr/>
        </p:nvSpPr>
        <p:spPr>
          <a:xfrm>
            <a:off x="4919472" y="5522976"/>
            <a:ext cx="2203704" cy="484632"/>
          </a:xfrm>
          <a:prstGeom prst="roundRect">
            <a:avLst>
              <a:gd name="adj" fmla="val 18868"/>
            </a:avLst>
          </a:prstGeom>
          <a:solidFill>
            <a:schemeClr val="bg1"/>
          </a:solidFill>
          <a:ln w="12700">
            <a:solidFill>
              <a:srgbClr val="EEF4F3"/>
            </a:solidFill>
            <a:prstDash val="solid"/>
          </a:ln>
        </p:spPr>
      </p:sp>
      <p:sp>
        <p:nvSpPr>
          <p:cNvPr id="151" name="Text 149"/>
          <p:cNvSpPr txBox="1"/>
          <p:nvPr/>
        </p:nvSpPr>
        <p:spPr>
          <a:xfrm>
            <a:off x="5010912" y="5522976"/>
            <a:ext cx="2020824" cy="484632"/>
          </a:xfrm>
          <a:prstGeom prst="rect">
            <a:avLst/>
          </a:prstGeom>
          <a:noFill/>
          <a:ln/>
        </p:spPr>
        <p:txBody>
          <a:bodyPr wrap="square" lIns="0" tIns="0" rIns="0" bIns="0" rtlCol="0" anchor="ctr"/>
          <a:lstStyle/>
          <a:p>
            <a:pPr marL="0" indent="0">
              <a:buNone/>
            </a:pPr>
            <a:r>
              <a:rPr lang="en-US" sz="1200" dirty="0">
                <a:solidFill>
                  <a:schemeClr val="accent5"/>
                </a:solidFill>
              </a:rPr>
              <a:t>Excel manual</a:t>
            </a:r>
            <a:endParaRPr lang="en-US" sz="1200" dirty="0"/>
          </a:p>
        </p:txBody>
      </p:sp>
      <p:sp>
        <p:nvSpPr>
          <p:cNvPr id="152" name="op8-2"/>
          <p:cNvSpPr/>
          <p:nvPr/>
        </p:nvSpPr>
        <p:spPr>
          <a:xfrm>
            <a:off x="7178040" y="5522976"/>
            <a:ext cx="2203704" cy="484632"/>
          </a:xfrm>
          <a:prstGeom prst="roundRect">
            <a:avLst>
              <a:gd name="adj" fmla="val 18868"/>
            </a:avLst>
          </a:prstGeom>
          <a:solidFill>
            <a:schemeClr val="bg1"/>
          </a:solidFill>
          <a:ln w="12700">
            <a:solidFill>
              <a:srgbClr val="EEF4F3"/>
            </a:solidFill>
            <a:prstDash val="solid"/>
          </a:ln>
        </p:spPr>
      </p:sp>
      <p:sp>
        <p:nvSpPr>
          <p:cNvPr id="153" name="Text 151"/>
          <p:cNvSpPr txBox="1"/>
          <p:nvPr/>
        </p:nvSpPr>
        <p:spPr>
          <a:xfrm>
            <a:off x="7269480" y="5522976"/>
            <a:ext cx="2020824" cy="484632"/>
          </a:xfrm>
          <a:prstGeom prst="rect">
            <a:avLst/>
          </a:prstGeom>
          <a:noFill/>
          <a:ln/>
        </p:spPr>
        <p:txBody>
          <a:bodyPr wrap="square" lIns="0" tIns="0" rIns="0" bIns="0" rtlCol="0" anchor="ctr"/>
          <a:lstStyle/>
          <a:p>
            <a:pPr marL="0" indent="0">
              <a:buNone/>
            </a:pPr>
            <a:r>
              <a:rPr lang="en-US" sz="1200" dirty="0">
                <a:solidFill>
                  <a:schemeClr val="accent5"/>
                </a:solidFill>
              </a:rPr>
              <a:t>Software MES comercial</a:t>
            </a:r>
            <a:endParaRPr lang="en-US" sz="1200" dirty="0"/>
          </a:p>
        </p:txBody>
      </p:sp>
      <p:sp>
        <p:nvSpPr>
          <p:cNvPr id="154"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F6B70"/>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1672" cy="868680"/>
          </a:xfrm>
          <a:prstGeom prst="rect">
            <a:avLst/>
          </a:prstGeom>
          <a:noFill/>
          <a:ln/>
        </p:spPr>
        <p:txBody>
          <a:bodyPr wrap="square" lIns="0" tIns="0" rIns="0" bIns="0" rtlCol="0" anchor="ctr"/>
          <a:lstStyle/>
          <a:p>
            <a:pPr marL="0" indent="0" algn="l">
              <a:buNone/>
            </a:pPr>
            <a:r>
              <a:rPr lang="en-US" sz="3200" b="1" dirty="0">
                <a:solidFill>
                  <a:schemeClr val="tx2"/>
                </a:solidFill>
              </a:rPr>
              <a:t>Las tres propuestas comparten la misma base</a:t>
            </a:r>
            <a:endParaRPr lang="en-US" sz="3200" dirty="0"/>
          </a:p>
        </p:txBody>
      </p:sp>
      <p:sp>
        <p:nvSpPr>
          <p:cNvPr id="3" name="Text 1"/>
          <p:cNvSpPr txBox="1"/>
          <p:nvPr/>
        </p:nvSpPr>
        <p:spPr>
          <a:xfrm>
            <a:off x="548640" y="1325880"/>
            <a:ext cx="3108960" cy="320040"/>
          </a:xfrm>
          <a:prstGeom prst="rect">
            <a:avLst/>
          </a:prstGeom>
          <a:noFill/>
          <a:ln/>
        </p:spPr>
        <p:txBody>
          <a:bodyPr wrap="square" lIns="0" tIns="0" rIns="0" bIns="0" rtlCol="0" anchor="t"/>
          <a:lstStyle/>
          <a:p>
            <a:pPr marL="0" indent="0" algn="ctr">
              <a:buNone/>
            </a:pPr>
            <a:r>
              <a:rPr lang="en-US" sz="1300" b="1" dirty="0">
                <a:solidFill>
                  <a:schemeClr val="accent5"/>
                </a:solidFill>
              </a:rPr>
              <a:t>En el puesto</a:t>
            </a:r>
            <a:endParaRPr lang="en-US" sz="1300" dirty="0"/>
          </a:p>
        </p:txBody>
      </p:sp>
      <p:sp>
        <p:nvSpPr>
          <p:cNvPr id="4" name="Text 2"/>
          <p:cNvSpPr txBox="1"/>
          <p:nvPr/>
        </p:nvSpPr>
        <p:spPr>
          <a:xfrm>
            <a:off x="4114800" y="1325880"/>
            <a:ext cx="2194560" cy="320040"/>
          </a:xfrm>
          <a:prstGeom prst="rect">
            <a:avLst/>
          </a:prstGeom>
          <a:noFill/>
          <a:ln/>
        </p:spPr>
        <p:txBody>
          <a:bodyPr wrap="square" lIns="0" tIns="0" rIns="0" bIns="0" rtlCol="0" anchor="t"/>
          <a:lstStyle/>
          <a:p>
            <a:pPr marL="0" indent="0" algn="ctr">
              <a:buNone/>
            </a:pPr>
            <a:r>
              <a:rPr lang="en-US" sz="1300" b="1" dirty="0">
                <a:solidFill>
                  <a:schemeClr val="accent5"/>
                </a:solidFill>
              </a:rPr>
              <a:t>Nodo y red</a:t>
            </a:r>
            <a:endParaRPr lang="en-US" sz="1300" dirty="0"/>
          </a:p>
        </p:txBody>
      </p:sp>
      <p:sp>
        <p:nvSpPr>
          <p:cNvPr id="5" name="Text 3"/>
          <p:cNvSpPr txBox="1"/>
          <p:nvPr/>
        </p:nvSpPr>
        <p:spPr>
          <a:xfrm>
            <a:off x="6858000" y="1325880"/>
            <a:ext cx="2377440" cy="320040"/>
          </a:xfrm>
          <a:prstGeom prst="rect">
            <a:avLst/>
          </a:prstGeom>
          <a:noFill/>
          <a:ln/>
        </p:spPr>
        <p:txBody>
          <a:bodyPr wrap="square" lIns="0" tIns="0" rIns="0" bIns="0" rtlCol="0" anchor="t"/>
          <a:lstStyle/>
          <a:p>
            <a:pPr marL="0" indent="0" algn="ctr">
              <a:buNone/>
            </a:pPr>
            <a:r>
              <a:rPr lang="en-US" sz="1300" b="1" dirty="0">
                <a:solidFill>
                  <a:schemeClr val="accent5"/>
                </a:solidFill>
              </a:rPr>
              <a:t>Servidor local</a:t>
            </a:r>
            <a:endParaRPr lang="en-US" sz="1300" dirty="0"/>
          </a:p>
        </p:txBody>
      </p:sp>
      <p:sp>
        <p:nvSpPr>
          <p:cNvPr id="6" name="Text 4"/>
          <p:cNvSpPr txBox="1"/>
          <p:nvPr/>
        </p:nvSpPr>
        <p:spPr>
          <a:xfrm>
            <a:off x="9784080" y="1325880"/>
            <a:ext cx="1856232" cy="320040"/>
          </a:xfrm>
          <a:prstGeom prst="rect">
            <a:avLst/>
          </a:prstGeom>
          <a:noFill/>
          <a:ln/>
        </p:spPr>
        <p:txBody>
          <a:bodyPr wrap="square" lIns="0" tIns="0" rIns="0" bIns="0" rtlCol="0" anchor="t"/>
          <a:lstStyle/>
          <a:p>
            <a:pPr marL="0" indent="0" algn="ctr">
              <a:buNone/>
            </a:pPr>
            <a:r>
              <a:rPr lang="en-US" sz="1300" b="1" dirty="0">
                <a:solidFill>
                  <a:schemeClr val="accent5"/>
                </a:solidFill>
              </a:rPr>
              <a:t>Resultado</a:t>
            </a:r>
            <a:endParaRPr lang="en-US" sz="1300" dirty="0"/>
          </a:p>
        </p:txBody>
      </p:sp>
      <p:sp>
        <p:nvSpPr>
          <p:cNvPr id="7" name="puesto0"/>
          <p:cNvSpPr/>
          <p:nvPr/>
        </p:nvSpPr>
        <p:spPr>
          <a:xfrm>
            <a:off x="548640" y="1737360"/>
            <a:ext cx="3108960" cy="896112"/>
          </a:xfrm>
          <a:prstGeom prst="roundRect">
            <a:avLst>
              <a:gd name="adj" fmla="val 10204"/>
            </a:avLst>
          </a:prstGeom>
          <a:solidFill>
            <a:schemeClr val="bg2"/>
          </a:solidFill>
          <a:ln/>
        </p:spPr>
      </p:sp>
      <p:sp>
        <p:nvSpPr>
          <p:cNvPr id="8" name="Text 6"/>
          <p:cNvSpPr txBox="1"/>
          <p:nvPr/>
        </p:nvSpPr>
        <p:spPr>
          <a:xfrm>
            <a:off x="731520" y="1847088"/>
            <a:ext cx="2743200" cy="365760"/>
          </a:xfrm>
          <a:prstGeom prst="rect">
            <a:avLst/>
          </a:prstGeom>
          <a:noFill/>
          <a:ln/>
        </p:spPr>
        <p:txBody>
          <a:bodyPr wrap="square" lIns="0" tIns="0" rIns="0" bIns="0" rtlCol="0" anchor="t"/>
          <a:lstStyle/>
          <a:p>
            <a:pPr marL="0" indent="0">
              <a:buNone/>
            </a:pPr>
            <a:r>
              <a:rPr lang="en-US" sz="1600" b="1" dirty="0">
                <a:solidFill>
                  <a:schemeClr val="tx2"/>
                </a:solidFill>
              </a:rPr>
              <a:t>Pinza de corriente</a:t>
            </a:r>
            <a:endParaRPr lang="en-US" sz="1600" dirty="0"/>
          </a:p>
        </p:txBody>
      </p:sp>
      <p:sp>
        <p:nvSpPr>
          <p:cNvPr id="9" name="Text 7"/>
          <p:cNvSpPr txBox="1"/>
          <p:nvPr/>
        </p:nvSpPr>
        <p:spPr>
          <a:xfrm>
            <a:off x="731520" y="2212848"/>
            <a:ext cx="2743200" cy="320040"/>
          </a:xfrm>
          <a:prstGeom prst="rect">
            <a:avLst/>
          </a:prstGeom>
          <a:noFill/>
          <a:ln/>
        </p:spPr>
        <p:txBody>
          <a:bodyPr wrap="square" lIns="0" tIns="0" rIns="0" bIns="0" rtlCol="0" anchor="t"/>
          <a:lstStyle/>
          <a:p>
            <a:pPr marL="0" indent="0">
              <a:buNone/>
            </a:pPr>
            <a:r>
              <a:rPr lang="en-US" sz="1300" dirty="0">
                <a:solidFill>
                  <a:schemeClr val="tx2"/>
                </a:solidFill>
              </a:rPr>
              <a:t>A · B · C</a:t>
            </a:r>
            <a:endParaRPr lang="en-US" sz="1300" dirty="0"/>
          </a:p>
        </p:txBody>
      </p:sp>
      <p:sp>
        <p:nvSpPr>
          <p:cNvPr id="10" name="Shape 8"/>
          <p:cNvSpPr/>
          <p:nvPr/>
        </p:nvSpPr>
        <p:spPr>
          <a:xfrm>
            <a:off x="3703320" y="2185416"/>
            <a:ext cx="365760" cy="0"/>
          </a:xfrm>
          <a:prstGeom prst="line">
            <a:avLst/>
          </a:prstGeom>
          <a:noFill/>
          <a:ln w="22225">
            <a:solidFill>
              <a:srgbClr val="5F6B70"/>
            </a:solidFill>
            <a:prstDash val="solid"/>
            <a:tailEnd type="triangle"/>
          </a:ln>
        </p:spPr>
      </p:sp>
      <p:sp>
        <p:nvSpPr>
          <p:cNvPr id="11" name="puesto1"/>
          <p:cNvSpPr/>
          <p:nvPr/>
        </p:nvSpPr>
        <p:spPr>
          <a:xfrm>
            <a:off x="548640" y="2816352"/>
            <a:ext cx="3108960" cy="896112"/>
          </a:xfrm>
          <a:prstGeom prst="roundRect">
            <a:avLst>
              <a:gd name="adj" fmla="val 10204"/>
            </a:avLst>
          </a:prstGeom>
          <a:solidFill>
            <a:schemeClr val="bg2"/>
          </a:solidFill>
          <a:ln/>
        </p:spPr>
      </p:sp>
      <p:sp>
        <p:nvSpPr>
          <p:cNvPr id="12" name="Text 10"/>
          <p:cNvSpPr txBox="1"/>
          <p:nvPr/>
        </p:nvSpPr>
        <p:spPr>
          <a:xfrm>
            <a:off x="731520" y="2926080"/>
            <a:ext cx="2743200" cy="365760"/>
          </a:xfrm>
          <a:prstGeom prst="rect">
            <a:avLst/>
          </a:prstGeom>
          <a:noFill/>
          <a:ln/>
        </p:spPr>
        <p:txBody>
          <a:bodyPr wrap="square" lIns="0" tIns="0" rIns="0" bIns="0" rtlCol="0" anchor="t"/>
          <a:lstStyle/>
          <a:p>
            <a:pPr marL="0" indent="0">
              <a:buNone/>
            </a:pPr>
            <a:r>
              <a:rPr lang="en-US" sz="1600" b="1" dirty="0">
                <a:solidFill>
                  <a:schemeClr val="tx2"/>
                </a:solidFill>
              </a:rPr>
              <a:t>Radar y botones</a:t>
            </a:r>
            <a:endParaRPr lang="en-US" sz="1600" dirty="0"/>
          </a:p>
        </p:txBody>
      </p:sp>
      <p:sp>
        <p:nvSpPr>
          <p:cNvPr id="13" name="Text 11"/>
          <p:cNvSpPr txBox="1"/>
          <p:nvPr/>
        </p:nvSpPr>
        <p:spPr>
          <a:xfrm>
            <a:off x="731520" y="3291840"/>
            <a:ext cx="2743200" cy="320040"/>
          </a:xfrm>
          <a:prstGeom prst="rect">
            <a:avLst/>
          </a:prstGeom>
          <a:noFill/>
          <a:ln/>
        </p:spPr>
        <p:txBody>
          <a:bodyPr wrap="square" lIns="0" tIns="0" rIns="0" bIns="0" rtlCol="0" anchor="t"/>
          <a:lstStyle/>
          <a:p>
            <a:pPr marL="0" indent="0">
              <a:buNone/>
            </a:pPr>
            <a:r>
              <a:rPr lang="en-US" sz="1300" dirty="0">
                <a:solidFill>
                  <a:schemeClr val="tx2"/>
                </a:solidFill>
              </a:rPr>
              <a:t>A · B (C: solo botones)</a:t>
            </a:r>
            <a:endParaRPr lang="en-US" sz="1300" dirty="0"/>
          </a:p>
        </p:txBody>
      </p:sp>
      <p:sp>
        <p:nvSpPr>
          <p:cNvPr id="14" name="Shape 12"/>
          <p:cNvSpPr/>
          <p:nvPr/>
        </p:nvSpPr>
        <p:spPr>
          <a:xfrm>
            <a:off x="3703320" y="3264408"/>
            <a:ext cx="365760" cy="0"/>
          </a:xfrm>
          <a:prstGeom prst="line">
            <a:avLst/>
          </a:prstGeom>
          <a:noFill/>
          <a:ln w="22225">
            <a:solidFill>
              <a:srgbClr val="5F6B70"/>
            </a:solidFill>
            <a:prstDash val="solid"/>
            <a:tailEnd type="triangle"/>
          </a:ln>
        </p:spPr>
      </p:sp>
      <p:sp>
        <p:nvSpPr>
          <p:cNvPr id="15" name="puesto2"/>
          <p:cNvSpPr/>
          <p:nvPr/>
        </p:nvSpPr>
        <p:spPr>
          <a:xfrm>
            <a:off x="548640" y="3895344"/>
            <a:ext cx="3108960" cy="896112"/>
          </a:xfrm>
          <a:prstGeom prst="roundRect">
            <a:avLst>
              <a:gd name="adj" fmla="val 10204"/>
            </a:avLst>
          </a:prstGeom>
          <a:solidFill>
            <a:schemeClr val="bg2"/>
          </a:solidFill>
          <a:ln/>
        </p:spPr>
      </p:sp>
      <p:sp>
        <p:nvSpPr>
          <p:cNvPr id="16" name="Text 14"/>
          <p:cNvSpPr txBox="1"/>
          <p:nvPr/>
        </p:nvSpPr>
        <p:spPr>
          <a:xfrm>
            <a:off x="731520" y="4005072"/>
            <a:ext cx="2743200" cy="365760"/>
          </a:xfrm>
          <a:prstGeom prst="rect">
            <a:avLst/>
          </a:prstGeom>
          <a:noFill/>
          <a:ln/>
        </p:spPr>
        <p:txBody>
          <a:bodyPr wrap="square" lIns="0" tIns="0" rIns="0" bIns="0" rtlCol="0" anchor="t"/>
          <a:lstStyle/>
          <a:p>
            <a:pPr marL="0" indent="0">
              <a:buNone/>
            </a:pPr>
            <a:r>
              <a:rPr lang="en-US" sz="1600" b="1" dirty="0">
                <a:solidFill>
                  <a:schemeClr val="tx2"/>
                </a:solidFill>
              </a:rPr>
              <a:t>Cámara por eventos</a:t>
            </a:r>
            <a:endParaRPr lang="en-US" sz="1600" dirty="0"/>
          </a:p>
        </p:txBody>
      </p:sp>
      <p:sp>
        <p:nvSpPr>
          <p:cNvPr id="17" name="Text 15"/>
          <p:cNvSpPr txBox="1"/>
          <p:nvPr/>
        </p:nvSpPr>
        <p:spPr>
          <a:xfrm>
            <a:off x="731520" y="4370832"/>
            <a:ext cx="2743200" cy="320040"/>
          </a:xfrm>
          <a:prstGeom prst="rect">
            <a:avLst/>
          </a:prstGeom>
          <a:noFill/>
          <a:ln/>
        </p:spPr>
        <p:txBody>
          <a:bodyPr wrap="square" lIns="0" tIns="0" rIns="0" bIns="0" rtlCol="0" anchor="t"/>
          <a:lstStyle/>
          <a:p>
            <a:pPr marL="0" indent="0">
              <a:buNone/>
            </a:pPr>
            <a:r>
              <a:rPr lang="en-US" sz="1300" dirty="0">
                <a:solidFill>
                  <a:schemeClr val="tx2"/>
                </a:solidFill>
              </a:rPr>
              <a:t>B · fotos en paradas largas</a:t>
            </a:r>
            <a:endParaRPr lang="en-US" sz="1300" dirty="0"/>
          </a:p>
        </p:txBody>
      </p:sp>
      <p:sp>
        <p:nvSpPr>
          <p:cNvPr id="18" name="Shape 16"/>
          <p:cNvSpPr/>
          <p:nvPr/>
        </p:nvSpPr>
        <p:spPr>
          <a:xfrm>
            <a:off x="3703320" y="4343400"/>
            <a:ext cx="365760" cy="0"/>
          </a:xfrm>
          <a:prstGeom prst="line">
            <a:avLst/>
          </a:prstGeom>
          <a:noFill/>
          <a:ln w="22225">
            <a:solidFill>
              <a:srgbClr val="5F6B70"/>
            </a:solidFill>
            <a:prstDash val="solid"/>
            <a:tailEnd type="triangle"/>
          </a:ln>
        </p:spPr>
      </p:sp>
      <p:sp>
        <p:nvSpPr>
          <p:cNvPr id="19" name="puesto3"/>
          <p:cNvSpPr/>
          <p:nvPr/>
        </p:nvSpPr>
        <p:spPr>
          <a:xfrm>
            <a:off x="548640" y="4974336"/>
            <a:ext cx="3108960" cy="896112"/>
          </a:xfrm>
          <a:prstGeom prst="roundRect">
            <a:avLst>
              <a:gd name="adj" fmla="val 10204"/>
            </a:avLst>
          </a:prstGeom>
          <a:solidFill>
            <a:schemeClr val="accent2"/>
          </a:solidFill>
          <a:ln/>
        </p:spPr>
      </p:sp>
      <p:sp>
        <p:nvSpPr>
          <p:cNvPr id="20" name="Text 18"/>
          <p:cNvSpPr txBox="1"/>
          <p:nvPr/>
        </p:nvSpPr>
        <p:spPr>
          <a:xfrm>
            <a:off x="731520" y="5084064"/>
            <a:ext cx="2743200" cy="365760"/>
          </a:xfrm>
          <a:prstGeom prst="rect">
            <a:avLst/>
          </a:prstGeom>
          <a:noFill/>
          <a:ln/>
        </p:spPr>
        <p:txBody>
          <a:bodyPr wrap="square" lIns="0" tIns="0" rIns="0" bIns="0" rtlCol="0" anchor="t"/>
          <a:lstStyle/>
          <a:p>
            <a:pPr marL="0" indent="0">
              <a:buNone/>
            </a:pPr>
            <a:r>
              <a:rPr lang="en-US" sz="1600" b="1" dirty="0">
                <a:solidFill>
                  <a:schemeClr val="bg1"/>
                </a:solidFill>
              </a:rPr>
              <a:t>Cámara cenital</a:t>
            </a:r>
            <a:endParaRPr lang="en-US" sz="1600" dirty="0"/>
          </a:p>
        </p:txBody>
      </p:sp>
      <p:sp>
        <p:nvSpPr>
          <p:cNvPr id="21" name="Text 19"/>
          <p:cNvSpPr txBox="1"/>
          <p:nvPr/>
        </p:nvSpPr>
        <p:spPr>
          <a:xfrm>
            <a:off x="731520" y="5449824"/>
            <a:ext cx="2743200" cy="320040"/>
          </a:xfrm>
          <a:prstGeom prst="rect">
            <a:avLst/>
          </a:prstGeom>
          <a:noFill/>
          <a:ln/>
        </p:spPr>
        <p:txBody>
          <a:bodyPr wrap="square" lIns="0" tIns="0" rIns="0" bIns="0" rtlCol="0" anchor="t"/>
          <a:lstStyle/>
          <a:p>
            <a:pPr marL="0" indent="0">
              <a:buNone/>
            </a:pPr>
            <a:r>
              <a:rPr lang="en-US" sz="1300" dirty="0">
                <a:solidFill>
                  <a:schemeClr val="bg1"/>
                </a:solidFill>
              </a:rPr>
              <a:t>C · 1 cada 4–6 puestos</a:t>
            </a:r>
            <a:endParaRPr lang="en-US" sz="1300" dirty="0"/>
          </a:p>
        </p:txBody>
      </p:sp>
      <p:sp>
        <p:nvSpPr>
          <p:cNvPr id="22" name="Shape 20"/>
          <p:cNvSpPr/>
          <p:nvPr/>
        </p:nvSpPr>
        <p:spPr>
          <a:xfrm>
            <a:off x="3703320" y="5422392"/>
            <a:ext cx="365760" cy="0"/>
          </a:xfrm>
          <a:prstGeom prst="line">
            <a:avLst/>
          </a:prstGeom>
          <a:noFill/>
          <a:ln w="22225">
            <a:solidFill>
              <a:srgbClr val="5F6B70"/>
            </a:solidFill>
            <a:prstDash val="solid"/>
            <a:tailEnd type="triangle"/>
          </a:ln>
        </p:spPr>
      </p:sp>
      <p:sp>
        <p:nvSpPr>
          <p:cNvPr id="23" name="nodo"/>
          <p:cNvSpPr/>
          <p:nvPr/>
        </p:nvSpPr>
        <p:spPr>
          <a:xfrm>
            <a:off x="4114800" y="1737360"/>
            <a:ext cx="2194560" cy="4133088"/>
          </a:xfrm>
          <a:prstGeom prst="roundRect">
            <a:avLst>
              <a:gd name="adj" fmla="val 4167"/>
            </a:avLst>
          </a:prstGeom>
          <a:solidFill>
            <a:schemeClr val="bg2"/>
          </a:solidFill>
          <a:ln/>
        </p:spPr>
      </p:sp>
      <p:sp>
        <p:nvSpPr>
          <p:cNvPr id="24" name="nodo-circulo"/>
          <p:cNvSpPr/>
          <p:nvPr/>
        </p:nvSpPr>
        <p:spPr>
          <a:xfrm>
            <a:off x="4846320" y="2468880"/>
            <a:ext cx="731520" cy="731520"/>
          </a:xfrm>
          <a:prstGeom prst="ellipse">
            <a:avLst/>
          </a:prstGeom>
          <a:solidFill>
            <a:schemeClr val="accent1"/>
          </a:solidFill>
          <a:ln/>
        </p:spPr>
      </p:sp>
      <p:pic>
        <p:nvPicPr>
          <p:cNvPr id="25" name="nodo-icono" descr="preencoded.png"/>
          <p:cNvPicPr>
            <a:picLocks noChangeAspect="1"/>
          </p:cNvPicPr>
          <p:nvPr/>
        </p:nvPicPr>
        <p:blipFill>
          <a:blip r:embed="rId3"/>
          <a:stretch>
            <a:fillRect/>
          </a:stretch>
        </p:blipFill>
        <p:spPr>
          <a:xfrm>
            <a:off x="5051146" y="2673706"/>
            <a:ext cx="321869" cy="321869"/>
          </a:xfrm>
          <a:prstGeom prst="rect">
            <a:avLst/>
          </a:prstGeom>
        </p:spPr>
      </p:pic>
      <p:sp>
        <p:nvSpPr>
          <p:cNvPr id="26" name="Text 23"/>
          <p:cNvSpPr txBox="1"/>
          <p:nvPr/>
        </p:nvSpPr>
        <p:spPr>
          <a:xfrm>
            <a:off x="4251960" y="3337560"/>
            <a:ext cx="1920240" cy="365760"/>
          </a:xfrm>
          <a:prstGeom prst="rect">
            <a:avLst/>
          </a:prstGeom>
          <a:noFill/>
          <a:ln/>
        </p:spPr>
        <p:txBody>
          <a:bodyPr wrap="square" lIns="0" tIns="0" rIns="0" bIns="0" rtlCol="0" anchor="t"/>
          <a:lstStyle/>
          <a:p>
            <a:pPr marL="0" indent="0" algn="ctr">
              <a:buNone/>
            </a:pPr>
            <a:r>
              <a:rPr lang="en-US" sz="1600" b="1" dirty="0">
                <a:solidFill>
                  <a:schemeClr val="tx2"/>
                </a:solidFill>
              </a:rPr>
              <a:t>Nodo y red</a:t>
            </a:r>
            <a:endParaRPr lang="en-US" sz="1600" dirty="0"/>
          </a:p>
        </p:txBody>
      </p:sp>
      <p:sp>
        <p:nvSpPr>
          <p:cNvPr id="27" name="Text 24"/>
          <p:cNvSpPr txBox="1"/>
          <p:nvPr/>
        </p:nvSpPr>
        <p:spPr>
          <a:xfrm>
            <a:off x="4251960" y="3749040"/>
            <a:ext cx="1920240" cy="1828800"/>
          </a:xfrm>
          <a:prstGeom prst="rect">
            <a:avLst/>
          </a:prstGeom>
          <a:noFill/>
          <a:ln/>
        </p:spPr>
        <p:txBody>
          <a:bodyPr wrap="square" lIns="0" tIns="0" rIns="0" bIns="0" rtlCol="0" anchor="t"/>
          <a:lstStyle/>
          <a:p>
            <a:pPr marL="0" indent="0" algn="ctr">
              <a:buNone/>
            </a:pPr>
            <a:r>
              <a:rPr lang="en-US" sz="1300" dirty="0">
                <a:solidFill>
                  <a:schemeClr val="tx1"/>
                </a:solidFill>
              </a:rPr>
              <a:t>ESP32 en cada máquina por WiFi (A y C) o PoE (B). Cámaras cenitales por cable PoE a un switch.</a:t>
            </a:r>
            <a:endParaRPr lang="en-US" sz="1300" dirty="0"/>
          </a:p>
        </p:txBody>
      </p:sp>
      <p:sp>
        <p:nvSpPr>
          <p:cNvPr id="28" name="Shape 25"/>
          <p:cNvSpPr/>
          <p:nvPr/>
        </p:nvSpPr>
        <p:spPr>
          <a:xfrm>
            <a:off x="6355080" y="3803904"/>
            <a:ext cx="457200" cy="0"/>
          </a:xfrm>
          <a:prstGeom prst="line">
            <a:avLst/>
          </a:prstGeom>
          <a:noFill/>
          <a:ln w="22225">
            <a:solidFill>
              <a:srgbClr val="5F6B70"/>
            </a:solidFill>
            <a:prstDash val="solid"/>
            <a:tailEnd type="triangle"/>
          </a:ln>
        </p:spPr>
      </p:sp>
      <p:sp>
        <p:nvSpPr>
          <p:cNvPr id="29" name="servidor"/>
          <p:cNvSpPr/>
          <p:nvPr/>
        </p:nvSpPr>
        <p:spPr>
          <a:xfrm>
            <a:off x="6858000" y="1737360"/>
            <a:ext cx="2377440" cy="4133088"/>
          </a:xfrm>
          <a:prstGeom prst="roundRect">
            <a:avLst>
              <a:gd name="adj" fmla="val 3846"/>
            </a:avLst>
          </a:prstGeom>
          <a:solidFill>
            <a:schemeClr val="bg2"/>
          </a:solidFill>
          <a:ln/>
        </p:spPr>
      </p:sp>
      <p:sp>
        <p:nvSpPr>
          <p:cNvPr id="30" name="reglas"/>
          <p:cNvSpPr/>
          <p:nvPr/>
        </p:nvSpPr>
        <p:spPr>
          <a:xfrm>
            <a:off x="7040880" y="1965960"/>
            <a:ext cx="2011680" cy="1691640"/>
          </a:xfrm>
          <a:prstGeom prst="roundRect">
            <a:avLst>
              <a:gd name="adj" fmla="val 5405"/>
            </a:avLst>
          </a:prstGeom>
          <a:solidFill>
            <a:schemeClr val="bg1"/>
          </a:solidFill>
          <a:ln w="12700">
            <a:solidFill>
              <a:srgbClr val="9CC5BF"/>
            </a:solidFill>
            <a:prstDash val="solid"/>
          </a:ln>
        </p:spPr>
      </p:sp>
      <p:sp>
        <p:nvSpPr>
          <p:cNvPr id="31" name="Text 28"/>
          <p:cNvSpPr txBox="1"/>
          <p:nvPr/>
        </p:nvSpPr>
        <p:spPr>
          <a:xfrm>
            <a:off x="7178040" y="2103120"/>
            <a:ext cx="1737360" cy="640080"/>
          </a:xfrm>
          <a:prstGeom prst="rect">
            <a:avLst/>
          </a:prstGeom>
          <a:noFill/>
          <a:ln/>
        </p:spPr>
        <p:txBody>
          <a:bodyPr wrap="square" lIns="0" tIns="0" rIns="0" bIns="0" rtlCol="0" anchor="t"/>
          <a:lstStyle/>
          <a:p>
            <a:pPr marL="0" indent="0" algn="ctr">
              <a:buNone/>
            </a:pPr>
            <a:r>
              <a:rPr lang="en-US" sz="1500" b="1" dirty="0">
                <a:solidFill>
                  <a:schemeClr val="tx2"/>
                </a:solidFill>
              </a:rPr>
              <a:t>Reglas y base de datos</a:t>
            </a:r>
            <a:endParaRPr lang="en-US" sz="1500" dirty="0"/>
          </a:p>
        </p:txBody>
      </p:sp>
      <p:sp>
        <p:nvSpPr>
          <p:cNvPr id="32" name="Text 29"/>
          <p:cNvSpPr txBox="1"/>
          <p:nvPr/>
        </p:nvSpPr>
        <p:spPr>
          <a:xfrm>
            <a:off x="7178040" y="2834640"/>
            <a:ext cx="1737360" cy="640080"/>
          </a:xfrm>
          <a:prstGeom prst="rect">
            <a:avLst/>
          </a:prstGeom>
          <a:noFill/>
          <a:ln/>
        </p:spPr>
        <p:txBody>
          <a:bodyPr wrap="square" lIns="0" tIns="0" rIns="0" bIns="0" rtlCol="0" anchor="t"/>
          <a:lstStyle/>
          <a:p>
            <a:pPr marL="0" indent="0" algn="ctr">
              <a:buNone/>
            </a:pPr>
            <a:r>
              <a:rPr lang="en-US" sz="1200" dirty="0">
                <a:solidFill>
                  <a:schemeClr val="accent5"/>
                </a:solidFill>
              </a:rPr>
              <a:t>MQTT · Node-RED · A B C</a:t>
            </a:r>
            <a:endParaRPr lang="en-US" sz="1200" dirty="0"/>
          </a:p>
        </p:txBody>
      </p:sp>
      <p:sp>
        <p:nvSpPr>
          <p:cNvPr id="33" name="vision"/>
          <p:cNvSpPr/>
          <p:nvPr/>
        </p:nvSpPr>
        <p:spPr>
          <a:xfrm>
            <a:off x="7040880" y="3931920"/>
            <a:ext cx="2011680" cy="1691640"/>
          </a:xfrm>
          <a:prstGeom prst="roundRect">
            <a:avLst>
              <a:gd name="adj" fmla="val 5405"/>
            </a:avLst>
          </a:prstGeom>
          <a:solidFill>
            <a:schemeClr val="bg1"/>
          </a:solidFill>
          <a:ln w="12700">
            <a:solidFill>
              <a:srgbClr val="9CC5BF"/>
            </a:solidFill>
            <a:prstDash val="solid"/>
          </a:ln>
        </p:spPr>
      </p:sp>
      <p:sp>
        <p:nvSpPr>
          <p:cNvPr id="34" name="Text 31"/>
          <p:cNvSpPr txBox="1"/>
          <p:nvPr/>
        </p:nvSpPr>
        <p:spPr>
          <a:xfrm>
            <a:off x="7178040" y="4069080"/>
            <a:ext cx="1737360" cy="640080"/>
          </a:xfrm>
          <a:prstGeom prst="rect">
            <a:avLst/>
          </a:prstGeom>
          <a:noFill/>
          <a:ln/>
        </p:spPr>
        <p:txBody>
          <a:bodyPr wrap="square" lIns="0" tIns="0" rIns="0" bIns="0" rtlCol="0" anchor="t"/>
          <a:lstStyle/>
          <a:p>
            <a:pPr marL="0" indent="0" algn="ctr">
              <a:buNone/>
            </a:pPr>
            <a:r>
              <a:rPr lang="en-US" sz="1500" b="1" dirty="0">
                <a:solidFill>
                  <a:schemeClr val="tx2"/>
                </a:solidFill>
              </a:rPr>
              <a:t>Visión por computadora</a:t>
            </a:r>
            <a:endParaRPr lang="en-US" sz="1500" dirty="0"/>
          </a:p>
        </p:txBody>
      </p:sp>
      <p:sp>
        <p:nvSpPr>
          <p:cNvPr id="35" name="Text 32"/>
          <p:cNvSpPr txBox="1"/>
          <p:nvPr/>
        </p:nvSpPr>
        <p:spPr>
          <a:xfrm>
            <a:off x="7178040" y="4800600"/>
            <a:ext cx="1737360" cy="640080"/>
          </a:xfrm>
          <a:prstGeom prst="rect">
            <a:avLst/>
          </a:prstGeom>
          <a:noFill/>
          <a:ln/>
        </p:spPr>
        <p:txBody>
          <a:bodyPr wrap="square" lIns="0" tIns="0" rIns="0" bIns="0" rtlCol="0" anchor="t"/>
          <a:lstStyle/>
          <a:p>
            <a:pPr marL="0" indent="0" algn="ctr">
              <a:buNone/>
            </a:pPr>
            <a:r>
              <a:rPr lang="en-US" sz="1200" dirty="0">
                <a:solidFill>
                  <a:schemeClr val="accent5"/>
                </a:solidFill>
              </a:rPr>
              <a:t>B: fotos · C: video cenital con GPU</a:t>
            </a:r>
            <a:endParaRPr lang="en-US" sz="1200" dirty="0"/>
          </a:p>
        </p:txBody>
      </p:sp>
      <p:sp>
        <p:nvSpPr>
          <p:cNvPr id="36" name="Shape 33"/>
          <p:cNvSpPr/>
          <p:nvPr/>
        </p:nvSpPr>
        <p:spPr>
          <a:xfrm>
            <a:off x="9281160" y="3803904"/>
            <a:ext cx="457200" cy="0"/>
          </a:xfrm>
          <a:prstGeom prst="line">
            <a:avLst/>
          </a:prstGeom>
          <a:noFill/>
          <a:ln w="22225">
            <a:solidFill>
              <a:srgbClr val="5F6B70"/>
            </a:solidFill>
            <a:prstDash val="solid"/>
            <a:tailEnd type="triangle"/>
          </a:ln>
        </p:spPr>
      </p:sp>
      <p:sp>
        <p:nvSpPr>
          <p:cNvPr id="37" name="tablero"/>
          <p:cNvSpPr/>
          <p:nvPr/>
        </p:nvSpPr>
        <p:spPr>
          <a:xfrm>
            <a:off x="9784080" y="2743200"/>
            <a:ext cx="1856232" cy="2121408"/>
          </a:xfrm>
          <a:prstGeom prst="roundRect">
            <a:avLst>
              <a:gd name="adj" fmla="val 4926"/>
            </a:avLst>
          </a:prstGeom>
          <a:solidFill>
            <a:schemeClr val="tx2"/>
          </a:solidFill>
          <a:ln/>
        </p:spPr>
      </p:sp>
      <p:sp>
        <p:nvSpPr>
          <p:cNvPr id="38" name="tablero-circulo"/>
          <p:cNvSpPr/>
          <p:nvPr/>
        </p:nvSpPr>
        <p:spPr>
          <a:xfrm>
            <a:off x="10415016" y="2926080"/>
            <a:ext cx="594360" cy="594360"/>
          </a:xfrm>
          <a:prstGeom prst="ellipse">
            <a:avLst/>
          </a:prstGeom>
          <a:solidFill>
            <a:schemeClr val="accent2"/>
          </a:solidFill>
          <a:ln/>
        </p:spPr>
      </p:sp>
      <p:pic>
        <p:nvPicPr>
          <p:cNvPr id="39" name="tablero-icono" descr="preencoded.png"/>
          <p:cNvPicPr>
            <a:picLocks noChangeAspect="1"/>
          </p:cNvPicPr>
          <p:nvPr/>
        </p:nvPicPr>
        <p:blipFill>
          <a:blip r:embed="rId4"/>
          <a:stretch>
            <a:fillRect/>
          </a:stretch>
        </p:blipFill>
        <p:spPr>
          <a:xfrm>
            <a:off x="10581437" y="3092501"/>
            <a:ext cx="261518" cy="261518"/>
          </a:xfrm>
          <a:prstGeom prst="rect">
            <a:avLst/>
          </a:prstGeom>
        </p:spPr>
      </p:pic>
      <p:sp>
        <p:nvSpPr>
          <p:cNvPr id="40" name="Text 36"/>
          <p:cNvSpPr txBox="1"/>
          <p:nvPr/>
        </p:nvSpPr>
        <p:spPr>
          <a:xfrm>
            <a:off x="9875520" y="3657600"/>
            <a:ext cx="1673352" cy="731520"/>
          </a:xfrm>
          <a:prstGeom prst="rect">
            <a:avLst/>
          </a:prstGeom>
          <a:noFill/>
          <a:ln/>
        </p:spPr>
        <p:txBody>
          <a:bodyPr wrap="square" lIns="0" tIns="0" rIns="0" bIns="0" rtlCol="0" anchor="t"/>
          <a:lstStyle/>
          <a:p>
            <a:pPr marL="0" indent="0" algn="ctr">
              <a:buNone/>
            </a:pPr>
            <a:r>
              <a:rPr lang="en-US" sz="1500" b="1" dirty="0">
                <a:solidFill>
                  <a:schemeClr val="bg1"/>
                </a:solidFill>
              </a:rPr>
              <a:t>Tablero y planilla de pago</a:t>
            </a:r>
            <a:endParaRPr lang="en-US" sz="1500" dirty="0"/>
          </a:p>
        </p:txBody>
      </p:sp>
      <p:sp>
        <p:nvSpPr>
          <p:cNvPr id="41" name="Text 37"/>
          <p:cNvSpPr txBox="1"/>
          <p:nvPr/>
        </p:nvSpPr>
        <p:spPr>
          <a:xfrm>
            <a:off x="9875520" y="4389120"/>
            <a:ext cx="1673352" cy="411480"/>
          </a:xfrm>
          <a:prstGeom prst="rect">
            <a:avLst/>
          </a:prstGeom>
          <a:noFill/>
          <a:ln/>
        </p:spPr>
        <p:txBody>
          <a:bodyPr wrap="square" lIns="0" tIns="0" rIns="0" bIns="0" rtlCol="0" anchor="t"/>
          <a:lstStyle/>
          <a:p>
            <a:pPr marL="0" indent="0" algn="ctr">
              <a:buNone/>
            </a:pPr>
            <a:r>
              <a:rPr lang="en-US" sz="1200" dirty="0">
                <a:solidFill>
                  <a:schemeClr val="accent3"/>
                </a:solidFill>
              </a:rPr>
              <a:t>Grafana · exportación diaria</a:t>
            </a:r>
            <a:endParaRPr lang="en-US" sz="1200" dirty="0"/>
          </a:p>
        </p:txBody>
      </p:sp>
      <p:sp>
        <p:nvSpPr>
          <p:cNvPr id="42"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F6B70"/>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1672" cy="868680"/>
          </a:xfrm>
          <a:prstGeom prst="rect">
            <a:avLst/>
          </a:prstGeom>
          <a:noFill/>
          <a:ln/>
        </p:spPr>
        <p:txBody>
          <a:bodyPr wrap="square" lIns="0" tIns="0" rIns="0" bIns="0" rtlCol="0" anchor="ctr"/>
          <a:lstStyle/>
          <a:p>
            <a:pPr marL="0" indent="0" algn="l">
              <a:buNone/>
            </a:pPr>
            <a:r>
              <a:rPr lang="en-US" sz="3200" b="1" dirty="0">
                <a:solidFill>
                  <a:schemeClr val="tx2"/>
                </a:solidFill>
              </a:rPr>
              <a:t>Red: switches PoE en árbol, no WiFi para el video</a:t>
            </a:r>
            <a:endParaRPr lang="en-US" sz="3200" dirty="0"/>
          </a:p>
        </p:txBody>
      </p:sp>
      <p:sp>
        <p:nvSpPr>
          <p:cNvPr id="3" name="red-servidor"/>
          <p:cNvSpPr/>
          <p:nvPr/>
        </p:nvSpPr>
        <p:spPr>
          <a:xfrm>
            <a:off x="2148840" y="1417320"/>
            <a:ext cx="2743200" cy="777240"/>
          </a:xfrm>
          <a:prstGeom prst="roundRect">
            <a:avLst>
              <a:gd name="adj" fmla="val 11765"/>
            </a:avLst>
          </a:prstGeom>
          <a:solidFill>
            <a:schemeClr val="tx2"/>
          </a:solidFill>
          <a:ln/>
        </p:spPr>
      </p:sp>
      <p:sp>
        <p:nvSpPr>
          <p:cNvPr id="4" name="Text 2"/>
          <p:cNvSpPr txBox="1"/>
          <p:nvPr/>
        </p:nvSpPr>
        <p:spPr>
          <a:xfrm>
            <a:off x="2240280" y="1508760"/>
            <a:ext cx="2560320" cy="320040"/>
          </a:xfrm>
          <a:prstGeom prst="rect">
            <a:avLst/>
          </a:prstGeom>
          <a:noFill/>
          <a:ln/>
        </p:spPr>
        <p:txBody>
          <a:bodyPr wrap="square" lIns="0" tIns="0" rIns="0" bIns="0" rtlCol="0" anchor="t"/>
          <a:lstStyle/>
          <a:p>
            <a:pPr marL="0" indent="0" algn="ctr">
              <a:buNone/>
            </a:pPr>
            <a:r>
              <a:rPr lang="en-US" sz="1500" b="1" dirty="0">
                <a:solidFill>
                  <a:schemeClr val="bg1"/>
                </a:solidFill>
              </a:rPr>
              <a:t>Servidor</a:t>
            </a:r>
            <a:endParaRPr lang="en-US" sz="1500" dirty="0"/>
          </a:p>
        </p:txBody>
      </p:sp>
      <p:sp>
        <p:nvSpPr>
          <p:cNvPr id="5" name="Text 3"/>
          <p:cNvSpPr txBox="1"/>
          <p:nvPr/>
        </p:nvSpPr>
        <p:spPr>
          <a:xfrm>
            <a:off x="2240280" y="1828800"/>
            <a:ext cx="2560320" cy="320040"/>
          </a:xfrm>
          <a:prstGeom prst="rect">
            <a:avLst/>
          </a:prstGeom>
          <a:noFill/>
          <a:ln/>
        </p:spPr>
        <p:txBody>
          <a:bodyPr wrap="square" lIns="0" tIns="0" rIns="0" bIns="0" rtlCol="0" anchor="t"/>
          <a:lstStyle/>
          <a:p>
            <a:pPr marL="0" indent="0" algn="ctr">
              <a:buNone/>
            </a:pPr>
            <a:r>
              <a:rPr lang="en-US" sz="1200" dirty="0">
                <a:solidFill>
                  <a:schemeClr val="bg1"/>
                </a:solidFill>
              </a:rPr>
              <a:t>1 Gbps (o 10 Gbps)</a:t>
            </a:r>
            <a:endParaRPr lang="en-US" sz="1200" dirty="0"/>
          </a:p>
        </p:txBody>
      </p:sp>
      <p:sp>
        <p:nvSpPr>
          <p:cNvPr id="6" name="Shape 4"/>
          <p:cNvSpPr/>
          <p:nvPr/>
        </p:nvSpPr>
        <p:spPr>
          <a:xfrm>
            <a:off x="3520440" y="2240280"/>
            <a:ext cx="0" cy="365760"/>
          </a:xfrm>
          <a:prstGeom prst="line">
            <a:avLst/>
          </a:prstGeom>
          <a:noFill/>
          <a:ln w="22225">
            <a:solidFill>
              <a:srgbClr val="5F6B70"/>
            </a:solidFill>
            <a:prstDash val="solid"/>
            <a:tailEnd type="triangle"/>
          </a:ln>
        </p:spPr>
      </p:sp>
      <p:sp>
        <p:nvSpPr>
          <p:cNvPr id="7" name="red-central"/>
          <p:cNvSpPr/>
          <p:nvPr/>
        </p:nvSpPr>
        <p:spPr>
          <a:xfrm>
            <a:off x="1920240" y="2651760"/>
            <a:ext cx="3200400" cy="777240"/>
          </a:xfrm>
          <a:prstGeom prst="roundRect">
            <a:avLst>
              <a:gd name="adj" fmla="val 11765"/>
            </a:avLst>
          </a:prstGeom>
          <a:solidFill>
            <a:schemeClr val="bg2"/>
          </a:solidFill>
          <a:ln/>
        </p:spPr>
      </p:sp>
      <p:sp>
        <p:nvSpPr>
          <p:cNvPr id="8" name="Text 6"/>
          <p:cNvSpPr txBox="1"/>
          <p:nvPr/>
        </p:nvSpPr>
        <p:spPr>
          <a:xfrm>
            <a:off x="2011680" y="2743200"/>
            <a:ext cx="3017520" cy="320040"/>
          </a:xfrm>
          <a:prstGeom prst="rect">
            <a:avLst/>
          </a:prstGeom>
          <a:noFill/>
          <a:ln/>
        </p:spPr>
        <p:txBody>
          <a:bodyPr wrap="square" lIns="0" tIns="0" rIns="0" bIns="0" rtlCol="0" anchor="t"/>
          <a:lstStyle/>
          <a:p>
            <a:pPr marL="0" indent="0" algn="ctr">
              <a:buNone/>
            </a:pPr>
            <a:r>
              <a:rPr lang="en-US" sz="1500" b="1" dirty="0">
                <a:solidFill>
                  <a:schemeClr val="tx2"/>
                </a:solidFill>
              </a:rPr>
              <a:t>Switch central</a:t>
            </a:r>
            <a:endParaRPr lang="en-US" sz="1500" dirty="0"/>
          </a:p>
        </p:txBody>
      </p:sp>
      <p:sp>
        <p:nvSpPr>
          <p:cNvPr id="9" name="Text 7"/>
          <p:cNvSpPr txBox="1"/>
          <p:nvPr/>
        </p:nvSpPr>
        <p:spPr>
          <a:xfrm>
            <a:off x="2011680" y="3063240"/>
            <a:ext cx="3017520" cy="320040"/>
          </a:xfrm>
          <a:prstGeom prst="rect">
            <a:avLst/>
          </a:prstGeom>
          <a:noFill/>
          <a:ln/>
        </p:spPr>
        <p:txBody>
          <a:bodyPr wrap="square" lIns="0" tIns="0" rIns="0" bIns="0" rtlCol="0" anchor="t"/>
          <a:lstStyle/>
          <a:p>
            <a:pPr marL="0" indent="0" algn="ctr">
              <a:buNone/>
            </a:pPr>
            <a:r>
              <a:rPr lang="en-US" sz="1200" dirty="0">
                <a:solidFill>
                  <a:schemeClr val="tx2"/>
                </a:solidFill>
              </a:rPr>
              <a:t>24 puertos, sin PoE</a:t>
            </a:r>
            <a:endParaRPr lang="en-US" sz="1200" dirty="0"/>
          </a:p>
        </p:txBody>
      </p:sp>
      <p:sp>
        <p:nvSpPr>
          <p:cNvPr id="10" name="Shape 8"/>
          <p:cNvSpPr/>
          <p:nvPr/>
        </p:nvSpPr>
        <p:spPr>
          <a:xfrm>
            <a:off x="3520440" y="3429000"/>
            <a:ext cx="0" cy="228600"/>
          </a:xfrm>
          <a:prstGeom prst="line">
            <a:avLst/>
          </a:prstGeom>
          <a:noFill/>
          <a:ln w="22225">
            <a:solidFill>
              <a:srgbClr val="5F6B70"/>
            </a:solidFill>
            <a:prstDash val="solid"/>
          </a:ln>
        </p:spPr>
      </p:sp>
      <p:sp>
        <p:nvSpPr>
          <p:cNvPr id="11" name="Shape 9"/>
          <p:cNvSpPr/>
          <p:nvPr/>
        </p:nvSpPr>
        <p:spPr>
          <a:xfrm>
            <a:off x="1325880" y="3657600"/>
            <a:ext cx="3383280" cy="0"/>
          </a:xfrm>
          <a:prstGeom prst="line">
            <a:avLst/>
          </a:prstGeom>
          <a:noFill/>
          <a:ln w="22225">
            <a:solidFill>
              <a:srgbClr val="5F6B70"/>
            </a:solidFill>
            <a:prstDash val="solid"/>
          </a:ln>
        </p:spPr>
      </p:sp>
      <p:sp>
        <p:nvSpPr>
          <p:cNvPr id="12" name="Shape 10"/>
          <p:cNvSpPr/>
          <p:nvPr/>
        </p:nvSpPr>
        <p:spPr>
          <a:xfrm>
            <a:off x="1325880" y="3657600"/>
            <a:ext cx="0" cy="256032"/>
          </a:xfrm>
          <a:prstGeom prst="line">
            <a:avLst/>
          </a:prstGeom>
          <a:noFill/>
          <a:ln w="22225">
            <a:solidFill>
              <a:srgbClr val="5F6B70"/>
            </a:solidFill>
            <a:prstDash val="solid"/>
            <a:tailEnd type="triangle"/>
          </a:ln>
        </p:spPr>
      </p:sp>
      <p:sp>
        <p:nvSpPr>
          <p:cNvPr id="13" name="red-borde0"/>
          <p:cNvSpPr/>
          <p:nvPr/>
        </p:nvSpPr>
        <p:spPr>
          <a:xfrm>
            <a:off x="548640" y="3931920"/>
            <a:ext cx="1554480" cy="868680"/>
          </a:xfrm>
          <a:prstGeom prst="roundRect">
            <a:avLst>
              <a:gd name="adj" fmla="val 10526"/>
            </a:avLst>
          </a:prstGeom>
          <a:solidFill>
            <a:schemeClr val="accent1"/>
          </a:solidFill>
          <a:ln/>
        </p:spPr>
      </p:sp>
      <p:sp>
        <p:nvSpPr>
          <p:cNvPr id="14" name="Text 12"/>
          <p:cNvSpPr txBox="1"/>
          <p:nvPr/>
        </p:nvSpPr>
        <p:spPr>
          <a:xfrm>
            <a:off x="640080" y="4023360"/>
            <a:ext cx="1371600" cy="320040"/>
          </a:xfrm>
          <a:prstGeom prst="rect">
            <a:avLst/>
          </a:prstGeom>
          <a:noFill/>
          <a:ln/>
        </p:spPr>
        <p:txBody>
          <a:bodyPr wrap="square" lIns="0" tIns="0" rIns="0" bIns="0" rtlCol="0" anchor="t"/>
          <a:lstStyle/>
          <a:p>
            <a:pPr marL="0" indent="0" algn="ctr">
              <a:buNone/>
            </a:pPr>
            <a:r>
              <a:rPr lang="en-US" sz="1500" b="1" dirty="0">
                <a:solidFill>
                  <a:schemeClr val="bg1"/>
                </a:solidFill>
              </a:rPr>
              <a:t>Switch PoE</a:t>
            </a:r>
            <a:endParaRPr lang="en-US" sz="1500" dirty="0"/>
          </a:p>
        </p:txBody>
      </p:sp>
      <p:sp>
        <p:nvSpPr>
          <p:cNvPr id="15" name="Text 13"/>
          <p:cNvSpPr txBox="1"/>
          <p:nvPr/>
        </p:nvSpPr>
        <p:spPr>
          <a:xfrm>
            <a:off x="640080" y="4343400"/>
            <a:ext cx="1371600" cy="320040"/>
          </a:xfrm>
          <a:prstGeom prst="rect">
            <a:avLst/>
          </a:prstGeom>
          <a:noFill/>
          <a:ln/>
        </p:spPr>
        <p:txBody>
          <a:bodyPr wrap="square" lIns="0" tIns="0" rIns="0" bIns="0" rtlCol="0" anchor="t"/>
          <a:lstStyle/>
          <a:p>
            <a:pPr marL="0" indent="0" algn="ctr">
              <a:buNone/>
            </a:pPr>
            <a:r>
              <a:rPr lang="en-US" sz="1200" dirty="0">
                <a:solidFill>
                  <a:schemeClr val="bg1"/>
                </a:solidFill>
              </a:rPr>
              <a:t>por línea o zona</a:t>
            </a:r>
            <a:endParaRPr lang="en-US" sz="1200" dirty="0"/>
          </a:p>
        </p:txBody>
      </p:sp>
      <p:sp>
        <p:nvSpPr>
          <p:cNvPr id="16" name="Shape 14"/>
          <p:cNvSpPr/>
          <p:nvPr/>
        </p:nvSpPr>
        <p:spPr>
          <a:xfrm>
            <a:off x="1325880" y="4818888"/>
            <a:ext cx="0" cy="274320"/>
          </a:xfrm>
          <a:prstGeom prst="line">
            <a:avLst/>
          </a:prstGeom>
          <a:noFill/>
          <a:ln w="12700">
            <a:solidFill>
              <a:srgbClr val="9CC5BF"/>
            </a:solidFill>
            <a:prstDash val="solid"/>
          </a:ln>
        </p:spPr>
      </p:sp>
      <p:sp>
        <p:nvSpPr>
          <p:cNvPr id="17" name="red-cam0-0-circulo"/>
          <p:cNvSpPr/>
          <p:nvPr/>
        </p:nvSpPr>
        <p:spPr>
          <a:xfrm>
            <a:off x="594360" y="5166360"/>
            <a:ext cx="329184" cy="329184"/>
          </a:xfrm>
          <a:prstGeom prst="ellipse">
            <a:avLst/>
          </a:prstGeom>
          <a:solidFill>
            <a:schemeClr val="accent2"/>
          </a:solidFill>
          <a:ln/>
        </p:spPr>
      </p:sp>
      <p:pic>
        <p:nvPicPr>
          <p:cNvPr id="18" name="red-cam0-0-icono" descr="preencoded.png"/>
          <p:cNvPicPr>
            <a:picLocks noChangeAspect="1"/>
          </p:cNvPicPr>
          <p:nvPr/>
        </p:nvPicPr>
        <p:blipFill>
          <a:blip r:embed="rId3"/>
          <a:stretch>
            <a:fillRect/>
          </a:stretch>
        </p:blipFill>
        <p:spPr>
          <a:xfrm>
            <a:off x="686532" y="5258532"/>
            <a:ext cx="144841" cy="144841"/>
          </a:xfrm>
          <a:prstGeom prst="rect">
            <a:avLst/>
          </a:prstGeom>
        </p:spPr>
      </p:pic>
      <p:sp>
        <p:nvSpPr>
          <p:cNvPr id="19" name="red-cam0-1-circulo"/>
          <p:cNvSpPr/>
          <p:nvPr/>
        </p:nvSpPr>
        <p:spPr>
          <a:xfrm>
            <a:off x="978408" y="5166360"/>
            <a:ext cx="329184" cy="329184"/>
          </a:xfrm>
          <a:prstGeom prst="ellipse">
            <a:avLst/>
          </a:prstGeom>
          <a:solidFill>
            <a:schemeClr val="accent2"/>
          </a:solidFill>
          <a:ln/>
        </p:spPr>
      </p:sp>
      <p:pic>
        <p:nvPicPr>
          <p:cNvPr id="20" name="red-cam0-1-icono" descr="preencoded.png"/>
          <p:cNvPicPr>
            <a:picLocks noChangeAspect="1"/>
          </p:cNvPicPr>
          <p:nvPr/>
        </p:nvPicPr>
        <p:blipFill>
          <a:blip r:embed="rId3"/>
          <a:stretch>
            <a:fillRect/>
          </a:stretch>
        </p:blipFill>
        <p:spPr>
          <a:xfrm>
            <a:off x="1070580" y="5258532"/>
            <a:ext cx="144841" cy="144841"/>
          </a:xfrm>
          <a:prstGeom prst="rect">
            <a:avLst/>
          </a:prstGeom>
        </p:spPr>
      </p:pic>
      <p:sp>
        <p:nvSpPr>
          <p:cNvPr id="21" name="red-cam0-2-circulo"/>
          <p:cNvSpPr/>
          <p:nvPr/>
        </p:nvSpPr>
        <p:spPr>
          <a:xfrm>
            <a:off x="1362456" y="5166360"/>
            <a:ext cx="329184" cy="329184"/>
          </a:xfrm>
          <a:prstGeom prst="ellipse">
            <a:avLst/>
          </a:prstGeom>
          <a:solidFill>
            <a:schemeClr val="accent2"/>
          </a:solidFill>
          <a:ln/>
        </p:spPr>
      </p:sp>
      <p:pic>
        <p:nvPicPr>
          <p:cNvPr id="22" name="red-cam0-2-icono" descr="preencoded.png"/>
          <p:cNvPicPr>
            <a:picLocks noChangeAspect="1"/>
          </p:cNvPicPr>
          <p:nvPr/>
        </p:nvPicPr>
        <p:blipFill>
          <a:blip r:embed="rId3"/>
          <a:stretch>
            <a:fillRect/>
          </a:stretch>
        </p:blipFill>
        <p:spPr>
          <a:xfrm>
            <a:off x="1454628" y="5258532"/>
            <a:ext cx="144841" cy="144841"/>
          </a:xfrm>
          <a:prstGeom prst="rect">
            <a:avLst/>
          </a:prstGeom>
        </p:spPr>
      </p:pic>
      <p:sp>
        <p:nvSpPr>
          <p:cNvPr id="23" name="red-cam0-3-circulo"/>
          <p:cNvSpPr/>
          <p:nvPr/>
        </p:nvSpPr>
        <p:spPr>
          <a:xfrm>
            <a:off x="1746504" y="5166360"/>
            <a:ext cx="329184" cy="329184"/>
          </a:xfrm>
          <a:prstGeom prst="ellipse">
            <a:avLst/>
          </a:prstGeom>
          <a:solidFill>
            <a:schemeClr val="accent2"/>
          </a:solidFill>
          <a:ln/>
        </p:spPr>
      </p:sp>
      <p:pic>
        <p:nvPicPr>
          <p:cNvPr id="24" name="red-cam0-3-icono" descr="preencoded.png"/>
          <p:cNvPicPr>
            <a:picLocks noChangeAspect="1"/>
          </p:cNvPicPr>
          <p:nvPr/>
        </p:nvPicPr>
        <p:blipFill>
          <a:blip r:embed="rId3"/>
          <a:stretch>
            <a:fillRect/>
          </a:stretch>
        </p:blipFill>
        <p:spPr>
          <a:xfrm>
            <a:off x="1838676" y="5258532"/>
            <a:ext cx="144841" cy="144841"/>
          </a:xfrm>
          <a:prstGeom prst="rect">
            <a:avLst/>
          </a:prstGeom>
        </p:spPr>
      </p:pic>
      <p:sp>
        <p:nvSpPr>
          <p:cNvPr id="25" name="Shape 19"/>
          <p:cNvSpPr/>
          <p:nvPr/>
        </p:nvSpPr>
        <p:spPr>
          <a:xfrm>
            <a:off x="3017520" y="3657600"/>
            <a:ext cx="0" cy="256032"/>
          </a:xfrm>
          <a:prstGeom prst="line">
            <a:avLst/>
          </a:prstGeom>
          <a:noFill/>
          <a:ln w="22225">
            <a:solidFill>
              <a:srgbClr val="5F6B70"/>
            </a:solidFill>
            <a:prstDash val="solid"/>
            <a:tailEnd type="triangle"/>
          </a:ln>
        </p:spPr>
      </p:sp>
      <p:sp>
        <p:nvSpPr>
          <p:cNvPr id="26" name="red-borde1"/>
          <p:cNvSpPr/>
          <p:nvPr/>
        </p:nvSpPr>
        <p:spPr>
          <a:xfrm>
            <a:off x="2240280" y="3931920"/>
            <a:ext cx="1554480" cy="868680"/>
          </a:xfrm>
          <a:prstGeom prst="roundRect">
            <a:avLst>
              <a:gd name="adj" fmla="val 10526"/>
            </a:avLst>
          </a:prstGeom>
          <a:solidFill>
            <a:schemeClr val="accent1"/>
          </a:solidFill>
          <a:ln/>
        </p:spPr>
      </p:sp>
      <p:sp>
        <p:nvSpPr>
          <p:cNvPr id="27" name="Text 21"/>
          <p:cNvSpPr txBox="1"/>
          <p:nvPr/>
        </p:nvSpPr>
        <p:spPr>
          <a:xfrm>
            <a:off x="2331720" y="4023360"/>
            <a:ext cx="1371600" cy="320040"/>
          </a:xfrm>
          <a:prstGeom prst="rect">
            <a:avLst/>
          </a:prstGeom>
          <a:noFill/>
          <a:ln/>
        </p:spPr>
        <p:txBody>
          <a:bodyPr wrap="square" lIns="0" tIns="0" rIns="0" bIns="0" rtlCol="0" anchor="t"/>
          <a:lstStyle/>
          <a:p>
            <a:pPr marL="0" indent="0" algn="ctr">
              <a:buNone/>
            </a:pPr>
            <a:r>
              <a:rPr lang="en-US" sz="1500" b="1" dirty="0">
                <a:solidFill>
                  <a:schemeClr val="bg1"/>
                </a:solidFill>
              </a:rPr>
              <a:t>Switch PoE</a:t>
            </a:r>
            <a:endParaRPr lang="en-US" sz="1500" dirty="0"/>
          </a:p>
        </p:txBody>
      </p:sp>
      <p:sp>
        <p:nvSpPr>
          <p:cNvPr id="28" name="Text 22"/>
          <p:cNvSpPr txBox="1"/>
          <p:nvPr/>
        </p:nvSpPr>
        <p:spPr>
          <a:xfrm>
            <a:off x="2331720" y="4343400"/>
            <a:ext cx="1371600" cy="320040"/>
          </a:xfrm>
          <a:prstGeom prst="rect">
            <a:avLst/>
          </a:prstGeom>
          <a:noFill/>
          <a:ln/>
        </p:spPr>
        <p:txBody>
          <a:bodyPr wrap="square" lIns="0" tIns="0" rIns="0" bIns="0" rtlCol="0" anchor="t"/>
          <a:lstStyle/>
          <a:p>
            <a:pPr marL="0" indent="0" algn="ctr">
              <a:buNone/>
            </a:pPr>
            <a:r>
              <a:rPr lang="en-US" sz="1200" dirty="0">
                <a:solidFill>
                  <a:schemeClr val="bg1"/>
                </a:solidFill>
              </a:rPr>
              <a:t>por línea o zona</a:t>
            </a:r>
            <a:endParaRPr lang="en-US" sz="1200" dirty="0"/>
          </a:p>
        </p:txBody>
      </p:sp>
      <p:sp>
        <p:nvSpPr>
          <p:cNvPr id="29" name="Shape 23"/>
          <p:cNvSpPr/>
          <p:nvPr/>
        </p:nvSpPr>
        <p:spPr>
          <a:xfrm>
            <a:off x="3017520" y="4818888"/>
            <a:ext cx="0" cy="274320"/>
          </a:xfrm>
          <a:prstGeom prst="line">
            <a:avLst/>
          </a:prstGeom>
          <a:noFill/>
          <a:ln w="12700">
            <a:solidFill>
              <a:srgbClr val="9CC5BF"/>
            </a:solidFill>
            <a:prstDash val="solid"/>
          </a:ln>
        </p:spPr>
      </p:sp>
      <p:sp>
        <p:nvSpPr>
          <p:cNvPr id="30" name="red-cam1-0-circulo"/>
          <p:cNvSpPr/>
          <p:nvPr/>
        </p:nvSpPr>
        <p:spPr>
          <a:xfrm>
            <a:off x="2286000" y="5166360"/>
            <a:ext cx="329184" cy="329184"/>
          </a:xfrm>
          <a:prstGeom prst="ellipse">
            <a:avLst/>
          </a:prstGeom>
          <a:solidFill>
            <a:schemeClr val="accent2"/>
          </a:solidFill>
          <a:ln/>
        </p:spPr>
      </p:sp>
      <p:pic>
        <p:nvPicPr>
          <p:cNvPr id="31" name="red-cam1-0-icono" descr="preencoded.png"/>
          <p:cNvPicPr>
            <a:picLocks noChangeAspect="1"/>
          </p:cNvPicPr>
          <p:nvPr/>
        </p:nvPicPr>
        <p:blipFill>
          <a:blip r:embed="rId3"/>
          <a:stretch>
            <a:fillRect/>
          </a:stretch>
        </p:blipFill>
        <p:spPr>
          <a:xfrm>
            <a:off x="2378172" y="5258532"/>
            <a:ext cx="144841" cy="144841"/>
          </a:xfrm>
          <a:prstGeom prst="rect">
            <a:avLst/>
          </a:prstGeom>
        </p:spPr>
      </p:pic>
      <p:sp>
        <p:nvSpPr>
          <p:cNvPr id="32" name="red-cam1-1-circulo"/>
          <p:cNvSpPr/>
          <p:nvPr/>
        </p:nvSpPr>
        <p:spPr>
          <a:xfrm>
            <a:off x="2670048" y="5166360"/>
            <a:ext cx="329184" cy="329184"/>
          </a:xfrm>
          <a:prstGeom prst="ellipse">
            <a:avLst/>
          </a:prstGeom>
          <a:solidFill>
            <a:schemeClr val="accent2"/>
          </a:solidFill>
          <a:ln/>
        </p:spPr>
      </p:sp>
      <p:pic>
        <p:nvPicPr>
          <p:cNvPr id="33" name="red-cam1-1-icono" descr="preencoded.png"/>
          <p:cNvPicPr>
            <a:picLocks noChangeAspect="1"/>
          </p:cNvPicPr>
          <p:nvPr/>
        </p:nvPicPr>
        <p:blipFill>
          <a:blip r:embed="rId3"/>
          <a:stretch>
            <a:fillRect/>
          </a:stretch>
        </p:blipFill>
        <p:spPr>
          <a:xfrm>
            <a:off x="2762220" y="5258532"/>
            <a:ext cx="144841" cy="144841"/>
          </a:xfrm>
          <a:prstGeom prst="rect">
            <a:avLst/>
          </a:prstGeom>
        </p:spPr>
      </p:pic>
      <p:sp>
        <p:nvSpPr>
          <p:cNvPr id="34" name="red-cam1-2-circulo"/>
          <p:cNvSpPr/>
          <p:nvPr/>
        </p:nvSpPr>
        <p:spPr>
          <a:xfrm>
            <a:off x="3054096" y="5166360"/>
            <a:ext cx="329184" cy="329184"/>
          </a:xfrm>
          <a:prstGeom prst="ellipse">
            <a:avLst/>
          </a:prstGeom>
          <a:solidFill>
            <a:schemeClr val="accent2"/>
          </a:solidFill>
          <a:ln/>
        </p:spPr>
      </p:sp>
      <p:pic>
        <p:nvPicPr>
          <p:cNvPr id="35" name="red-cam1-2-icono" descr="preencoded.png"/>
          <p:cNvPicPr>
            <a:picLocks noChangeAspect="1"/>
          </p:cNvPicPr>
          <p:nvPr/>
        </p:nvPicPr>
        <p:blipFill>
          <a:blip r:embed="rId3"/>
          <a:stretch>
            <a:fillRect/>
          </a:stretch>
        </p:blipFill>
        <p:spPr>
          <a:xfrm>
            <a:off x="3146268" y="5258532"/>
            <a:ext cx="144841" cy="144841"/>
          </a:xfrm>
          <a:prstGeom prst="rect">
            <a:avLst/>
          </a:prstGeom>
        </p:spPr>
      </p:pic>
      <p:sp>
        <p:nvSpPr>
          <p:cNvPr id="36" name="red-cam1-3-circulo"/>
          <p:cNvSpPr/>
          <p:nvPr/>
        </p:nvSpPr>
        <p:spPr>
          <a:xfrm>
            <a:off x="3438144" y="5166360"/>
            <a:ext cx="329184" cy="329184"/>
          </a:xfrm>
          <a:prstGeom prst="ellipse">
            <a:avLst/>
          </a:prstGeom>
          <a:solidFill>
            <a:schemeClr val="accent2"/>
          </a:solidFill>
          <a:ln/>
        </p:spPr>
      </p:sp>
      <p:pic>
        <p:nvPicPr>
          <p:cNvPr id="37" name="red-cam1-3-icono" descr="preencoded.png"/>
          <p:cNvPicPr>
            <a:picLocks noChangeAspect="1"/>
          </p:cNvPicPr>
          <p:nvPr/>
        </p:nvPicPr>
        <p:blipFill>
          <a:blip r:embed="rId3"/>
          <a:stretch>
            <a:fillRect/>
          </a:stretch>
        </p:blipFill>
        <p:spPr>
          <a:xfrm>
            <a:off x="3530316" y="5258532"/>
            <a:ext cx="144841" cy="144841"/>
          </a:xfrm>
          <a:prstGeom prst="rect">
            <a:avLst/>
          </a:prstGeom>
        </p:spPr>
      </p:pic>
      <p:sp>
        <p:nvSpPr>
          <p:cNvPr id="38" name="Shape 28"/>
          <p:cNvSpPr/>
          <p:nvPr/>
        </p:nvSpPr>
        <p:spPr>
          <a:xfrm>
            <a:off x="4709160" y="3657600"/>
            <a:ext cx="0" cy="256032"/>
          </a:xfrm>
          <a:prstGeom prst="line">
            <a:avLst/>
          </a:prstGeom>
          <a:noFill/>
          <a:ln w="22225">
            <a:solidFill>
              <a:srgbClr val="5F6B70"/>
            </a:solidFill>
            <a:prstDash val="solid"/>
            <a:tailEnd type="triangle"/>
          </a:ln>
        </p:spPr>
      </p:sp>
      <p:sp>
        <p:nvSpPr>
          <p:cNvPr id="39" name="red-borde2"/>
          <p:cNvSpPr/>
          <p:nvPr/>
        </p:nvSpPr>
        <p:spPr>
          <a:xfrm>
            <a:off x="3931920" y="3931920"/>
            <a:ext cx="1554480" cy="868680"/>
          </a:xfrm>
          <a:prstGeom prst="roundRect">
            <a:avLst>
              <a:gd name="adj" fmla="val 10526"/>
            </a:avLst>
          </a:prstGeom>
          <a:solidFill>
            <a:schemeClr val="accent1"/>
          </a:solidFill>
          <a:ln/>
        </p:spPr>
      </p:sp>
      <p:sp>
        <p:nvSpPr>
          <p:cNvPr id="40" name="Text 30"/>
          <p:cNvSpPr txBox="1"/>
          <p:nvPr/>
        </p:nvSpPr>
        <p:spPr>
          <a:xfrm>
            <a:off x="4023360" y="4023360"/>
            <a:ext cx="1371600" cy="320040"/>
          </a:xfrm>
          <a:prstGeom prst="rect">
            <a:avLst/>
          </a:prstGeom>
          <a:noFill/>
          <a:ln/>
        </p:spPr>
        <p:txBody>
          <a:bodyPr wrap="square" lIns="0" tIns="0" rIns="0" bIns="0" rtlCol="0" anchor="t"/>
          <a:lstStyle/>
          <a:p>
            <a:pPr marL="0" indent="0" algn="ctr">
              <a:buNone/>
            </a:pPr>
            <a:r>
              <a:rPr lang="en-US" sz="1500" b="1" dirty="0">
                <a:solidFill>
                  <a:schemeClr val="bg1"/>
                </a:solidFill>
              </a:rPr>
              <a:t>Switch PoE</a:t>
            </a:r>
            <a:endParaRPr lang="en-US" sz="1500" dirty="0"/>
          </a:p>
        </p:txBody>
      </p:sp>
      <p:sp>
        <p:nvSpPr>
          <p:cNvPr id="41" name="Text 31"/>
          <p:cNvSpPr txBox="1"/>
          <p:nvPr/>
        </p:nvSpPr>
        <p:spPr>
          <a:xfrm>
            <a:off x="4023360" y="4343400"/>
            <a:ext cx="1371600" cy="320040"/>
          </a:xfrm>
          <a:prstGeom prst="rect">
            <a:avLst/>
          </a:prstGeom>
          <a:noFill/>
          <a:ln/>
        </p:spPr>
        <p:txBody>
          <a:bodyPr wrap="square" lIns="0" tIns="0" rIns="0" bIns="0" rtlCol="0" anchor="t"/>
          <a:lstStyle/>
          <a:p>
            <a:pPr marL="0" indent="0" algn="ctr">
              <a:buNone/>
            </a:pPr>
            <a:r>
              <a:rPr lang="en-US" sz="1200" dirty="0">
                <a:solidFill>
                  <a:schemeClr val="bg1"/>
                </a:solidFill>
              </a:rPr>
              <a:t>por línea o zona</a:t>
            </a:r>
            <a:endParaRPr lang="en-US" sz="1200" dirty="0"/>
          </a:p>
        </p:txBody>
      </p:sp>
      <p:sp>
        <p:nvSpPr>
          <p:cNvPr id="42" name="Shape 32"/>
          <p:cNvSpPr/>
          <p:nvPr/>
        </p:nvSpPr>
        <p:spPr>
          <a:xfrm>
            <a:off x="4709160" y="4818888"/>
            <a:ext cx="0" cy="274320"/>
          </a:xfrm>
          <a:prstGeom prst="line">
            <a:avLst/>
          </a:prstGeom>
          <a:noFill/>
          <a:ln w="12700">
            <a:solidFill>
              <a:srgbClr val="9CC5BF"/>
            </a:solidFill>
            <a:prstDash val="solid"/>
          </a:ln>
        </p:spPr>
      </p:sp>
      <p:sp>
        <p:nvSpPr>
          <p:cNvPr id="43" name="red-cam2-0-circulo"/>
          <p:cNvSpPr/>
          <p:nvPr/>
        </p:nvSpPr>
        <p:spPr>
          <a:xfrm>
            <a:off x="3977640" y="5166360"/>
            <a:ext cx="329184" cy="329184"/>
          </a:xfrm>
          <a:prstGeom prst="ellipse">
            <a:avLst/>
          </a:prstGeom>
          <a:solidFill>
            <a:schemeClr val="accent2"/>
          </a:solidFill>
          <a:ln/>
        </p:spPr>
      </p:sp>
      <p:pic>
        <p:nvPicPr>
          <p:cNvPr id="44" name="red-cam2-0-icono" descr="preencoded.png"/>
          <p:cNvPicPr>
            <a:picLocks noChangeAspect="1"/>
          </p:cNvPicPr>
          <p:nvPr/>
        </p:nvPicPr>
        <p:blipFill>
          <a:blip r:embed="rId3"/>
          <a:stretch>
            <a:fillRect/>
          </a:stretch>
        </p:blipFill>
        <p:spPr>
          <a:xfrm>
            <a:off x="4069812" y="5258532"/>
            <a:ext cx="144841" cy="144841"/>
          </a:xfrm>
          <a:prstGeom prst="rect">
            <a:avLst/>
          </a:prstGeom>
        </p:spPr>
      </p:pic>
      <p:sp>
        <p:nvSpPr>
          <p:cNvPr id="45" name="red-cam2-1-circulo"/>
          <p:cNvSpPr/>
          <p:nvPr/>
        </p:nvSpPr>
        <p:spPr>
          <a:xfrm>
            <a:off x="4361688" y="5166360"/>
            <a:ext cx="329184" cy="329184"/>
          </a:xfrm>
          <a:prstGeom prst="ellipse">
            <a:avLst/>
          </a:prstGeom>
          <a:solidFill>
            <a:schemeClr val="accent2"/>
          </a:solidFill>
          <a:ln/>
        </p:spPr>
      </p:sp>
      <p:pic>
        <p:nvPicPr>
          <p:cNvPr id="46" name="red-cam2-1-icono" descr="preencoded.png"/>
          <p:cNvPicPr>
            <a:picLocks noChangeAspect="1"/>
          </p:cNvPicPr>
          <p:nvPr/>
        </p:nvPicPr>
        <p:blipFill>
          <a:blip r:embed="rId3"/>
          <a:stretch>
            <a:fillRect/>
          </a:stretch>
        </p:blipFill>
        <p:spPr>
          <a:xfrm>
            <a:off x="4453860" y="5258532"/>
            <a:ext cx="144841" cy="144841"/>
          </a:xfrm>
          <a:prstGeom prst="rect">
            <a:avLst/>
          </a:prstGeom>
        </p:spPr>
      </p:pic>
      <p:sp>
        <p:nvSpPr>
          <p:cNvPr id="47" name="red-cam2-2-circulo"/>
          <p:cNvSpPr/>
          <p:nvPr/>
        </p:nvSpPr>
        <p:spPr>
          <a:xfrm>
            <a:off x="4745736" y="5166360"/>
            <a:ext cx="329184" cy="329184"/>
          </a:xfrm>
          <a:prstGeom prst="ellipse">
            <a:avLst/>
          </a:prstGeom>
          <a:solidFill>
            <a:schemeClr val="accent2"/>
          </a:solidFill>
          <a:ln/>
        </p:spPr>
      </p:sp>
      <p:pic>
        <p:nvPicPr>
          <p:cNvPr id="48" name="red-cam2-2-icono" descr="preencoded.png"/>
          <p:cNvPicPr>
            <a:picLocks noChangeAspect="1"/>
          </p:cNvPicPr>
          <p:nvPr/>
        </p:nvPicPr>
        <p:blipFill>
          <a:blip r:embed="rId3"/>
          <a:stretch>
            <a:fillRect/>
          </a:stretch>
        </p:blipFill>
        <p:spPr>
          <a:xfrm>
            <a:off x="4837908" y="5258532"/>
            <a:ext cx="144841" cy="144841"/>
          </a:xfrm>
          <a:prstGeom prst="rect">
            <a:avLst/>
          </a:prstGeom>
        </p:spPr>
      </p:pic>
      <p:sp>
        <p:nvSpPr>
          <p:cNvPr id="49" name="red-cam2-3-circulo"/>
          <p:cNvSpPr/>
          <p:nvPr/>
        </p:nvSpPr>
        <p:spPr>
          <a:xfrm>
            <a:off x="5129784" y="5166360"/>
            <a:ext cx="329184" cy="329184"/>
          </a:xfrm>
          <a:prstGeom prst="ellipse">
            <a:avLst/>
          </a:prstGeom>
          <a:solidFill>
            <a:schemeClr val="accent2"/>
          </a:solidFill>
          <a:ln/>
        </p:spPr>
      </p:sp>
      <p:pic>
        <p:nvPicPr>
          <p:cNvPr id="50" name="red-cam2-3-icono" descr="preencoded.png"/>
          <p:cNvPicPr>
            <a:picLocks noChangeAspect="1"/>
          </p:cNvPicPr>
          <p:nvPr/>
        </p:nvPicPr>
        <p:blipFill>
          <a:blip r:embed="rId3"/>
          <a:stretch>
            <a:fillRect/>
          </a:stretch>
        </p:blipFill>
        <p:spPr>
          <a:xfrm>
            <a:off x="5221956" y="5258532"/>
            <a:ext cx="144841" cy="144841"/>
          </a:xfrm>
          <a:prstGeom prst="rect">
            <a:avLst/>
          </a:prstGeom>
        </p:spPr>
      </p:pic>
      <p:sp>
        <p:nvSpPr>
          <p:cNvPr id="51" name="Text 37"/>
          <p:cNvSpPr txBox="1"/>
          <p:nvPr/>
        </p:nvSpPr>
        <p:spPr>
          <a:xfrm>
            <a:off x="548640" y="5577840"/>
            <a:ext cx="4937760" cy="274320"/>
          </a:xfrm>
          <a:prstGeom prst="rect">
            <a:avLst/>
          </a:prstGeom>
          <a:noFill/>
          <a:ln/>
        </p:spPr>
        <p:txBody>
          <a:bodyPr wrap="square" lIns="0" tIns="0" rIns="0" bIns="0" rtlCol="0" anchor="t"/>
          <a:lstStyle/>
          <a:p>
            <a:pPr marL="0" indent="0" algn="ctr">
              <a:buNone/>
            </a:pPr>
            <a:r>
              <a:rPr lang="en-US" sz="1200" i="1" dirty="0">
                <a:solidFill>
                  <a:schemeClr val="accent5"/>
                </a:solidFill>
              </a:rPr>
              <a:t>hasta 100 m de cable por cámara</a:t>
            </a:r>
            <a:endParaRPr lang="en-US" sz="1200" dirty="0"/>
          </a:p>
        </p:txBody>
      </p:sp>
      <p:sp>
        <p:nvSpPr>
          <p:cNvPr id="52" name="dato0"/>
          <p:cNvSpPr/>
          <p:nvPr/>
        </p:nvSpPr>
        <p:spPr>
          <a:xfrm>
            <a:off x="6035040" y="1417320"/>
            <a:ext cx="5605272" cy="777240"/>
          </a:xfrm>
          <a:prstGeom prst="roundRect">
            <a:avLst>
              <a:gd name="adj" fmla="val 11765"/>
            </a:avLst>
          </a:prstGeom>
          <a:solidFill>
            <a:schemeClr val="bg2"/>
          </a:solidFill>
          <a:ln/>
        </p:spPr>
      </p:sp>
      <p:sp>
        <p:nvSpPr>
          <p:cNvPr id="53" name="Text 39"/>
          <p:cNvSpPr txBox="1"/>
          <p:nvPr/>
        </p:nvSpPr>
        <p:spPr>
          <a:xfrm>
            <a:off x="6217920" y="1490472"/>
            <a:ext cx="1600200" cy="640080"/>
          </a:xfrm>
          <a:prstGeom prst="rect">
            <a:avLst/>
          </a:prstGeom>
          <a:noFill/>
          <a:ln/>
        </p:spPr>
        <p:txBody>
          <a:bodyPr wrap="square" lIns="0" tIns="0" rIns="0" bIns="0" rtlCol="0" anchor="ctr"/>
          <a:lstStyle/>
          <a:p>
            <a:pPr marL="0" indent="0">
              <a:buNone/>
            </a:pPr>
            <a:r>
              <a:rPr lang="en-US" sz="1500" b="1" dirty="0">
                <a:solidFill>
                  <a:schemeClr val="tx2"/>
                </a:solidFill>
              </a:rPr>
              <a:t>25 puestos</a:t>
            </a:r>
            <a:endParaRPr lang="en-US" sz="1500" dirty="0"/>
          </a:p>
        </p:txBody>
      </p:sp>
      <p:sp>
        <p:nvSpPr>
          <p:cNvPr id="54" name="Text 40"/>
          <p:cNvSpPr txBox="1"/>
          <p:nvPr/>
        </p:nvSpPr>
        <p:spPr>
          <a:xfrm>
            <a:off x="7863840" y="1490472"/>
            <a:ext cx="3657600" cy="640080"/>
          </a:xfrm>
          <a:prstGeom prst="rect">
            <a:avLst/>
          </a:prstGeom>
          <a:noFill/>
          <a:ln/>
        </p:spPr>
        <p:txBody>
          <a:bodyPr wrap="square" lIns="0" tIns="0" rIns="0" bIns="0" rtlCol="0" anchor="ctr"/>
          <a:lstStyle/>
          <a:p>
            <a:pPr marL="0" indent="0">
              <a:buNone/>
            </a:pPr>
            <a:r>
              <a:rPr lang="en-US" sz="1300" dirty="0">
                <a:solidFill>
                  <a:schemeClr val="tx1"/>
                </a:solidFill>
              </a:rPr>
              <a:t>5–7 cámaras cenitales → 1 switch PoE de 24 puertos</a:t>
            </a:r>
            <a:endParaRPr lang="en-US" sz="1300" dirty="0"/>
          </a:p>
        </p:txBody>
      </p:sp>
      <p:sp>
        <p:nvSpPr>
          <p:cNvPr id="55" name="dato1"/>
          <p:cNvSpPr/>
          <p:nvPr/>
        </p:nvSpPr>
        <p:spPr>
          <a:xfrm>
            <a:off x="6035040" y="2313432"/>
            <a:ext cx="5605272" cy="777240"/>
          </a:xfrm>
          <a:prstGeom prst="roundRect">
            <a:avLst>
              <a:gd name="adj" fmla="val 11765"/>
            </a:avLst>
          </a:prstGeom>
          <a:solidFill>
            <a:schemeClr val="bg2"/>
          </a:solidFill>
          <a:ln/>
        </p:spPr>
      </p:sp>
      <p:sp>
        <p:nvSpPr>
          <p:cNvPr id="56" name="Text 42"/>
          <p:cNvSpPr txBox="1"/>
          <p:nvPr/>
        </p:nvSpPr>
        <p:spPr>
          <a:xfrm>
            <a:off x="6217920" y="2386584"/>
            <a:ext cx="1600200" cy="640080"/>
          </a:xfrm>
          <a:prstGeom prst="rect">
            <a:avLst/>
          </a:prstGeom>
          <a:noFill/>
          <a:ln/>
        </p:spPr>
        <p:txBody>
          <a:bodyPr wrap="square" lIns="0" tIns="0" rIns="0" bIns="0" rtlCol="0" anchor="ctr"/>
          <a:lstStyle/>
          <a:p>
            <a:pPr marL="0" indent="0">
              <a:buNone/>
            </a:pPr>
            <a:r>
              <a:rPr lang="en-US" sz="1500" b="1" dirty="0">
                <a:solidFill>
                  <a:schemeClr val="tx2"/>
                </a:solidFill>
              </a:rPr>
              <a:t>100 puestos</a:t>
            </a:r>
            <a:endParaRPr lang="en-US" sz="1500" dirty="0"/>
          </a:p>
        </p:txBody>
      </p:sp>
      <p:sp>
        <p:nvSpPr>
          <p:cNvPr id="57" name="Text 43"/>
          <p:cNvSpPr txBox="1"/>
          <p:nvPr/>
        </p:nvSpPr>
        <p:spPr>
          <a:xfrm>
            <a:off x="7863840" y="2386584"/>
            <a:ext cx="3657600" cy="640080"/>
          </a:xfrm>
          <a:prstGeom prst="rect">
            <a:avLst/>
          </a:prstGeom>
          <a:noFill/>
          <a:ln/>
        </p:spPr>
        <p:txBody>
          <a:bodyPr wrap="square" lIns="0" tIns="0" rIns="0" bIns="0" rtlCol="0" anchor="ctr"/>
          <a:lstStyle/>
          <a:p>
            <a:pPr marL="0" indent="0">
              <a:buNone/>
            </a:pPr>
            <a:r>
              <a:rPr lang="en-US" sz="1300" dirty="0">
                <a:solidFill>
                  <a:schemeClr val="tx1"/>
                </a:solidFill>
              </a:rPr>
              <a:t>17–25 cámaras → 1–2 switches PoE + 1 switch central</a:t>
            </a:r>
            <a:endParaRPr lang="en-US" sz="1300" dirty="0"/>
          </a:p>
        </p:txBody>
      </p:sp>
      <p:sp>
        <p:nvSpPr>
          <p:cNvPr id="58" name="dato2"/>
          <p:cNvSpPr/>
          <p:nvPr/>
        </p:nvSpPr>
        <p:spPr>
          <a:xfrm>
            <a:off x="6035040" y="3209544"/>
            <a:ext cx="5605272" cy="777240"/>
          </a:xfrm>
          <a:prstGeom prst="roundRect">
            <a:avLst>
              <a:gd name="adj" fmla="val 11765"/>
            </a:avLst>
          </a:prstGeom>
          <a:solidFill>
            <a:schemeClr val="bg2"/>
          </a:solidFill>
          <a:ln/>
        </p:spPr>
      </p:sp>
      <p:sp>
        <p:nvSpPr>
          <p:cNvPr id="59" name="Text 45"/>
          <p:cNvSpPr txBox="1"/>
          <p:nvPr/>
        </p:nvSpPr>
        <p:spPr>
          <a:xfrm>
            <a:off x="6217920" y="3282696"/>
            <a:ext cx="1600200" cy="640080"/>
          </a:xfrm>
          <a:prstGeom prst="rect">
            <a:avLst/>
          </a:prstGeom>
          <a:noFill/>
          <a:ln/>
        </p:spPr>
        <p:txBody>
          <a:bodyPr wrap="square" lIns="0" tIns="0" rIns="0" bIns="0" rtlCol="0" anchor="ctr"/>
          <a:lstStyle/>
          <a:p>
            <a:pPr marL="0" indent="0">
              <a:buNone/>
            </a:pPr>
            <a:r>
              <a:rPr lang="en-US" sz="1500" b="1" dirty="0">
                <a:solidFill>
                  <a:schemeClr val="tx2"/>
                </a:solidFill>
              </a:rPr>
              <a:t>Potencia PoE</a:t>
            </a:r>
            <a:endParaRPr lang="en-US" sz="1500" dirty="0"/>
          </a:p>
        </p:txBody>
      </p:sp>
      <p:sp>
        <p:nvSpPr>
          <p:cNvPr id="60" name="Text 46"/>
          <p:cNvSpPr txBox="1"/>
          <p:nvPr/>
        </p:nvSpPr>
        <p:spPr>
          <a:xfrm>
            <a:off x="7863840" y="3282696"/>
            <a:ext cx="3657600" cy="640080"/>
          </a:xfrm>
          <a:prstGeom prst="rect">
            <a:avLst/>
          </a:prstGeom>
          <a:noFill/>
          <a:ln/>
        </p:spPr>
        <p:txBody>
          <a:bodyPr wrap="square" lIns="0" tIns="0" rIns="0" bIns="0" rtlCol="0" anchor="ctr"/>
          <a:lstStyle/>
          <a:p>
            <a:pPr marL="0" indent="0">
              <a:buNone/>
            </a:pPr>
            <a:r>
              <a:rPr lang="en-US" sz="1300" dirty="0">
                <a:solidFill>
                  <a:schemeClr val="tx1"/>
                </a:solidFill>
              </a:rPr>
              <a:t>4–7 W por cámara: el switch debe dar 150–250 W o más</a:t>
            </a:r>
            <a:endParaRPr lang="en-US" sz="1300" dirty="0"/>
          </a:p>
        </p:txBody>
      </p:sp>
      <p:sp>
        <p:nvSpPr>
          <p:cNvPr id="61" name="dato3"/>
          <p:cNvSpPr/>
          <p:nvPr/>
        </p:nvSpPr>
        <p:spPr>
          <a:xfrm>
            <a:off x="6035040" y="4105656"/>
            <a:ext cx="5605272" cy="777240"/>
          </a:xfrm>
          <a:prstGeom prst="roundRect">
            <a:avLst>
              <a:gd name="adj" fmla="val 11765"/>
            </a:avLst>
          </a:prstGeom>
          <a:solidFill>
            <a:schemeClr val="bg2"/>
          </a:solidFill>
          <a:ln/>
        </p:spPr>
      </p:sp>
      <p:sp>
        <p:nvSpPr>
          <p:cNvPr id="62" name="Text 48"/>
          <p:cNvSpPr txBox="1"/>
          <p:nvPr/>
        </p:nvSpPr>
        <p:spPr>
          <a:xfrm>
            <a:off x="6217920" y="4178808"/>
            <a:ext cx="1600200" cy="640080"/>
          </a:xfrm>
          <a:prstGeom prst="rect">
            <a:avLst/>
          </a:prstGeom>
          <a:noFill/>
          <a:ln/>
        </p:spPr>
        <p:txBody>
          <a:bodyPr wrap="square" lIns="0" tIns="0" rIns="0" bIns="0" rtlCol="0" anchor="ctr"/>
          <a:lstStyle/>
          <a:p>
            <a:pPr marL="0" indent="0">
              <a:buNone/>
            </a:pPr>
            <a:r>
              <a:rPr lang="en-US" sz="1500" b="1" dirty="0">
                <a:solidFill>
                  <a:schemeClr val="tx2"/>
                </a:solidFill>
              </a:rPr>
              <a:t>Ancho de banda</a:t>
            </a:r>
            <a:endParaRPr lang="en-US" sz="1500" dirty="0"/>
          </a:p>
        </p:txBody>
      </p:sp>
      <p:sp>
        <p:nvSpPr>
          <p:cNvPr id="63" name="Text 49"/>
          <p:cNvSpPr txBox="1"/>
          <p:nvPr/>
        </p:nvSpPr>
        <p:spPr>
          <a:xfrm>
            <a:off x="7863840" y="4178808"/>
            <a:ext cx="3657600" cy="640080"/>
          </a:xfrm>
          <a:prstGeom prst="rect">
            <a:avLst/>
          </a:prstGeom>
          <a:noFill/>
          <a:ln/>
        </p:spPr>
        <p:txBody>
          <a:bodyPr wrap="square" lIns="0" tIns="0" rIns="0" bIns="0" rtlCol="0" anchor="ctr"/>
          <a:lstStyle/>
          <a:p>
            <a:pPr marL="0" indent="0">
              <a:buNone/>
            </a:pPr>
            <a:r>
              <a:rPr lang="en-US" sz="1300" dirty="0">
                <a:solidFill>
                  <a:schemeClr val="tx1"/>
                </a:solidFill>
              </a:rPr>
              <a:t>~3–4 Mbps por cámara 4 MP; subida de 1 Gbps entre switches</a:t>
            </a:r>
            <a:endParaRPr lang="en-US" sz="1300" dirty="0"/>
          </a:p>
        </p:txBody>
      </p:sp>
      <p:sp>
        <p:nvSpPr>
          <p:cNvPr id="64" name="dato4"/>
          <p:cNvSpPr/>
          <p:nvPr/>
        </p:nvSpPr>
        <p:spPr>
          <a:xfrm>
            <a:off x="6035040" y="5001768"/>
            <a:ext cx="5605272" cy="777240"/>
          </a:xfrm>
          <a:prstGeom prst="roundRect">
            <a:avLst>
              <a:gd name="adj" fmla="val 11765"/>
            </a:avLst>
          </a:prstGeom>
          <a:solidFill>
            <a:schemeClr val="bg2"/>
          </a:solidFill>
          <a:ln/>
        </p:spPr>
      </p:sp>
      <p:sp>
        <p:nvSpPr>
          <p:cNvPr id="65" name="Text 51"/>
          <p:cNvSpPr txBox="1"/>
          <p:nvPr/>
        </p:nvSpPr>
        <p:spPr>
          <a:xfrm>
            <a:off x="6217920" y="5074920"/>
            <a:ext cx="1600200" cy="640080"/>
          </a:xfrm>
          <a:prstGeom prst="rect">
            <a:avLst/>
          </a:prstGeom>
          <a:noFill/>
          <a:ln/>
        </p:spPr>
        <p:txBody>
          <a:bodyPr wrap="square" lIns="0" tIns="0" rIns="0" bIns="0" rtlCol="0" anchor="ctr"/>
          <a:lstStyle/>
          <a:p>
            <a:pPr marL="0" indent="0">
              <a:buNone/>
            </a:pPr>
            <a:r>
              <a:rPr lang="en-US" sz="1500" b="1" dirty="0">
                <a:solidFill>
                  <a:schemeClr val="accent4"/>
                </a:solidFill>
              </a:rPr>
              <a:t>¿Y por WiFi?</a:t>
            </a:r>
            <a:endParaRPr lang="en-US" sz="1500" dirty="0"/>
          </a:p>
        </p:txBody>
      </p:sp>
      <p:sp>
        <p:nvSpPr>
          <p:cNvPr id="66" name="Text 52"/>
          <p:cNvSpPr txBox="1"/>
          <p:nvPr/>
        </p:nvSpPr>
        <p:spPr>
          <a:xfrm>
            <a:off x="7863840" y="5074920"/>
            <a:ext cx="3657600" cy="640080"/>
          </a:xfrm>
          <a:prstGeom prst="rect">
            <a:avLst/>
          </a:prstGeom>
          <a:noFill/>
          <a:ln/>
        </p:spPr>
        <p:txBody>
          <a:bodyPr wrap="square" lIns="0" tIns="0" rIns="0" bIns="0" rtlCol="0" anchor="ctr"/>
          <a:lstStyle/>
          <a:p>
            <a:pPr marL="0" indent="0">
              <a:buNone/>
            </a:pPr>
            <a:r>
              <a:rPr lang="en-US" sz="1300" dirty="0">
                <a:solidFill>
                  <a:schemeClr val="tx1"/>
                </a:solidFill>
              </a:rPr>
              <a:t>Solo para los ESP32 (pocos datos). Video: máx. ~20 cámaras por AP de 5 GHz; preferir cable</a:t>
            </a:r>
            <a:endParaRPr lang="en-US" sz="1300" dirty="0"/>
          </a:p>
        </p:txBody>
      </p:sp>
      <p:sp>
        <p:nvSpPr>
          <p:cNvPr id="67"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F6B70"/>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1672" cy="868680"/>
          </a:xfrm>
          <a:prstGeom prst="rect">
            <a:avLst/>
          </a:prstGeom>
          <a:noFill/>
          <a:ln/>
        </p:spPr>
        <p:txBody>
          <a:bodyPr wrap="square" lIns="0" tIns="0" rIns="0" bIns="0" rtlCol="0" anchor="ctr"/>
          <a:lstStyle/>
          <a:p>
            <a:pPr marL="0" indent="0" algn="l">
              <a:buNone/>
            </a:pPr>
            <a:r>
              <a:rPr lang="en-US" sz="3200" b="1" dirty="0">
                <a:solidFill>
                  <a:schemeClr val="tx2"/>
                </a:solidFill>
              </a:rPr>
              <a:t>Componentes que vamos a necesitar</a:t>
            </a:r>
            <a:endParaRPr lang="en-US" sz="3200" dirty="0"/>
          </a:p>
        </p:txBody>
      </p:sp>
      <p:sp>
        <p:nvSpPr>
          <p:cNvPr id="3" name="comp0"/>
          <p:cNvSpPr/>
          <p:nvPr/>
        </p:nvSpPr>
        <p:spPr>
          <a:xfrm>
            <a:off x="548640" y="1325880"/>
            <a:ext cx="2601468" cy="2286000"/>
          </a:xfrm>
          <a:prstGeom prst="roundRect">
            <a:avLst>
              <a:gd name="adj" fmla="val 4000"/>
            </a:avLst>
          </a:prstGeom>
          <a:solidFill>
            <a:schemeClr val="bg2"/>
          </a:solidFill>
          <a:ln/>
        </p:spPr>
      </p:sp>
      <p:sp>
        <p:nvSpPr>
          <p:cNvPr id="4" name="comp-foto0"/>
          <p:cNvSpPr/>
          <p:nvPr/>
        </p:nvSpPr>
        <p:spPr>
          <a:xfrm>
            <a:off x="658368" y="1435608"/>
            <a:ext cx="2382012" cy="1261872"/>
          </a:xfrm>
          <a:prstGeom prst="roundRect">
            <a:avLst>
              <a:gd name="adj" fmla="val 5797"/>
            </a:avLst>
          </a:prstGeom>
          <a:solidFill>
            <a:srgbClr val="FFFFFF"/>
          </a:solidFill>
          <a:ln/>
        </p:spPr>
      </p:sp>
      <p:pic>
        <p:nvPicPr>
          <p:cNvPr id="5" name="comp-img0" descr="ESP32 (placa de desarrollo)"/>
          <p:cNvPicPr>
            <a:picLocks noChangeAspect="1"/>
          </p:cNvPicPr>
          <p:nvPr/>
        </p:nvPicPr>
        <p:blipFill>
          <a:blip r:embed="rId3"/>
          <a:stretch>
            <a:fillRect/>
          </a:stretch>
        </p:blipFill>
        <p:spPr>
          <a:xfrm>
            <a:off x="1066184" y="1508760"/>
            <a:ext cx="1566380" cy="1115568"/>
          </a:xfrm>
          <a:prstGeom prst="rect">
            <a:avLst/>
          </a:prstGeom>
        </p:spPr>
      </p:pic>
      <p:sp>
        <p:nvSpPr>
          <p:cNvPr id="6" name="Text 3"/>
          <p:cNvSpPr txBox="1"/>
          <p:nvPr/>
        </p:nvSpPr>
        <p:spPr>
          <a:xfrm>
            <a:off x="685800" y="2770632"/>
            <a:ext cx="2327148" cy="457200"/>
          </a:xfrm>
          <a:prstGeom prst="rect">
            <a:avLst/>
          </a:prstGeom>
          <a:noFill/>
          <a:ln/>
        </p:spPr>
        <p:txBody>
          <a:bodyPr wrap="square" lIns="0" tIns="0" rIns="0" bIns="0" rtlCol="0" anchor="t"/>
          <a:lstStyle/>
          <a:p>
            <a:pPr marL="0" indent="0">
              <a:buNone/>
            </a:pPr>
            <a:r>
              <a:rPr lang="en-US" sz="1300" b="1" dirty="0">
                <a:solidFill>
                  <a:schemeClr val="tx2"/>
                </a:solidFill>
              </a:rPr>
              <a:t>ESP32 (placa de desarrollo)</a:t>
            </a:r>
            <a:endParaRPr lang="en-US" sz="1300" dirty="0"/>
          </a:p>
        </p:txBody>
      </p:sp>
      <p:sp>
        <p:nvSpPr>
          <p:cNvPr id="7" name="Text 4"/>
          <p:cNvSpPr txBox="1"/>
          <p:nvPr/>
        </p:nvSpPr>
        <p:spPr>
          <a:xfrm>
            <a:off x="685800" y="3246120"/>
            <a:ext cx="2327148" cy="274320"/>
          </a:xfrm>
          <a:prstGeom prst="rect">
            <a:avLst/>
          </a:prstGeom>
          <a:noFill/>
          <a:ln/>
        </p:spPr>
        <p:txBody>
          <a:bodyPr wrap="square" lIns="0" tIns="0" rIns="0" bIns="0" rtlCol="0" anchor="t"/>
          <a:lstStyle/>
          <a:p>
            <a:pPr marL="0" indent="0">
              <a:buNone/>
            </a:pPr>
            <a:r>
              <a:rPr lang="en-US" sz="1200" b="1" dirty="0">
                <a:solidFill>
                  <a:schemeClr val="accent2"/>
                </a:solidFill>
              </a:rPr>
              <a:t>A · C</a:t>
            </a:r>
            <a:r>
              <a:rPr lang="en-US" sz="1200" dirty="0">
                <a:solidFill>
                  <a:schemeClr val="accent5"/>
                </a:solidFill>
              </a:rPr>
              <a:t>  ·  USD 6–10</a:t>
            </a:r>
            <a:endParaRPr lang="en-US" sz="1200" dirty="0"/>
          </a:p>
        </p:txBody>
      </p:sp>
      <p:sp>
        <p:nvSpPr>
          <p:cNvPr id="8" name="comp1"/>
          <p:cNvSpPr/>
          <p:nvPr/>
        </p:nvSpPr>
        <p:spPr>
          <a:xfrm>
            <a:off x="3378708" y="1325880"/>
            <a:ext cx="2601468" cy="2286000"/>
          </a:xfrm>
          <a:prstGeom prst="roundRect">
            <a:avLst>
              <a:gd name="adj" fmla="val 4000"/>
            </a:avLst>
          </a:prstGeom>
          <a:solidFill>
            <a:schemeClr val="bg2"/>
          </a:solidFill>
          <a:ln/>
        </p:spPr>
      </p:sp>
      <p:sp>
        <p:nvSpPr>
          <p:cNvPr id="9" name="comp-foto1"/>
          <p:cNvSpPr/>
          <p:nvPr/>
        </p:nvSpPr>
        <p:spPr>
          <a:xfrm>
            <a:off x="3488436" y="1435608"/>
            <a:ext cx="2382012" cy="1261872"/>
          </a:xfrm>
          <a:prstGeom prst="roundRect">
            <a:avLst>
              <a:gd name="adj" fmla="val 5797"/>
            </a:avLst>
          </a:prstGeom>
          <a:solidFill>
            <a:srgbClr val="FFFFFF"/>
          </a:solidFill>
          <a:ln/>
        </p:spPr>
      </p:sp>
      <p:pic>
        <p:nvPicPr>
          <p:cNvPr id="10" name="comp-img1" descr="Waveshare ESP32-S3-POE-ETH-M-CAM-KIT"/>
          <p:cNvPicPr>
            <a:picLocks noChangeAspect="1"/>
          </p:cNvPicPr>
          <p:nvPr/>
        </p:nvPicPr>
        <p:blipFill>
          <a:blip r:embed="rId4"/>
          <a:stretch>
            <a:fillRect/>
          </a:stretch>
        </p:blipFill>
        <p:spPr>
          <a:xfrm>
            <a:off x="3894300" y="1508760"/>
            <a:ext cx="1570283" cy="1115568"/>
          </a:xfrm>
          <a:prstGeom prst="rect">
            <a:avLst/>
          </a:prstGeom>
        </p:spPr>
      </p:pic>
      <p:sp>
        <p:nvSpPr>
          <p:cNvPr id="11" name="Text 7"/>
          <p:cNvSpPr txBox="1"/>
          <p:nvPr/>
        </p:nvSpPr>
        <p:spPr>
          <a:xfrm>
            <a:off x="3515868" y="2770632"/>
            <a:ext cx="2327148" cy="457200"/>
          </a:xfrm>
          <a:prstGeom prst="rect">
            <a:avLst/>
          </a:prstGeom>
          <a:noFill/>
          <a:ln/>
        </p:spPr>
        <p:txBody>
          <a:bodyPr wrap="square" lIns="0" tIns="0" rIns="0" bIns="0" rtlCol="0" anchor="t"/>
          <a:lstStyle/>
          <a:p>
            <a:pPr marL="0" indent="0">
              <a:buNone/>
            </a:pPr>
            <a:r>
              <a:rPr lang="en-US" sz="1300" b="1" dirty="0">
                <a:solidFill>
                  <a:schemeClr val="tx2"/>
                </a:solidFill>
              </a:rPr>
              <a:t>Waveshare ESP32-S3-POE-ETH-M-CAM-KIT</a:t>
            </a:r>
            <a:endParaRPr lang="en-US" sz="1300" dirty="0"/>
          </a:p>
        </p:txBody>
      </p:sp>
      <p:sp>
        <p:nvSpPr>
          <p:cNvPr id="12" name="Text 8"/>
          <p:cNvSpPr txBox="1"/>
          <p:nvPr/>
        </p:nvSpPr>
        <p:spPr>
          <a:xfrm>
            <a:off x="3515868" y="3246120"/>
            <a:ext cx="2327148" cy="274320"/>
          </a:xfrm>
          <a:prstGeom prst="rect">
            <a:avLst/>
          </a:prstGeom>
          <a:noFill/>
          <a:ln/>
        </p:spPr>
        <p:txBody>
          <a:bodyPr wrap="square" lIns="0" tIns="0" rIns="0" bIns="0" rtlCol="0" anchor="t"/>
          <a:lstStyle/>
          <a:p>
            <a:pPr marL="0" indent="0">
              <a:buNone/>
            </a:pPr>
            <a:r>
              <a:rPr lang="en-US" sz="1200" b="1" dirty="0">
                <a:solidFill>
                  <a:schemeClr val="accent2"/>
                </a:solidFill>
              </a:rPr>
              <a:t>B</a:t>
            </a:r>
            <a:r>
              <a:rPr lang="en-US" sz="1200" dirty="0">
                <a:solidFill>
                  <a:schemeClr val="accent5"/>
                </a:solidFill>
              </a:rPr>
              <a:t>  ·  Placa USD ~21 + PoE + cámara</a:t>
            </a:r>
            <a:endParaRPr lang="en-US" sz="1200" dirty="0"/>
          </a:p>
        </p:txBody>
      </p:sp>
      <p:sp>
        <p:nvSpPr>
          <p:cNvPr id="13" name="comp2"/>
          <p:cNvSpPr/>
          <p:nvPr/>
        </p:nvSpPr>
        <p:spPr>
          <a:xfrm>
            <a:off x="6208776" y="1325880"/>
            <a:ext cx="2601468" cy="2286000"/>
          </a:xfrm>
          <a:prstGeom prst="roundRect">
            <a:avLst>
              <a:gd name="adj" fmla="val 4000"/>
            </a:avLst>
          </a:prstGeom>
          <a:solidFill>
            <a:schemeClr val="bg2"/>
          </a:solidFill>
          <a:ln/>
        </p:spPr>
      </p:sp>
      <p:sp>
        <p:nvSpPr>
          <p:cNvPr id="14" name="comp-foto2"/>
          <p:cNvSpPr/>
          <p:nvPr/>
        </p:nvSpPr>
        <p:spPr>
          <a:xfrm>
            <a:off x="6318504" y="1435608"/>
            <a:ext cx="2382012" cy="1261872"/>
          </a:xfrm>
          <a:prstGeom prst="roundRect">
            <a:avLst>
              <a:gd name="adj" fmla="val 5797"/>
            </a:avLst>
          </a:prstGeom>
          <a:solidFill>
            <a:srgbClr val="FFFFFF"/>
          </a:solidFill>
          <a:ln/>
        </p:spPr>
      </p:sp>
      <p:pic>
        <p:nvPicPr>
          <p:cNvPr id="15" name="comp-img2" descr="Pinza de corriente SCT-013"/>
          <p:cNvPicPr>
            <a:picLocks noChangeAspect="1"/>
          </p:cNvPicPr>
          <p:nvPr/>
        </p:nvPicPr>
        <p:blipFill>
          <a:blip r:embed="rId5"/>
          <a:stretch>
            <a:fillRect/>
          </a:stretch>
        </p:blipFill>
        <p:spPr>
          <a:xfrm>
            <a:off x="6409944" y="1520818"/>
            <a:ext cx="2199132" cy="1091451"/>
          </a:xfrm>
          <a:prstGeom prst="rect">
            <a:avLst/>
          </a:prstGeom>
        </p:spPr>
      </p:pic>
      <p:sp>
        <p:nvSpPr>
          <p:cNvPr id="16" name="Text 11"/>
          <p:cNvSpPr txBox="1"/>
          <p:nvPr/>
        </p:nvSpPr>
        <p:spPr>
          <a:xfrm>
            <a:off x="6345936" y="2770632"/>
            <a:ext cx="2327148" cy="457200"/>
          </a:xfrm>
          <a:prstGeom prst="rect">
            <a:avLst/>
          </a:prstGeom>
          <a:noFill/>
          <a:ln/>
        </p:spPr>
        <p:txBody>
          <a:bodyPr wrap="square" lIns="0" tIns="0" rIns="0" bIns="0" rtlCol="0" anchor="t"/>
          <a:lstStyle/>
          <a:p>
            <a:pPr marL="0" indent="0">
              <a:buNone/>
            </a:pPr>
            <a:r>
              <a:rPr lang="en-US" sz="1300" b="1" dirty="0">
                <a:solidFill>
                  <a:schemeClr val="tx2"/>
                </a:solidFill>
              </a:rPr>
              <a:t>Pinza de corriente SCT-013</a:t>
            </a:r>
            <a:endParaRPr lang="en-US" sz="1300" dirty="0"/>
          </a:p>
        </p:txBody>
      </p:sp>
      <p:sp>
        <p:nvSpPr>
          <p:cNvPr id="17" name="Text 12"/>
          <p:cNvSpPr txBox="1"/>
          <p:nvPr/>
        </p:nvSpPr>
        <p:spPr>
          <a:xfrm>
            <a:off x="6345936" y="3246120"/>
            <a:ext cx="2327148" cy="274320"/>
          </a:xfrm>
          <a:prstGeom prst="rect">
            <a:avLst/>
          </a:prstGeom>
          <a:noFill/>
          <a:ln/>
        </p:spPr>
        <p:txBody>
          <a:bodyPr wrap="square" lIns="0" tIns="0" rIns="0" bIns="0" rtlCol="0" anchor="t"/>
          <a:lstStyle/>
          <a:p>
            <a:pPr marL="0" indent="0">
              <a:buNone/>
            </a:pPr>
            <a:r>
              <a:rPr lang="en-US" sz="1200" b="1" dirty="0">
                <a:solidFill>
                  <a:schemeClr val="accent2"/>
                </a:solidFill>
              </a:rPr>
              <a:t>A · B · C</a:t>
            </a:r>
            <a:r>
              <a:rPr lang="en-US" sz="1200" dirty="0">
                <a:solidFill>
                  <a:schemeClr val="accent5"/>
                </a:solidFill>
              </a:rPr>
              <a:t>  ·  USD 6–12</a:t>
            </a:r>
            <a:endParaRPr lang="en-US" sz="1200" dirty="0"/>
          </a:p>
        </p:txBody>
      </p:sp>
      <p:sp>
        <p:nvSpPr>
          <p:cNvPr id="18" name="comp3"/>
          <p:cNvSpPr/>
          <p:nvPr/>
        </p:nvSpPr>
        <p:spPr>
          <a:xfrm>
            <a:off x="9038844" y="1325880"/>
            <a:ext cx="2601468" cy="2286000"/>
          </a:xfrm>
          <a:prstGeom prst="roundRect">
            <a:avLst>
              <a:gd name="adj" fmla="val 4000"/>
            </a:avLst>
          </a:prstGeom>
          <a:solidFill>
            <a:schemeClr val="bg2"/>
          </a:solidFill>
          <a:ln/>
        </p:spPr>
      </p:sp>
      <p:sp>
        <p:nvSpPr>
          <p:cNvPr id="19" name="comp-foto3"/>
          <p:cNvSpPr/>
          <p:nvPr/>
        </p:nvSpPr>
        <p:spPr>
          <a:xfrm>
            <a:off x="9148572" y="1435608"/>
            <a:ext cx="2382012" cy="1261872"/>
          </a:xfrm>
          <a:prstGeom prst="roundRect">
            <a:avLst>
              <a:gd name="adj" fmla="val 5797"/>
            </a:avLst>
          </a:prstGeom>
          <a:solidFill>
            <a:srgbClr val="FFFFFF"/>
          </a:solidFill>
          <a:ln/>
        </p:spPr>
      </p:sp>
      <p:pic>
        <p:nvPicPr>
          <p:cNvPr id="20" name="comp-img3" descr="Radar de presencia LD2410"/>
          <p:cNvPicPr>
            <a:picLocks noChangeAspect="1"/>
          </p:cNvPicPr>
          <p:nvPr/>
        </p:nvPicPr>
        <p:blipFill>
          <a:blip r:embed="rId6"/>
          <a:stretch>
            <a:fillRect/>
          </a:stretch>
        </p:blipFill>
        <p:spPr>
          <a:xfrm>
            <a:off x="9639813" y="1508760"/>
            <a:ext cx="1399531" cy="1115568"/>
          </a:xfrm>
          <a:prstGeom prst="rect">
            <a:avLst/>
          </a:prstGeom>
        </p:spPr>
      </p:pic>
      <p:sp>
        <p:nvSpPr>
          <p:cNvPr id="21" name="Text 15"/>
          <p:cNvSpPr txBox="1"/>
          <p:nvPr/>
        </p:nvSpPr>
        <p:spPr>
          <a:xfrm>
            <a:off x="9176004" y="2770632"/>
            <a:ext cx="2327148" cy="457200"/>
          </a:xfrm>
          <a:prstGeom prst="rect">
            <a:avLst/>
          </a:prstGeom>
          <a:noFill/>
          <a:ln/>
        </p:spPr>
        <p:txBody>
          <a:bodyPr wrap="square" lIns="0" tIns="0" rIns="0" bIns="0" rtlCol="0" anchor="t"/>
          <a:lstStyle/>
          <a:p>
            <a:pPr marL="0" indent="0">
              <a:buNone/>
            </a:pPr>
            <a:r>
              <a:rPr lang="en-US" sz="1300" b="1" dirty="0">
                <a:solidFill>
                  <a:schemeClr val="tx2"/>
                </a:solidFill>
              </a:rPr>
              <a:t>Radar de presencia LD2410</a:t>
            </a:r>
            <a:endParaRPr lang="en-US" sz="1300" dirty="0"/>
          </a:p>
        </p:txBody>
      </p:sp>
      <p:sp>
        <p:nvSpPr>
          <p:cNvPr id="22" name="Text 16"/>
          <p:cNvSpPr txBox="1"/>
          <p:nvPr/>
        </p:nvSpPr>
        <p:spPr>
          <a:xfrm>
            <a:off x="9176004" y="3246120"/>
            <a:ext cx="2327148" cy="274320"/>
          </a:xfrm>
          <a:prstGeom prst="rect">
            <a:avLst/>
          </a:prstGeom>
          <a:noFill/>
          <a:ln/>
        </p:spPr>
        <p:txBody>
          <a:bodyPr wrap="square" lIns="0" tIns="0" rIns="0" bIns="0" rtlCol="0" anchor="t"/>
          <a:lstStyle/>
          <a:p>
            <a:pPr marL="0" indent="0">
              <a:buNone/>
            </a:pPr>
            <a:r>
              <a:rPr lang="en-US" sz="1200" b="1" dirty="0">
                <a:solidFill>
                  <a:schemeClr val="accent2"/>
                </a:solidFill>
              </a:rPr>
              <a:t>A · B</a:t>
            </a:r>
            <a:r>
              <a:rPr lang="en-US" sz="1200" dirty="0">
                <a:solidFill>
                  <a:schemeClr val="accent5"/>
                </a:solidFill>
              </a:rPr>
              <a:t>  ·  USD 3–6</a:t>
            </a:r>
            <a:endParaRPr lang="en-US" sz="1200" dirty="0"/>
          </a:p>
        </p:txBody>
      </p:sp>
      <p:sp>
        <p:nvSpPr>
          <p:cNvPr id="23" name="comp4"/>
          <p:cNvSpPr/>
          <p:nvPr/>
        </p:nvSpPr>
        <p:spPr>
          <a:xfrm>
            <a:off x="548640" y="3794760"/>
            <a:ext cx="2601468" cy="2286000"/>
          </a:xfrm>
          <a:prstGeom prst="roundRect">
            <a:avLst>
              <a:gd name="adj" fmla="val 4000"/>
            </a:avLst>
          </a:prstGeom>
          <a:solidFill>
            <a:schemeClr val="bg2"/>
          </a:solidFill>
          <a:ln/>
        </p:spPr>
      </p:sp>
      <p:sp>
        <p:nvSpPr>
          <p:cNvPr id="24" name="comp-foto4"/>
          <p:cNvSpPr/>
          <p:nvPr/>
        </p:nvSpPr>
        <p:spPr>
          <a:xfrm>
            <a:off x="658368" y="3904488"/>
            <a:ext cx="2382012" cy="1261872"/>
          </a:xfrm>
          <a:prstGeom prst="roundRect">
            <a:avLst>
              <a:gd name="adj" fmla="val 5797"/>
            </a:avLst>
          </a:prstGeom>
          <a:solidFill>
            <a:srgbClr val="FFFFFF"/>
          </a:solidFill>
          <a:ln/>
        </p:spPr>
      </p:sp>
      <p:pic>
        <p:nvPicPr>
          <p:cNvPr id="25" name="comp-img4" descr="Botonera de causas"/>
          <p:cNvPicPr>
            <a:picLocks noChangeAspect="1"/>
          </p:cNvPicPr>
          <p:nvPr/>
        </p:nvPicPr>
        <p:blipFill>
          <a:blip r:embed="rId7"/>
          <a:stretch>
            <a:fillRect/>
          </a:stretch>
        </p:blipFill>
        <p:spPr>
          <a:xfrm>
            <a:off x="963198" y="3977640"/>
            <a:ext cx="1772353" cy="1115568"/>
          </a:xfrm>
          <a:prstGeom prst="rect">
            <a:avLst/>
          </a:prstGeom>
        </p:spPr>
      </p:pic>
      <p:sp>
        <p:nvSpPr>
          <p:cNvPr id="26" name="Text 19"/>
          <p:cNvSpPr txBox="1"/>
          <p:nvPr/>
        </p:nvSpPr>
        <p:spPr>
          <a:xfrm>
            <a:off x="685800" y="5239512"/>
            <a:ext cx="2327148" cy="457200"/>
          </a:xfrm>
          <a:prstGeom prst="rect">
            <a:avLst/>
          </a:prstGeom>
          <a:noFill/>
          <a:ln/>
        </p:spPr>
        <p:txBody>
          <a:bodyPr wrap="square" lIns="0" tIns="0" rIns="0" bIns="0" rtlCol="0" anchor="t"/>
          <a:lstStyle/>
          <a:p>
            <a:pPr marL="0" indent="0">
              <a:buNone/>
            </a:pPr>
            <a:r>
              <a:rPr lang="en-US" sz="1300" b="1" dirty="0">
                <a:solidFill>
                  <a:schemeClr val="tx2"/>
                </a:solidFill>
              </a:rPr>
              <a:t>Botonera de causas</a:t>
            </a:r>
            <a:endParaRPr lang="en-US" sz="1300" dirty="0"/>
          </a:p>
        </p:txBody>
      </p:sp>
      <p:sp>
        <p:nvSpPr>
          <p:cNvPr id="27" name="Text 20"/>
          <p:cNvSpPr txBox="1"/>
          <p:nvPr/>
        </p:nvSpPr>
        <p:spPr>
          <a:xfrm>
            <a:off x="685800" y="5715000"/>
            <a:ext cx="2327148" cy="274320"/>
          </a:xfrm>
          <a:prstGeom prst="rect">
            <a:avLst/>
          </a:prstGeom>
          <a:noFill/>
          <a:ln/>
        </p:spPr>
        <p:txBody>
          <a:bodyPr wrap="square" lIns="0" tIns="0" rIns="0" bIns="0" rtlCol="0" anchor="t"/>
          <a:lstStyle/>
          <a:p>
            <a:pPr marL="0" indent="0">
              <a:buNone/>
            </a:pPr>
            <a:r>
              <a:rPr lang="en-US" sz="1200" b="1" dirty="0">
                <a:solidFill>
                  <a:schemeClr val="accent2"/>
                </a:solidFill>
              </a:rPr>
              <a:t>A · B · C</a:t>
            </a:r>
            <a:r>
              <a:rPr lang="en-US" sz="1200" dirty="0">
                <a:solidFill>
                  <a:schemeClr val="accent5"/>
                </a:solidFill>
              </a:rPr>
              <a:t>  ·  USD 5–8</a:t>
            </a:r>
            <a:endParaRPr lang="en-US" sz="1200" dirty="0"/>
          </a:p>
        </p:txBody>
      </p:sp>
      <p:sp>
        <p:nvSpPr>
          <p:cNvPr id="28" name="comp5"/>
          <p:cNvSpPr/>
          <p:nvPr/>
        </p:nvSpPr>
        <p:spPr>
          <a:xfrm>
            <a:off x="3378708" y="3794760"/>
            <a:ext cx="2601468" cy="2286000"/>
          </a:xfrm>
          <a:prstGeom prst="roundRect">
            <a:avLst>
              <a:gd name="adj" fmla="val 4000"/>
            </a:avLst>
          </a:prstGeom>
          <a:solidFill>
            <a:schemeClr val="bg2"/>
          </a:solidFill>
          <a:ln/>
        </p:spPr>
      </p:sp>
      <p:sp>
        <p:nvSpPr>
          <p:cNvPr id="29" name="comp-foto5"/>
          <p:cNvSpPr/>
          <p:nvPr/>
        </p:nvSpPr>
        <p:spPr>
          <a:xfrm>
            <a:off x="3488436" y="3904488"/>
            <a:ext cx="2382012" cy="1261872"/>
          </a:xfrm>
          <a:prstGeom prst="roundRect">
            <a:avLst>
              <a:gd name="adj" fmla="val 5797"/>
            </a:avLst>
          </a:prstGeom>
          <a:solidFill>
            <a:srgbClr val="FFFFFF"/>
          </a:solidFill>
          <a:ln/>
        </p:spPr>
      </p:sp>
      <p:pic>
        <p:nvPicPr>
          <p:cNvPr id="30" name="comp-img5" descr="Cámara IP cenital 4 MP PoE"/>
          <p:cNvPicPr>
            <a:picLocks noChangeAspect="1"/>
          </p:cNvPicPr>
          <p:nvPr/>
        </p:nvPicPr>
        <p:blipFill>
          <a:blip r:embed="rId8"/>
          <a:stretch>
            <a:fillRect/>
          </a:stretch>
        </p:blipFill>
        <p:spPr>
          <a:xfrm>
            <a:off x="3877786" y="3977640"/>
            <a:ext cx="1603313" cy="1115568"/>
          </a:xfrm>
          <a:prstGeom prst="rect">
            <a:avLst/>
          </a:prstGeom>
        </p:spPr>
      </p:pic>
      <p:sp>
        <p:nvSpPr>
          <p:cNvPr id="31" name="Text 23"/>
          <p:cNvSpPr txBox="1"/>
          <p:nvPr/>
        </p:nvSpPr>
        <p:spPr>
          <a:xfrm>
            <a:off x="3515868" y="5239512"/>
            <a:ext cx="2327148" cy="457200"/>
          </a:xfrm>
          <a:prstGeom prst="rect">
            <a:avLst/>
          </a:prstGeom>
          <a:noFill/>
          <a:ln/>
        </p:spPr>
        <p:txBody>
          <a:bodyPr wrap="square" lIns="0" tIns="0" rIns="0" bIns="0" rtlCol="0" anchor="t"/>
          <a:lstStyle/>
          <a:p>
            <a:pPr marL="0" indent="0">
              <a:buNone/>
            </a:pPr>
            <a:r>
              <a:rPr lang="en-US" sz="1300" b="1" dirty="0">
                <a:solidFill>
                  <a:schemeClr val="tx2"/>
                </a:solidFill>
              </a:rPr>
              <a:t>Cámara IP cenital 4 MP PoE</a:t>
            </a:r>
            <a:endParaRPr lang="en-US" sz="1300" dirty="0"/>
          </a:p>
        </p:txBody>
      </p:sp>
      <p:sp>
        <p:nvSpPr>
          <p:cNvPr id="32" name="Text 24"/>
          <p:cNvSpPr txBox="1"/>
          <p:nvPr/>
        </p:nvSpPr>
        <p:spPr>
          <a:xfrm>
            <a:off x="3515868" y="5715000"/>
            <a:ext cx="2327148" cy="274320"/>
          </a:xfrm>
          <a:prstGeom prst="rect">
            <a:avLst/>
          </a:prstGeom>
          <a:noFill/>
          <a:ln/>
        </p:spPr>
        <p:txBody>
          <a:bodyPr wrap="square" lIns="0" tIns="0" rIns="0" bIns="0" rtlCol="0" anchor="t"/>
          <a:lstStyle/>
          <a:p>
            <a:pPr marL="0" indent="0">
              <a:buNone/>
            </a:pPr>
            <a:r>
              <a:rPr lang="en-US" sz="1200" b="1" dirty="0">
                <a:solidFill>
                  <a:schemeClr val="accent2"/>
                </a:solidFill>
              </a:rPr>
              <a:t>C</a:t>
            </a:r>
            <a:r>
              <a:rPr lang="en-US" sz="1200" dirty="0">
                <a:solidFill>
                  <a:schemeClr val="accent5"/>
                </a:solidFill>
              </a:rPr>
              <a:t>  ·  USD 50–100</a:t>
            </a:r>
            <a:endParaRPr lang="en-US" sz="1200" dirty="0"/>
          </a:p>
        </p:txBody>
      </p:sp>
      <p:sp>
        <p:nvSpPr>
          <p:cNvPr id="33" name="comp6"/>
          <p:cNvSpPr/>
          <p:nvPr/>
        </p:nvSpPr>
        <p:spPr>
          <a:xfrm>
            <a:off x="6208776" y="3794760"/>
            <a:ext cx="2601468" cy="2286000"/>
          </a:xfrm>
          <a:prstGeom prst="roundRect">
            <a:avLst>
              <a:gd name="adj" fmla="val 4000"/>
            </a:avLst>
          </a:prstGeom>
          <a:solidFill>
            <a:schemeClr val="bg2"/>
          </a:solidFill>
          <a:ln/>
        </p:spPr>
      </p:sp>
      <p:sp>
        <p:nvSpPr>
          <p:cNvPr id="34" name="comp-foto6"/>
          <p:cNvSpPr/>
          <p:nvPr/>
        </p:nvSpPr>
        <p:spPr>
          <a:xfrm>
            <a:off x="6318504" y="3904488"/>
            <a:ext cx="2382012" cy="1261872"/>
          </a:xfrm>
          <a:prstGeom prst="roundRect">
            <a:avLst>
              <a:gd name="adj" fmla="val 5797"/>
            </a:avLst>
          </a:prstGeom>
          <a:solidFill>
            <a:srgbClr val="FFFFFF"/>
          </a:solidFill>
          <a:ln/>
        </p:spPr>
      </p:sp>
      <p:pic>
        <p:nvPicPr>
          <p:cNvPr id="35" name="comp-img6" descr="Switch PoE 24 puertos"/>
          <p:cNvPicPr>
            <a:picLocks noChangeAspect="1"/>
          </p:cNvPicPr>
          <p:nvPr/>
        </p:nvPicPr>
        <p:blipFill>
          <a:blip r:embed="rId9"/>
          <a:stretch>
            <a:fillRect/>
          </a:stretch>
        </p:blipFill>
        <p:spPr>
          <a:xfrm>
            <a:off x="6409944" y="4139540"/>
            <a:ext cx="2199132" cy="791769"/>
          </a:xfrm>
          <a:prstGeom prst="rect">
            <a:avLst/>
          </a:prstGeom>
        </p:spPr>
      </p:pic>
      <p:sp>
        <p:nvSpPr>
          <p:cNvPr id="36" name="Text 27"/>
          <p:cNvSpPr txBox="1"/>
          <p:nvPr/>
        </p:nvSpPr>
        <p:spPr>
          <a:xfrm>
            <a:off x="6345936" y="5239512"/>
            <a:ext cx="2327148" cy="457200"/>
          </a:xfrm>
          <a:prstGeom prst="rect">
            <a:avLst/>
          </a:prstGeom>
          <a:noFill/>
          <a:ln/>
        </p:spPr>
        <p:txBody>
          <a:bodyPr wrap="square" lIns="0" tIns="0" rIns="0" bIns="0" rtlCol="0" anchor="t"/>
          <a:lstStyle/>
          <a:p>
            <a:pPr marL="0" indent="0">
              <a:buNone/>
            </a:pPr>
            <a:r>
              <a:rPr lang="en-US" sz="1300" b="1" dirty="0">
                <a:solidFill>
                  <a:schemeClr val="tx2"/>
                </a:solidFill>
              </a:rPr>
              <a:t>Switch PoE 24 puertos</a:t>
            </a:r>
            <a:endParaRPr lang="en-US" sz="1300" dirty="0"/>
          </a:p>
        </p:txBody>
      </p:sp>
      <p:sp>
        <p:nvSpPr>
          <p:cNvPr id="37" name="Text 28"/>
          <p:cNvSpPr txBox="1"/>
          <p:nvPr/>
        </p:nvSpPr>
        <p:spPr>
          <a:xfrm>
            <a:off x="6345936" y="5715000"/>
            <a:ext cx="2327148" cy="274320"/>
          </a:xfrm>
          <a:prstGeom prst="rect">
            <a:avLst/>
          </a:prstGeom>
          <a:noFill/>
          <a:ln/>
        </p:spPr>
        <p:txBody>
          <a:bodyPr wrap="square" lIns="0" tIns="0" rIns="0" bIns="0" rtlCol="0" anchor="t"/>
          <a:lstStyle/>
          <a:p>
            <a:pPr marL="0" indent="0">
              <a:buNone/>
            </a:pPr>
            <a:r>
              <a:rPr lang="en-US" sz="1200" b="1" dirty="0">
                <a:solidFill>
                  <a:schemeClr val="accent2"/>
                </a:solidFill>
              </a:rPr>
              <a:t>B · C</a:t>
            </a:r>
            <a:r>
              <a:rPr lang="en-US" sz="1200" dirty="0">
                <a:solidFill>
                  <a:schemeClr val="accent5"/>
                </a:solidFill>
              </a:rPr>
              <a:t>  ·  USD 250–600</a:t>
            </a:r>
            <a:endParaRPr lang="en-US" sz="1200" dirty="0"/>
          </a:p>
        </p:txBody>
      </p:sp>
      <p:sp>
        <p:nvSpPr>
          <p:cNvPr id="38" name="comp7"/>
          <p:cNvSpPr/>
          <p:nvPr/>
        </p:nvSpPr>
        <p:spPr>
          <a:xfrm>
            <a:off x="9038844" y="3794760"/>
            <a:ext cx="2601468" cy="2286000"/>
          </a:xfrm>
          <a:prstGeom prst="roundRect">
            <a:avLst>
              <a:gd name="adj" fmla="val 4000"/>
            </a:avLst>
          </a:prstGeom>
          <a:solidFill>
            <a:schemeClr val="bg2"/>
          </a:solidFill>
          <a:ln/>
        </p:spPr>
      </p:sp>
      <p:sp>
        <p:nvSpPr>
          <p:cNvPr id="39" name="comp-foto7"/>
          <p:cNvSpPr/>
          <p:nvPr/>
        </p:nvSpPr>
        <p:spPr>
          <a:xfrm>
            <a:off x="9148572" y="3904488"/>
            <a:ext cx="2382012" cy="1261872"/>
          </a:xfrm>
          <a:prstGeom prst="roundRect">
            <a:avLst>
              <a:gd name="adj" fmla="val 5797"/>
            </a:avLst>
          </a:prstGeom>
          <a:solidFill>
            <a:srgbClr val="FFFFFF"/>
          </a:solidFill>
          <a:ln/>
        </p:spPr>
      </p:sp>
      <p:pic>
        <p:nvPicPr>
          <p:cNvPr id="40" name="comp-img7" descr="PC servidor (GPU para C)"/>
          <p:cNvPicPr>
            <a:picLocks noChangeAspect="1"/>
          </p:cNvPicPr>
          <p:nvPr/>
        </p:nvPicPr>
        <p:blipFill>
          <a:blip r:embed="rId10"/>
          <a:stretch>
            <a:fillRect/>
          </a:stretch>
        </p:blipFill>
        <p:spPr>
          <a:xfrm>
            <a:off x="9818316" y="3977640"/>
            <a:ext cx="1042525" cy="1115568"/>
          </a:xfrm>
          <a:prstGeom prst="rect">
            <a:avLst/>
          </a:prstGeom>
        </p:spPr>
      </p:pic>
      <p:sp>
        <p:nvSpPr>
          <p:cNvPr id="41" name="Text 31"/>
          <p:cNvSpPr txBox="1"/>
          <p:nvPr/>
        </p:nvSpPr>
        <p:spPr>
          <a:xfrm>
            <a:off x="9176004" y="5239512"/>
            <a:ext cx="2327148" cy="457200"/>
          </a:xfrm>
          <a:prstGeom prst="rect">
            <a:avLst/>
          </a:prstGeom>
          <a:noFill/>
          <a:ln/>
        </p:spPr>
        <p:txBody>
          <a:bodyPr wrap="square" lIns="0" tIns="0" rIns="0" bIns="0" rtlCol="0" anchor="t"/>
          <a:lstStyle/>
          <a:p>
            <a:pPr marL="0" indent="0">
              <a:buNone/>
            </a:pPr>
            <a:r>
              <a:rPr lang="en-US" sz="1300" b="1" dirty="0">
                <a:solidFill>
                  <a:schemeClr val="tx2"/>
                </a:solidFill>
              </a:rPr>
              <a:t>PC servidor (GPU para C)</a:t>
            </a:r>
            <a:endParaRPr lang="en-US" sz="1300" dirty="0"/>
          </a:p>
        </p:txBody>
      </p:sp>
      <p:sp>
        <p:nvSpPr>
          <p:cNvPr id="42" name="Text 32"/>
          <p:cNvSpPr txBox="1"/>
          <p:nvPr/>
        </p:nvSpPr>
        <p:spPr>
          <a:xfrm>
            <a:off x="9176004" y="5715000"/>
            <a:ext cx="2327148" cy="274320"/>
          </a:xfrm>
          <a:prstGeom prst="rect">
            <a:avLst/>
          </a:prstGeom>
          <a:noFill/>
          <a:ln/>
        </p:spPr>
        <p:txBody>
          <a:bodyPr wrap="square" lIns="0" tIns="0" rIns="0" bIns="0" rtlCol="0" anchor="t"/>
          <a:lstStyle/>
          <a:p>
            <a:pPr marL="0" indent="0">
              <a:buNone/>
            </a:pPr>
            <a:r>
              <a:rPr lang="en-US" sz="1200" b="1" dirty="0">
                <a:solidFill>
                  <a:schemeClr val="accent2"/>
                </a:solidFill>
              </a:rPr>
              <a:t>A · B · C</a:t>
            </a:r>
            <a:r>
              <a:rPr lang="en-US" sz="1200" dirty="0">
                <a:solidFill>
                  <a:schemeClr val="accent5"/>
                </a:solidFill>
              </a:rPr>
              <a:t>  ·  USD 900–1,600</a:t>
            </a:r>
            <a:endParaRPr lang="en-US" sz="1200" dirty="0"/>
          </a:p>
        </p:txBody>
      </p:sp>
      <p:sp>
        <p:nvSpPr>
          <p:cNvPr id="43" name="Text 33"/>
          <p:cNvSpPr txBox="1"/>
          <p:nvPr/>
        </p:nvSpPr>
        <p:spPr>
          <a:xfrm>
            <a:off x="548640" y="6053328"/>
            <a:ext cx="11091672" cy="256032"/>
          </a:xfrm>
          <a:prstGeom prst="rect">
            <a:avLst/>
          </a:prstGeom>
          <a:noFill/>
          <a:ln/>
        </p:spPr>
        <p:txBody>
          <a:bodyPr wrap="square" lIns="0" tIns="0" rIns="0" bIns="0" rtlCol="0" anchor="t"/>
          <a:lstStyle/>
          <a:p>
            <a:pPr marL="0" indent="0">
              <a:buNone/>
            </a:pPr>
            <a:r>
              <a:rPr lang="en-US" sz="1000" i="1" dirty="0">
                <a:solidFill>
                  <a:schemeClr val="accent5"/>
                </a:solidFill>
              </a:rPr>
              <a:t>Ilustraciones referenciales, salvo la foto del kit Waveshare. Precios aproximados; cotizar en Perú.</a:t>
            </a:r>
            <a:endParaRPr lang="en-US" sz="1000" dirty="0"/>
          </a:p>
        </p:txBody>
      </p:sp>
      <p:sp>
        <p:nvSpPr>
          <p:cNvPr id="44"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F6B70"/>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1672" cy="868680"/>
          </a:xfrm>
          <a:prstGeom prst="rect">
            <a:avLst/>
          </a:prstGeom>
          <a:noFill/>
          <a:ln/>
        </p:spPr>
        <p:txBody>
          <a:bodyPr wrap="square" lIns="0" tIns="0" rIns="0" bIns="0" rtlCol="0" anchor="ctr"/>
          <a:lstStyle/>
          <a:p>
            <a:pPr marL="0" indent="0" algn="l">
              <a:buNone/>
            </a:pPr>
            <a:r>
              <a:rPr lang="en-US" sz="3200" b="1" dirty="0">
                <a:solidFill>
                  <a:schemeClr val="tx2"/>
                </a:solidFill>
              </a:rPr>
              <a:t>Piloto en una línea antes de pagar con los datos</a:t>
            </a:r>
            <a:endParaRPr lang="en-US" sz="3200" dirty="0"/>
          </a:p>
        </p:txBody>
      </p:sp>
      <p:sp>
        <p:nvSpPr>
          <p:cNvPr id="3" name="Shape 1"/>
          <p:cNvSpPr/>
          <p:nvPr/>
        </p:nvSpPr>
        <p:spPr>
          <a:xfrm>
            <a:off x="1472946" y="1828800"/>
            <a:ext cx="9243060" cy="0"/>
          </a:xfrm>
          <a:prstGeom prst="line">
            <a:avLst/>
          </a:prstGeom>
          <a:noFill/>
          <a:ln w="25400">
            <a:solidFill>
              <a:srgbClr val="9CC5BF"/>
            </a:solidFill>
            <a:prstDash val="solid"/>
          </a:ln>
        </p:spPr>
      </p:sp>
      <p:sp>
        <p:nvSpPr>
          <p:cNvPr id="4" name="hito0"/>
          <p:cNvSpPr/>
          <p:nvPr/>
        </p:nvSpPr>
        <p:spPr>
          <a:xfrm>
            <a:off x="1152906" y="1508760"/>
            <a:ext cx="640080" cy="640080"/>
          </a:xfrm>
          <a:prstGeom prst="ellipse">
            <a:avLst/>
          </a:prstGeom>
          <a:solidFill>
            <a:schemeClr val="accent1"/>
          </a:solidFill>
          <a:ln w="25400">
            <a:solidFill>
              <a:srgbClr val="FFFFFF"/>
            </a:solidFill>
            <a:prstDash val="solid"/>
          </a:ln>
        </p:spPr>
      </p:sp>
      <p:sp>
        <p:nvSpPr>
          <p:cNvPr id="5" name="Text 3"/>
          <p:cNvSpPr txBox="1"/>
          <p:nvPr/>
        </p:nvSpPr>
        <p:spPr>
          <a:xfrm>
            <a:off x="1152906" y="1508760"/>
            <a:ext cx="640080" cy="640080"/>
          </a:xfrm>
          <a:prstGeom prst="rect">
            <a:avLst/>
          </a:prstGeom>
          <a:noFill/>
          <a:ln/>
        </p:spPr>
        <p:txBody>
          <a:bodyPr wrap="square" lIns="0" tIns="0" rIns="0" bIns="0" rtlCol="0" anchor="ctr"/>
          <a:lstStyle/>
          <a:p>
            <a:pPr marL="0" indent="0" algn="ctr">
              <a:buNone/>
            </a:pPr>
            <a:r>
              <a:rPr lang="en-US" sz="1800" b="1" dirty="0">
                <a:solidFill>
                  <a:schemeClr val="bg1"/>
                </a:solidFill>
              </a:rPr>
              <a:t>1</a:t>
            </a:r>
            <a:endParaRPr lang="en-US" sz="1800" dirty="0"/>
          </a:p>
        </p:txBody>
      </p:sp>
      <p:sp>
        <p:nvSpPr>
          <p:cNvPr id="6" name="Text 4"/>
          <p:cNvSpPr txBox="1"/>
          <p:nvPr/>
        </p:nvSpPr>
        <p:spPr>
          <a:xfrm>
            <a:off x="621792" y="2331720"/>
            <a:ext cx="1702308" cy="365760"/>
          </a:xfrm>
          <a:prstGeom prst="rect">
            <a:avLst/>
          </a:prstGeom>
          <a:noFill/>
          <a:ln/>
        </p:spPr>
        <p:txBody>
          <a:bodyPr wrap="square" lIns="0" tIns="0" rIns="0" bIns="0" rtlCol="0" anchor="t"/>
          <a:lstStyle/>
          <a:p>
            <a:pPr marL="0" indent="0" algn="ctr">
              <a:buNone/>
            </a:pPr>
            <a:r>
              <a:rPr lang="en-US" sz="1600" b="1" dirty="0">
                <a:solidFill>
                  <a:schemeClr val="tx2"/>
                </a:solidFill>
              </a:rPr>
              <a:t>Línea base</a:t>
            </a:r>
            <a:endParaRPr lang="en-US" sz="1600" dirty="0"/>
          </a:p>
        </p:txBody>
      </p:sp>
      <p:sp>
        <p:nvSpPr>
          <p:cNvPr id="7" name="Text 5"/>
          <p:cNvSpPr txBox="1"/>
          <p:nvPr/>
        </p:nvSpPr>
        <p:spPr>
          <a:xfrm>
            <a:off x="621792" y="2697480"/>
            <a:ext cx="1702308" cy="274320"/>
          </a:xfrm>
          <a:prstGeom prst="rect">
            <a:avLst/>
          </a:prstGeom>
          <a:noFill/>
          <a:ln/>
        </p:spPr>
        <p:txBody>
          <a:bodyPr wrap="square" lIns="0" tIns="0" rIns="0" bIns="0" rtlCol="0" anchor="t"/>
          <a:lstStyle/>
          <a:p>
            <a:pPr marL="0" indent="0" algn="ctr">
              <a:buNone/>
            </a:pPr>
            <a:r>
              <a:rPr lang="en-US" sz="1200" dirty="0">
                <a:solidFill>
                  <a:schemeClr val="accent5"/>
                </a:solidFill>
              </a:rPr>
              <a:t>Semanas 1–2</a:t>
            </a:r>
            <a:endParaRPr lang="en-US" sz="1200" dirty="0"/>
          </a:p>
        </p:txBody>
      </p:sp>
      <p:sp>
        <p:nvSpPr>
          <p:cNvPr id="8" name="Text 6"/>
          <p:cNvSpPr txBox="1"/>
          <p:nvPr/>
        </p:nvSpPr>
        <p:spPr>
          <a:xfrm>
            <a:off x="658368" y="3063240"/>
            <a:ext cx="1629156" cy="1463040"/>
          </a:xfrm>
          <a:prstGeom prst="rect">
            <a:avLst/>
          </a:prstGeom>
          <a:noFill/>
          <a:ln/>
        </p:spPr>
        <p:txBody>
          <a:bodyPr wrap="square" lIns="0" tIns="0" rIns="0" bIns="0" rtlCol="0" anchor="t"/>
          <a:lstStyle/>
          <a:p>
            <a:pPr marL="0" indent="0" algn="ctr">
              <a:buNone/>
            </a:pPr>
            <a:r>
              <a:rPr lang="en-US" sz="1400" dirty="0">
                <a:solidFill>
                  <a:schemeClr val="tx1"/>
                </a:solidFill>
              </a:rPr>
              <a:t>Estudio de tiempos manual con paradas y causas</a:t>
            </a:r>
            <a:endParaRPr lang="en-US" sz="1400" dirty="0"/>
          </a:p>
        </p:txBody>
      </p:sp>
      <p:sp>
        <p:nvSpPr>
          <p:cNvPr id="9" name="hito1"/>
          <p:cNvSpPr/>
          <p:nvPr/>
        </p:nvSpPr>
        <p:spPr>
          <a:xfrm>
            <a:off x="3001518" y="1508760"/>
            <a:ext cx="640080" cy="640080"/>
          </a:xfrm>
          <a:prstGeom prst="ellipse">
            <a:avLst/>
          </a:prstGeom>
          <a:solidFill>
            <a:schemeClr val="accent1"/>
          </a:solidFill>
          <a:ln w="25400">
            <a:solidFill>
              <a:srgbClr val="FFFFFF"/>
            </a:solidFill>
            <a:prstDash val="solid"/>
          </a:ln>
        </p:spPr>
      </p:sp>
      <p:sp>
        <p:nvSpPr>
          <p:cNvPr id="10" name="Text 8"/>
          <p:cNvSpPr txBox="1"/>
          <p:nvPr/>
        </p:nvSpPr>
        <p:spPr>
          <a:xfrm>
            <a:off x="3001518" y="1508760"/>
            <a:ext cx="640080" cy="640080"/>
          </a:xfrm>
          <a:prstGeom prst="rect">
            <a:avLst/>
          </a:prstGeom>
          <a:noFill/>
          <a:ln/>
        </p:spPr>
        <p:txBody>
          <a:bodyPr wrap="square" lIns="0" tIns="0" rIns="0" bIns="0" rtlCol="0" anchor="ctr"/>
          <a:lstStyle/>
          <a:p>
            <a:pPr marL="0" indent="0" algn="ctr">
              <a:buNone/>
            </a:pPr>
            <a:r>
              <a:rPr lang="en-US" sz="1800" b="1" dirty="0">
                <a:solidFill>
                  <a:schemeClr val="bg1"/>
                </a:solidFill>
              </a:rPr>
              <a:t>2</a:t>
            </a:r>
            <a:endParaRPr lang="en-US" sz="1800" dirty="0"/>
          </a:p>
        </p:txBody>
      </p:sp>
      <p:sp>
        <p:nvSpPr>
          <p:cNvPr id="11" name="Text 9"/>
          <p:cNvSpPr txBox="1"/>
          <p:nvPr/>
        </p:nvSpPr>
        <p:spPr>
          <a:xfrm>
            <a:off x="2470404" y="2331720"/>
            <a:ext cx="1702308" cy="365760"/>
          </a:xfrm>
          <a:prstGeom prst="rect">
            <a:avLst/>
          </a:prstGeom>
          <a:noFill/>
          <a:ln/>
        </p:spPr>
        <p:txBody>
          <a:bodyPr wrap="square" lIns="0" tIns="0" rIns="0" bIns="0" rtlCol="0" anchor="t"/>
          <a:lstStyle/>
          <a:p>
            <a:pPr marL="0" indent="0" algn="ctr">
              <a:buNone/>
            </a:pPr>
            <a:r>
              <a:rPr lang="en-US" sz="1600" b="1" dirty="0">
                <a:solidFill>
                  <a:schemeClr val="tx2"/>
                </a:solidFill>
              </a:rPr>
              <a:t>Prototipo</a:t>
            </a:r>
            <a:endParaRPr lang="en-US" sz="1600" dirty="0"/>
          </a:p>
        </p:txBody>
      </p:sp>
      <p:sp>
        <p:nvSpPr>
          <p:cNvPr id="12" name="Text 10"/>
          <p:cNvSpPr txBox="1"/>
          <p:nvPr/>
        </p:nvSpPr>
        <p:spPr>
          <a:xfrm>
            <a:off x="2470404" y="2697480"/>
            <a:ext cx="1702308" cy="274320"/>
          </a:xfrm>
          <a:prstGeom prst="rect">
            <a:avLst/>
          </a:prstGeom>
          <a:noFill/>
          <a:ln/>
        </p:spPr>
        <p:txBody>
          <a:bodyPr wrap="square" lIns="0" tIns="0" rIns="0" bIns="0" rtlCol="0" anchor="t"/>
          <a:lstStyle/>
          <a:p>
            <a:pPr marL="0" indent="0" algn="ctr">
              <a:buNone/>
            </a:pPr>
            <a:r>
              <a:rPr lang="en-US" sz="1200" dirty="0">
                <a:solidFill>
                  <a:schemeClr val="accent5"/>
                </a:solidFill>
              </a:rPr>
              <a:t>Semanas 2–4</a:t>
            </a:r>
            <a:endParaRPr lang="en-US" sz="1200" dirty="0"/>
          </a:p>
        </p:txBody>
      </p:sp>
      <p:sp>
        <p:nvSpPr>
          <p:cNvPr id="13" name="Text 11"/>
          <p:cNvSpPr txBox="1"/>
          <p:nvPr/>
        </p:nvSpPr>
        <p:spPr>
          <a:xfrm>
            <a:off x="2506980" y="3063240"/>
            <a:ext cx="1629156" cy="1463040"/>
          </a:xfrm>
          <a:prstGeom prst="rect">
            <a:avLst/>
          </a:prstGeom>
          <a:noFill/>
          <a:ln/>
        </p:spPr>
        <p:txBody>
          <a:bodyPr wrap="square" lIns="0" tIns="0" rIns="0" bIns="0" rtlCol="0" anchor="t"/>
          <a:lstStyle/>
          <a:p>
            <a:pPr marL="0" indent="0" algn="ctr">
              <a:buNone/>
            </a:pPr>
            <a:r>
              <a:rPr lang="en-US" sz="1400" dirty="0">
                <a:solidFill>
                  <a:schemeClr val="tx1"/>
                </a:solidFill>
              </a:rPr>
              <a:t>1 puesto completo (nodo, bus y cámara) grabando un día</a:t>
            </a:r>
            <a:endParaRPr lang="en-US" sz="1400" dirty="0"/>
          </a:p>
        </p:txBody>
      </p:sp>
      <p:sp>
        <p:nvSpPr>
          <p:cNvPr id="14" name="hito2"/>
          <p:cNvSpPr/>
          <p:nvPr/>
        </p:nvSpPr>
        <p:spPr>
          <a:xfrm>
            <a:off x="4850130" y="1508760"/>
            <a:ext cx="640080" cy="640080"/>
          </a:xfrm>
          <a:prstGeom prst="ellipse">
            <a:avLst/>
          </a:prstGeom>
          <a:solidFill>
            <a:schemeClr val="accent1"/>
          </a:solidFill>
          <a:ln w="25400">
            <a:solidFill>
              <a:srgbClr val="FFFFFF"/>
            </a:solidFill>
            <a:prstDash val="solid"/>
          </a:ln>
        </p:spPr>
      </p:sp>
      <p:sp>
        <p:nvSpPr>
          <p:cNvPr id="15" name="Text 13"/>
          <p:cNvSpPr txBox="1"/>
          <p:nvPr/>
        </p:nvSpPr>
        <p:spPr>
          <a:xfrm>
            <a:off x="4850130" y="1508760"/>
            <a:ext cx="640080" cy="640080"/>
          </a:xfrm>
          <a:prstGeom prst="rect">
            <a:avLst/>
          </a:prstGeom>
          <a:noFill/>
          <a:ln/>
        </p:spPr>
        <p:txBody>
          <a:bodyPr wrap="square" lIns="0" tIns="0" rIns="0" bIns="0" rtlCol="0" anchor="ctr"/>
          <a:lstStyle/>
          <a:p>
            <a:pPr marL="0" indent="0" algn="ctr">
              <a:buNone/>
            </a:pPr>
            <a:r>
              <a:rPr lang="en-US" sz="1800" b="1" dirty="0">
                <a:solidFill>
                  <a:schemeClr val="bg1"/>
                </a:solidFill>
              </a:rPr>
              <a:t>3</a:t>
            </a:r>
            <a:endParaRPr lang="en-US" sz="1800" dirty="0"/>
          </a:p>
        </p:txBody>
      </p:sp>
      <p:sp>
        <p:nvSpPr>
          <p:cNvPr id="16" name="Text 14"/>
          <p:cNvSpPr txBox="1"/>
          <p:nvPr/>
        </p:nvSpPr>
        <p:spPr>
          <a:xfrm>
            <a:off x="4319016" y="2331720"/>
            <a:ext cx="1702308" cy="365760"/>
          </a:xfrm>
          <a:prstGeom prst="rect">
            <a:avLst/>
          </a:prstGeom>
          <a:noFill/>
          <a:ln/>
        </p:spPr>
        <p:txBody>
          <a:bodyPr wrap="square" lIns="0" tIns="0" rIns="0" bIns="0" rtlCol="0" anchor="t"/>
          <a:lstStyle/>
          <a:p>
            <a:pPr marL="0" indent="0" algn="ctr">
              <a:buNone/>
            </a:pPr>
            <a:r>
              <a:rPr lang="en-US" sz="1600" b="1" dirty="0">
                <a:solidFill>
                  <a:schemeClr val="tx2"/>
                </a:solidFill>
              </a:rPr>
              <a:t>Piloto A</a:t>
            </a:r>
            <a:endParaRPr lang="en-US" sz="1600" dirty="0"/>
          </a:p>
        </p:txBody>
      </p:sp>
      <p:sp>
        <p:nvSpPr>
          <p:cNvPr id="17" name="Text 15"/>
          <p:cNvSpPr txBox="1"/>
          <p:nvPr/>
        </p:nvSpPr>
        <p:spPr>
          <a:xfrm>
            <a:off x="4319016" y="2697480"/>
            <a:ext cx="1702308" cy="274320"/>
          </a:xfrm>
          <a:prstGeom prst="rect">
            <a:avLst/>
          </a:prstGeom>
          <a:noFill/>
          <a:ln/>
        </p:spPr>
        <p:txBody>
          <a:bodyPr wrap="square" lIns="0" tIns="0" rIns="0" bIns="0" rtlCol="0" anchor="t"/>
          <a:lstStyle/>
          <a:p>
            <a:pPr marL="0" indent="0" algn="ctr">
              <a:buNone/>
            </a:pPr>
            <a:r>
              <a:rPr lang="en-US" sz="1200" dirty="0">
                <a:solidFill>
                  <a:schemeClr val="accent5"/>
                </a:solidFill>
              </a:rPr>
              <a:t>Semanas 4–8</a:t>
            </a:r>
            <a:endParaRPr lang="en-US" sz="1200" dirty="0"/>
          </a:p>
        </p:txBody>
      </p:sp>
      <p:sp>
        <p:nvSpPr>
          <p:cNvPr id="18" name="Text 16"/>
          <p:cNvSpPr txBox="1"/>
          <p:nvPr/>
        </p:nvSpPr>
        <p:spPr>
          <a:xfrm>
            <a:off x="4355592" y="3063240"/>
            <a:ext cx="1629156" cy="1463040"/>
          </a:xfrm>
          <a:prstGeom prst="rect">
            <a:avLst/>
          </a:prstGeom>
          <a:noFill/>
          <a:ln/>
        </p:spPr>
        <p:txBody>
          <a:bodyPr wrap="square" lIns="0" tIns="0" rIns="0" bIns="0" rtlCol="0" anchor="t"/>
          <a:lstStyle/>
          <a:p>
            <a:pPr marL="0" indent="0" algn="ctr">
              <a:buNone/>
            </a:pPr>
            <a:r>
              <a:rPr lang="en-US" sz="1400" dirty="0">
                <a:solidFill>
                  <a:schemeClr val="tx1"/>
                </a:solidFill>
              </a:rPr>
              <a:t>Línea completa con bus RS-485; se mide la zona gris</a:t>
            </a:r>
            <a:endParaRPr lang="en-US" sz="1400" dirty="0"/>
          </a:p>
        </p:txBody>
      </p:sp>
      <p:sp>
        <p:nvSpPr>
          <p:cNvPr id="19" name="hito3"/>
          <p:cNvSpPr/>
          <p:nvPr/>
        </p:nvSpPr>
        <p:spPr>
          <a:xfrm>
            <a:off x="6698742" y="1508760"/>
            <a:ext cx="640080" cy="640080"/>
          </a:xfrm>
          <a:prstGeom prst="ellipse">
            <a:avLst/>
          </a:prstGeom>
          <a:solidFill>
            <a:schemeClr val="accent2"/>
          </a:solidFill>
          <a:ln w="25400">
            <a:solidFill>
              <a:srgbClr val="FFFFFF"/>
            </a:solidFill>
            <a:prstDash val="solid"/>
          </a:ln>
        </p:spPr>
      </p:sp>
      <p:sp>
        <p:nvSpPr>
          <p:cNvPr id="20" name="Text 18"/>
          <p:cNvSpPr txBox="1"/>
          <p:nvPr/>
        </p:nvSpPr>
        <p:spPr>
          <a:xfrm>
            <a:off x="6698742" y="1508760"/>
            <a:ext cx="640080" cy="640080"/>
          </a:xfrm>
          <a:prstGeom prst="rect">
            <a:avLst/>
          </a:prstGeom>
          <a:noFill/>
          <a:ln/>
        </p:spPr>
        <p:txBody>
          <a:bodyPr wrap="square" lIns="0" tIns="0" rIns="0" bIns="0" rtlCol="0" anchor="ctr"/>
          <a:lstStyle/>
          <a:p>
            <a:pPr marL="0" indent="0" algn="ctr">
              <a:buNone/>
            </a:pPr>
            <a:r>
              <a:rPr lang="en-US" sz="1800" b="1" dirty="0">
                <a:solidFill>
                  <a:schemeClr val="bg1"/>
                </a:solidFill>
              </a:rPr>
              <a:t>4</a:t>
            </a:r>
            <a:endParaRPr lang="en-US" sz="1800" dirty="0"/>
          </a:p>
        </p:txBody>
      </p:sp>
      <p:sp>
        <p:nvSpPr>
          <p:cNvPr id="21" name="Text 19"/>
          <p:cNvSpPr txBox="1"/>
          <p:nvPr/>
        </p:nvSpPr>
        <p:spPr>
          <a:xfrm>
            <a:off x="6167628" y="2331720"/>
            <a:ext cx="1702308" cy="365760"/>
          </a:xfrm>
          <a:prstGeom prst="rect">
            <a:avLst/>
          </a:prstGeom>
          <a:noFill/>
          <a:ln/>
        </p:spPr>
        <p:txBody>
          <a:bodyPr wrap="square" lIns="0" tIns="0" rIns="0" bIns="0" rtlCol="0" anchor="t"/>
          <a:lstStyle/>
          <a:p>
            <a:pPr marL="0" indent="0" algn="ctr">
              <a:buNone/>
            </a:pPr>
            <a:r>
              <a:rPr lang="en-US" sz="1600" b="1" dirty="0">
                <a:solidFill>
                  <a:schemeClr val="tx2"/>
                </a:solidFill>
              </a:rPr>
              <a:t>Decisión</a:t>
            </a:r>
            <a:endParaRPr lang="en-US" sz="1600" dirty="0"/>
          </a:p>
        </p:txBody>
      </p:sp>
      <p:sp>
        <p:nvSpPr>
          <p:cNvPr id="22" name="Text 20"/>
          <p:cNvSpPr txBox="1"/>
          <p:nvPr/>
        </p:nvSpPr>
        <p:spPr>
          <a:xfrm>
            <a:off x="6167628" y="2697480"/>
            <a:ext cx="1702308" cy="274320"/>
          </a:xfrm>
          <a:prstGeom prst="rect">
            <a:avLst/>
          </a:prstGeom>
          <a:noFill/>
          <a:ln/>
        </p:spPr>
        <p:txBody>
          <a:bodyPr wrap="square" lIns="0" tIns="0" rIns="0" bIns="0" rtlCol="0" anchor="t"/>
          <a:lstStyle/>
          <a:p>
            <a:pPr marL="0" indent="0" algn="ctr">
              <a:buNone/>
            </a:pPr>
            <a:r>
              <a:rPr lang="en-US" sz="1200" dirty="0">
                <a:solidFill>
                  <a:schemeClr val="accent5"/>
                </a:solidFill>
              </a:rPr>
              <a:t>Semana 8</a:t>
            </a:r>
            <a:endParaRPr lang="en-US" sz="1200" dirty="0"/>
          </a:p>
        </p:txBody>
      </p:sp>
      <p:sp>
        <p:nvSpPr>
          <p:cNvPr id="23" name="Text 21"/>
          <p:cNvSpPr txBox="1"/>
          <p:nvPr/>
        </p:nvSpPr>
        <p:spPr>
          <a:xfrm>
            <a:off x="6204204" y="3063240"/>
            <a:ext cx="1629156" cy="1463040"/>
          </a:xfrm>
          <a:prstGeom prst="rect">
            <a:avLst/>
          </a:prstGeom>
          <a:noFill/>
          <a:ln/>
        </p:spPr>
        <p:txBody>
          <a:bodyPr wrap="square" lIns="0" tIns="0" rIns="0" bIns="0" rtlCol="0" anchor="t"/>
          <a:lstStyle/>
          <a:p>
            <a:pPr marL="0" indent="0" algn="ctr">
              <a:buNone/>
            </a:pPr>
            <a:r>
              <a:rPr lang="en-US" sz="1400" dirty="0">
                <a:solidFill>
                  <a:schemeClr val="tx1"/>
                </a:solidFill>
              </a:rPr>
              <a:t>Si la zona gris &gt; 3–5 %: se agrega C (o B si la cenital no acierta)</a:t>
            </a:r>
            <a:endParaRPr lang="en-US" sz="1400" dirty="0"/>
          </a:p>
        </p:txBody>
      </p:sp>
      <p:sp>
        <p:nvSpPr>
          <p:cNvPr id="24" name="hito4"/>
          <p:cNvSpPr/>
          <p:nvPr/>
        </p:nvSpPr>
        <p:spPr>
          <a:xfrm>
            <a:off x="8547354" y="1508760"/>
            <a:ext cx="640080" cy="640080"/>
          </a:xfrm>
          <a:prstGeom prst="ellipse">
            <a:avLst/>
          </a:prstGeom>
          <a:solidFill>
            <a:schemeClr val="accent1"/>
          </a:solidFill>
          <a:ln w="25400">
            <a:solidFill>
              <a:srgbClr val="FFFFFF"/>
            </a:solidFill>
            <a:prstDash val="solid"/>
          </a:ln>
        </p:spPr>
      </p:sp>
      <p:sp>
        <p:nvSpPr>
          <p:cNvPr id="25" name="Text 23"/>
          <p:cNvSpPr txBox="1"/>
          <p:nvPr/>
        </p:nvSpPr>
        <p:spPr>
          <a:xfrm>
            <a:off x="8547354" y="1508760"/>
            <a:ext cx="640080" cy="640080"/>
          </a:xfrm>
          <a:prstGeom prst="rect">
            <a:avLst/>
          </a:prstGeom>
          <a:noFill/>
          <a:ln/>
        </p:spPr>
        <p:txBody>
          <a:bodyPr wrap="square" lIns="0" tIns="0" rIns="0" bIns="0" rtlCol="0" anchor="ctr"/>
          <a:lstStyle/>
          <a:p>
            <a:pPr marL="0" indent="0" algn="ctr">
              <a:buNone/>
            </a:pPr>
            <a:r>
              <a:rPr lang="en-US" sz="1800" b="1" dirty="0">
                <a:solidFill>
                  <a:schemeClr val="bg1"/>
                </a:solidFill>
              </a:rPr>
              <a:t>5</a:t>
            </a:r>
            <a:endParaRPr lang="en-US" sz="1800" dirty="0"/>
          </a:p>
        </p:txBody>
      </p:sp>
      <p:sp>
        <p:nvSpPr>
          <p:cNvPr id="26" name="Text 24"/>
          <p:cNvSpPr txBox="1"/>
          <p:nvPr/>
        </p:nvSpPr>
        <p:spPr>
          <a:xfrm>
            <a:off x="8016240" y="2331720"/>
            <a:ext cx="1702308" cy="365760"/>
          </a:xfrm>
          <a:prstGeom prst="rect">
            <a:avLst/>
          </a:prstGeom>
          <a:noFill/>
          <a:ln/>
        </p:spPr>
        <p:txBody>
          <a:bodyPr wrap="square" lIns="0" tIns="0" rIns="0" bIns="0" rtlCol="0" anchor="t"/>
          <a:lstStyle/>
          <a:p>
            <a:pPr marL="0" indent="0" algn="ctr">
              <a:buNone/>
            </a:pPr>
            <a:r>
              <a:rPr lang="en-US" sz="1600" b="1" dirty="0">
                <a:solidFill>
                  <a:schemeClr val="tx2"/>
                </a:solidFill>
              </a:rPr>
              <a:t>Paralelo</a:t>
            </a:r>
            <a:endParaRPr lang="en-US" sz="1600" dirty="0"/>
          </a:p>
        </p:txBody>
      </p:sp>
      <p:sp>
        <p:nvSpPr>
          <p:cNvPr id="27" name="Text 25"/>
          <p:cNvSpPr txBox="1"/>
          <p:nvPr/>
        </p:nvSpPr>
        <p:spPr>
          <a:xfrm>
            <a:off x="8016240" y="2697480"/>
            <a:ext cx="1702308" cy="274320"/>
          </a:xfrm>
          <a:prstGeom prst="rect">
            <a:avLst/>
          </a:prstGeom>
          <a:noFill/>
          <a:ln/>
        </p:spPr>
        <p:txBody>
          <a:bodyPr wrap="square" lIns="0" tIns="0" rIns="0" bIns="0" rtlCol="0" anchor="t"/>
          <a:lstStyle/>
          <a:p>
            <a:pPr marL="0" indent="0" algn="ctr">
              <a:buNone/>
            </a:pPr>
            <a:r>
              <a:rPr lang="en-US" sz="1200" dirty="0">
                <a:solidFill>
                  <a:schemeClr val="accent5"/>
                </a:solidFill>
              </a:rPr>
              <a:t>2–3 meses</a:t>
            </a:r>
            <a:endParaRPr lang="en-US" sz="1200" dirty="0"/>
          </a:p>
        </p:txBody>
      </p:sp>
      <p:sp>
        <p:nvSpPr>
          <p:cNvPr id="28" name="Text 26"/>
          <p:cNvSpPr txBox="1"/>
          <p:nvPr/>
        </p:nvSpPr>
        <p:spPr>
          <a:xfrm>
            <a:off x="8052816" y="3063240"/>
            <a:ext cx="1629156" cy="1463040"/>
          </a:xfrm>
          <a:prstGeom prst="rect">
            <a:avLst/>
          </a:prstGeom>
          <a:noFill/>
          <a:ln/>
        </p:spPr>
        <p:txBody>
          <a:bodyPr wrap="square" lIns="0" tIns="0" rIns="0" bIns="0" rtlCol="0" anchor="t"/>
          <a:lstStyle/>
          <a:p>
            <a:pPr marL="0" indent="0" algn="ctr">
              <a:buNone/>
            </a:pPr>
            <a:r>
              <a:rPr lang="en-US" sz="1400" dirty="0">
                <a:solidFill>
                  <a:schemeClr val="tx1"/>
                </a:solidFill>
              </a:rPr>
              <a:t>Registra el sistema, pero se paga con el método actual</a:t>
            </a:r>
            <a:endParaRPr lang="en-US" sz="1400" dirty="0"/>
          </a:p>
        </p:txBody>
      </p:sp>
      <p:sp>
        <p:nvSpPr>
          <p:cNvPr id="29" name="hito5"/>
          <p:cNvSpPr/>
          <p:nvPr/>
        </p:nvSpPr>
        <p:spPr>
          <a:xfrm>
            <a:off x="10395966" y="1508760"/>
            <a:ext cx="640080" cy="640080"/>
          </a:xfrm>
          <a:prstGeom prst="ellipse">
            <a:avLst/>
          </a:prstGeom>
          <a:solidFill>
            <a:schemeClr val="accent1"/>
          </a:solidFill>
          <a:ln w="25400">
            <a:solidFill>
              <a:srgbClr val="FFFFFF"/>
            </a:solidFill>
            <a:prstDash val="solid"/>
          </a:ln>
        </p:spPr>
      </p:sp>
      <p:sp>
        <p:nvSpPr>
          <p:cNvPr id="30" name="Text 28"/>
          <p:cNvSpPr txBox="1"/>
          <p:nvPr/>
        </p:nvSpPr>
        <p:spPr>
          <a:xfrm>
            <a:off x="10395966" y="1508760"/>
            <a:ext cx="640080" cy="640080"/>
          </a:xfrm>
          <a:prstGeom prst="rect">
            <a:avLst/>
          </a:prstGeom>
          <a:noFill/>
          <a:ln/>
        </p:spPr>
        <p:txBody>
          <a:bodyPr wrap="square" lIns="0" tIns="0" rIns="0" bIns="0" rtlCol="0" anchor="ctr"/>
          <a:lstStyle/>
          <a:p>
            <a:pPr marL="0" indent="0" algn="ctr">
              <a:buNone/>
            </a:pPr>
            <a:r>
              <a:rPr lang="en-US" sz="1800" b="1" dirty="0">
                <a:solidFill>
                  <a:schemeClr val="bg1"/>
                </a:solidFill>
              </a:rPr>
              <a:t>6</a:t>
            </a:r>
            <a:endParaRPr lang="en-US" sz="1800" dirty="0"/>
          </a:p>
        </p:txBody>
      </p:sp>
      <p:sp>
        <p:nvSpPr>
          <p:cNvPr id="31" name="Text 29"/>
          <p:cNvSpPr txBox="1"/>
          <p:nvPr/>
        </p:nvSpPr>
        <p:spPr>
          <a:xfrm>
            <a:off x="9864852" y="2331720"/>
            <a:ext cx="1702308" cy="365760"/>
          </a:xfrm>
          <a:prstGeom prst="rect">
            <a:avLst/>
          </a:prstGeom>
          <a:noFill/>
          <a:ln/>
        </p:spPr>
        <p:txBody>
          <a:bodyPr wrap="square" lIns="0" tIns="0" rIns="0" bIns="0" rtlCol="0" anchor="t"/>
          <a:lstStyle/>
          <a:p>
            <a:pPr marL="0" indent="0" algn="ctr">
              <a:buNone/>
            </a:pPr>
            <a:r>
              <a:rPr lang="en-US" sz="1600" b="1" dirty="0">
                <a:solidFill>
                  <a:schemeClr val="tx2"/>
                </a:solidFill>
              </a:rPr>
              <a:t>Puesta en marcha</a:t>
            </a:r>
            <a:endParaRPr lang="en-US" sz="1600" dirty="0"/>
          </a:p>
        </p:txBody>
      </p:sp>
      <p:sp>
        <p:nvSpPr>
          <p:cNvPr id="32" name="Text 30"/>
          <p:cNvSpPr txBox="1"/>
          <p:nvPr/>
        </p:nvSpPr>
        <p:spPr>
          <a:xfrm>
            <a:off x="9864852" y="2697480"/>
            <a:ext cx="1702308" cy="274320"/>
          </a:xfrm>
          <a:prstGeom prst="rect">
            <a:avLst/>
          </a:prstGeom>
          <a:noFill/>
          <a:ln/>
        </p:spPr>
        <p:txBody>
          <a:bodyPr wrap="square" lIns="0" tIns="0" rIns="0" bIns="0" rtlCol="0" anchor="t"/>
          <a:lstStyle/>
          <a:p>
            <a:pPr marL="0" indent="0" algn="ctr">
              <a:buNone/>
            </a:pPr>
            <a:r>
              <a:rPr lang="en-US" sz="1200" dirty="0">
                <a:solidFill>
                  <a:schemeClr val="accent5"/>
                </a:solidFill>
              </a:rPr>
              <a:t>Después</a:t>
            </a:r>
            <a:endParaRPr lang="en-US" sz="1200" dirty="0"/>
          </a:p>
        </p:txBody>
      </p:sp>
      <p:sp>
        <p:nvSpPr>
          <p:cNvPr id="33" name="Text 31"/>
          <p:cNvSpPr txBox="1"/>
          <p:nvPr/>
        </p:nvSpPr>
        <p:spPr>
          <a:xfrm>
            <a:off x="9901428" y="3063240"/>
            <a:ext cx="1629156" cy="1463040"/>
          </a:xfrm>
          <a:prstGeom prst="rect">
            <a:avLst/>
          </a:prstGeom>
          <a:noFill/>
          <a:ln/>
        </p:spPr>
        <p:txBody>
          <a:bodyPr wrap="square" lIns="0" tIns="0" rIns="0" bIns="0" rtlCol="0" anchor="t"/>
          <a:lstStyle/>
          <a:p>
            <a:pPr marL="0" indent="0" algn="ctr">
              <a:buNone/>
            </a:pPr>
            <a:r>
              <a:rPr lang="en-US" sz="1400" dirty="0">
                <a:solidFill>
                  <a:schemeClr val="tx1"/>
                </a:solidFill>
              </a:rPr>
              <a:t>El pago usa el sistema, con procedimiento de reclamo</a:t>
            </a:r>
            <a:endParaRPr lang="en-US" sz="1400" dirty="0"/>
          </a:p>
        </p:txBody>
      </p:sp>
      <p:sp>
        <p:nvSpPr>
          <p:cNvPr id="34" name="validacion"/>
          <p:cNvSpPr/>
          <p:nvPr/>
        </p:nvSpPr>
        <p:spPr>
          <a:xfrm>
            <a:off x="548640" y="4754880"/>
            <a:ext cx="11091672" cy="1143000"/>
          </a:xfrm>
          <a:prstGeom prst="roundRect">
            <a:avLst>
              <a:gd name="adj" fmla="val 8000"/>
            </a:avLst>
          </a:prstGeom>
          <a:solidFill>
            <a:schemeClr val="bg2"/>
          </a:solidFill>
          <a:ln/>
        </p:spPr>
      </p:sp>
      <p:sp>
        <p:nvSpPr>
          <p:cNvPr id="35" name="validacion-circulo"/>
          <p:cNvSpPr/>
          <p:nvPr/>
        </p:nvSpPr>
        <p:spPr>
          <a:xfrm>
            <a:off x="822960" y="4983480"/>
            <a:ext cx="685800" cy="685800"/>
          </a:xfrm>
          <a:prstGeom prst="ellipse">
            <a:avLst/>
          </a:prstGeom>
          <a:solidFill>
            <a:schemeClr val="accent6"/>
          </a:solidFill>
          <a:ln/>
        </p:spPr>
      </p:sp>
      <p:pic>
        <p:nvPicPr>
          <p:cNvPr id="36" name="validacion-icono" descr="preencoded.png"/>
          <p:cNvPicPr>
            <a:picLocks noChangeAspect="1"/>
          </p:cNvPicPr>
          <p:nvPr/>
        </p:nvPicPr>
        <p:blipFill>
          <a:blip r:embed="rId3"/>
          <a:stretch>
            <a:fillRect/>
          </a:stretch>
        </p:blipFill>
        <p:spPr>
          <a:xfrm>
            <a:off x="1014984" y="5175504"/>
            <a:ext cx="301752" cy="301752"/>
          </a:xfrm>
          <a:prstGeom prst="rect">
            <a:avLst/>
          </a:prstGeom>
        </p:spPr>
      </p:pic>
      <p:sp>
        <p:nvSpPr>
          <p:cNvPr id="37" name="Text 34"/>
          <p:cNvSpPr txBox="1"/>
          <p:nvPr/>
        </p:nvSpPr>
        <p:spPr>
          <a:xfrm>
            <a:off x="1783080" y="4919472"/>
            <a:ext cx="9601200" cy="365760"/>
          </a:xfrm>
          <a:prstGeom prst="rect">
            <a:avLst/>
          </a:prstGeom>
          <a:noFill/>
          <a:ln/>
        </p:spPr>
        <p:txBody>
          <a:bodyPr wrap="square" lIns="0" tIns="0" rIns="0" bIns="0" rtlCol="0" anchor="t"/>
          <a:lstStyle/>
          <a:p>
            <a:pPr marL="0" indent="0">
              <a:buNone/>
            </a:pPr>
            <a:r>
              <a:rPr lang="en-US" sz="1700" b="1" dirty="0">
                <a:solidFill>
                  <a:schemeClr val="tx2"/>
                </a:solidFill>
              </a:rPr>
              <a:t>Criterio para pagar con los datos</a:t>
            </a:r>
            <a:endParaRPr lang="en-US" sz="1700" dirty="0"/>
          </a:p>
        </p:txBody>
      </p:sp>
      <p:sp>
        <p:nvSpPr>
          <p:cNvPr id="38" name="Text 35"/>
          <p:cNvSpPr txBox="1"/>
          <p:nvPr/>
        </p:nvSpPr>
        <p:spPr>
          <a:xfrm>
            <a:off x="1783080" y="5303520"/>
            <a:ext cx="9601200" cy="457200"/>
          </a:xfrm>
          <a:prstGeom prst="rect">
            <a:avLst/>
          </a:prstGeom>
          <a:noFill/>
          <a:ln/>
        </p:spPr>
        <p:txBody>
          <a:bodyPr wrap="square" lIns="0" tIns="0" rIns="0" bIns="0" rtlCol="0" anchor="t"/>
          <a:lstStyle/>
          <a:p>
            <a:pPr marL="0" indent="0">
              <a:buNone/>
            </a:pPr>
            <a:r>
              <a:rPr lang="en-US" sz="1500" dirty="0">
                <a:solidFill>
                  <a:schemeClr val="tx1"/>
                </a:solidFill>
              </a:rPr>
              <a:t>Error del tiempo improductivo diario por operaria dentro de ±3–5 % frente al estudio de tiempos manual.</a:t>
            </a:r>
            <a:endParaRPr lang="en-US" sz="1500" dirty="0"/>
          </a:p>
        </p:txBody>
      </p:sp>
      <p:sp>
        <p:nvSpPr>
          <p:cNvPr id="39"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F6B70"/>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91672" cy="914400"/>
          </a:xfrm>
          <a:prstGeom prst="rect">
            <a:avLst/>
          </a:prstGeom>
          <a:noFill/>
          <a:ln/>
        </p:spPr>
        <p:txBody>
          <a:bodyPr wrap="square" lIns="0" tIns="0" rIns="0" bIns="0" rtlCol="0" anchor="ctr"/>
          <a:lstStyle/>
          <a:p>
            <a:pPr marL="0" indent="0" algn="l">
              <a:buNone/>
            </a:pPr>
            <a:r>
              <a:rPr lang="en-US" sz="3600" b="1" dirty="0">
                <a:solidFill>
                  <a:schemeClr val="bg1"/>
                </a:solidFill>
              </a:rPr>
              <a:t>Empezar con A y probar la cámara cenital</a:t>
            </a:r>
            <a:endParaRPr lang="en-US" sz="3600" dirty="0"/>
          </a:p>
        </p:txBody>
      </p:sp>
      <p:sp>
        <p:nvSpPr>
          <p:cNvPr id="3" name="Text 1"/>
          <p:cNvSpPr txBox="1"/>
          <p:nvPr/>
        </p:nvSpPr>
        <p:spPr>
          <a:xfrm>
            <a:off x="548640" y="1417320"/>
            <a:ext cx="11091672" cy="457200"/>
          </a:xfrm>
          <a:prstGeom prst="rect">
            <a:avLst/>
          </a:prstGeom>
          <a:noFill/>
          <a:ln/>
        </p:spPr>
        <p:txBody>
          <a:bodyPr wrap="square" lIns="0" tIns="0" rIns="0" bIns="0" rtlCol="0" anchor="t"/>
          <a:lstStyle/>
          <a:p>
            <a:pPr marL="0" indent="0">
              <a:buNone/>
            </a:pPr>
            <a:r>
              <a:rPr lang="en-US" sz="1800" dirty="0">
                <a:solidFill>
                  <a:schemeClr val="accent3"/>
                </a:solidFill>
              </a:rPr>
              <a:t>Si la cámara cenital acierta, C da casi todo lo de B con 5–7 cámaras en vez de 25.</a:t>
            </a:r>
            <a:endParaRPr lang="en-US" sz="1800" dirty="0"/>
          </a:p>
        </p:txBody>
      </p:sp>
      <p:sp>
        <p:nvSpPr>
          <p:cNvPr id="4" name="paso0"/>
          <p:cNvSpPr/>
          <p:nvPr/>
        </p:nvSpPr>
        <p:spPr>
          <a:xfrm>
            <a:off x="548640" y="2240280"/>
            <a:ext cx="2567178" cy="3291840"/>
          </a:xfrm>
          <a:prstGeom prst="roundRect">
            <a:avLst>
              <a:gd name="adj" fmla="val 3562"/>
            </a:avLst>
          </a:prstGeom>
          <a:solidFill>
            <a:schemeClr val="accent1"/>
          </a:solidFill>
          <a:ln/>
        </p:spPr>
      </p:sp>
      <p:sp>
        <p:nvSpPr>
          <p:cNvPr id="5" name="Shape 3"/>
          <p:cNvSpPr/>
          <p:nvPr/>
        </p:nvSpPr>
        <p:spPr>
          <a:xfrm>
            <a:off x="822960" y="2514600"/>
            <a:ext cx="640080" cy="640080"/>
          </a:xfrm>
          <a:prstGeom prst="ellipse">
            <a:avLst/>
          </a:prstGeom>
          <a:solidFill>
            <a:schemeClr val="accent2"/>
          </a:solidFill>
          <a:ln/>
        </p:spPr>
      </p:sp>
      <p:sp>
        <p:nvSpPr>
          <p:cNvPr id="6" name="Text 4"/>
          <p:cNvSpPr txBox="1"/>
          <p:nvPr/>
        </p:nvSpPr>
        <p:spPr>
          <a:xfrm>
            <a:off x="822960" y="2514600"/>
            <a:ext cx="640080" cy="640080"/>
          </a:xfrm>
          <a:prstGeom prst="rect">
            <a:avLst/>
          </a:prstGeom>
          <a:noFill/>
          <a:ln/>
        </p:spPr>
        <p:txBody>
          <a:bodyPr wrap="square" lIns="0" tIns="0" rIns="0" bIns="0" rtlCol="0" anchor="ctr"/>
          <a:lstStyle/>
          <a:p>
            <a:pPr marL="0" indent="0" algn="ctr">
              <a:buNone/>
            </a:pPr>
            <a:r>
              <a:rPr lang="en-US" sz="2000" b="1" dirty="0">
                <a:solidFill>
                  <a:schemeClr val="bg1"/>
                </a:solidFill>
              </a:rPr>
              <a:t>1</a:t>
            </a:r>
            <a:endParaRPr lang="en-US" sz="2000" dirty="0"/>
          </a:p>
        </p:txBody>
      </p:sp>
      <p:sp>
        <p:nvSpPr>
          <p:cNvPr id="7" name="Text 5"/>
          <p:cNvSpPr txBox="1"/>
          <p:nvPr/>
        </p:nvSpPr>
        <p:spPr>
          <a:xfrm>
            <a:off x="822960" y="3383280"/>
            <a:ext cx="2018538" cy="457200"/>
          </a:xfrm>
          <a:prstGeom prst="rect">
            <a:avLst/>
          </a:prstGeom>
          <a:noFill/>
          <a:ln/>
        </p:spPr>
        <p:txBody>
          <a:bodyPr wrap="square" lIns="0" tIns="0" rIns="0" bIns="0" rtlCol="0" anchor="t"/>
          <a:lstStyle/>
          <a:p>
            <a:pPr marL="0" indent="0">
              <a:buNone/>
            </a:pPr>
            <a:r>
              <a:rPr lang="en-US" sz="1800" b="1" dirty="0">
                <a:solidFill>
                  <a:schemeClr val="bg1"/>
                </a:solidFill>
              </a:rPr>
              <a:t>Confirmar la planta</a:t>
            </a:r>
            <a:endParaRPr lang="en-US" sz="1800" dirty="0"/>
          </a:p>
        </p:txBody>
      </p:sp>
      <p:sp>
        <p:nvSpPr>
          <p:cNvPr id="8" name="Text 6"/>
          <p:cNvSpPr txBox="1"/>
          <p:nvPr/>
        </p:nvSpPr>
        <p:spPr>
          <a:xfrm>
            <a:off x="822960" y="3886200"/>
            <a:ext cx="2018538" cy="1463040"/>
          </a:xfrm>
          <a:prstGeom prst="rect">
            <a:avLst/>
          </a:prstGeom>
          <a:noFill/>
          <a:ln/>
        </p:spPr>
        <p:txBody>
          <a:bodyPr wrap="square" lIns="0" tIns="0" rIns="0" bIns="0" rtlCol="0" anchor="t"/>
          <a:lstStyle/>
          <a:p>
            <a:pPr marL="0" indent="0">
              <a:buNone/>
            </a:pPr>
            <a:r>
              <a:rPr lang="en-US" sz="1400" dirty="0">
                <a:solidFill>
                  <a:schemeClr val="bg1"/>
                </a:solidFill>
              </a:rPr>
              <a:t>Número de líneas y máquinas, y marcas y modelos de las máquinas</a:t>
            </a:r>
            <a:endParaRPr lang="en-US" sz="1400" dirty="0"/>
          </a:p>
        </p:txBody>
      </p:sp>
      <p:sp>
        <p:nvSpPr>
          <p:cNvPr id="9" name="paso1"/>
          <p:cNvSpPr/>
          <p:nvPr/>
        </p:nvSpPr>
        <p:spPr>
          <a:xfrm>
            <a:off x="3390138" y="2240280"/>
            <a:ext cx="2567178" cy="3291840"/>
          </a:xfrm>
          <a:prstGeom prst="roundRect">
            <a:avLst>
              <a:gd name="adj" fmla="val 3562"/>
            </a:avLst>
          </a:prstGeom>
          <a:solidFill>
            <a:schemeClr val="accent1"/>
          </a:solidFill>
          <a:ln/>
        </p:spPr>
      </p:sp>
      <p:sp>
        <p:nvSpPr>
          <p:cNvPr id="10" name="Shape 8"/>
          <p:cNvSpPr/>
          <p:nvPr/>
        </p:nvSpPr>
        <p:spPr>
          <a:xfrm>
            <a:off x="3664458" y="2514600"/>
            <a:ext cx="640080" cy="640080"/>
          </a:xfrm>
          <a:prstGeom prst="ellipse">
            <a:avLst/>
          </a:prstGeom>
          <a:solidFill>
            <a:schemeClr val="accent2"/>
          </a:solidFill>
          <a:ln/>
        </p:spPr>
      </p:sp>
      <p:sp>
        <p:nvSpPr>
          <p:cNvPr id="11" name="Text 9"/>
          <p:cNvSpPr txBox="1"/>
          <p:nvPr/>
        </p:nvSpPr>
        <p:spPr>
          <a:xfrm>
            <a:off x="3664458" y="2514600"/>
            <a:ext cx="640080" cy="640080"/>
          </a:xfrm>
          <a:prstGeom prst="rect">
            <a:avLst/>
          </a:prstGeom>
          <a:noFill/>
          <a:ln/>
        </p:spPr>
        <p:txBody>
          <a:bodyPr wrap="square" lIns="0" tIns="0" rIns="0" bIns="0" rtlCol="0" anchor="ctr"/>
          <a:lstStyle/>
          <a:p>
            <a:pPr marL="0" indent="0" algn="ctr">
              <a:buNone/>
            </a:pPr>
            <a:r>
              <a:rPr lang="en-US" sz="2000" b="1" dirty="0">
                <a:solidFill>
                  <a:schemeClr val="bg1"/>
                </a:solidFill>
              </a:rPr>
              <a:t>2</a:t>
            </a:r>
            <a:endParaRPr lang="en-US" sz="2000" dirty="0"/>
          </a:p>
        </p:txBody>
      </p:sp>
      <p:sp>
        <p:nvSpPr>
          <p:cNvPr id="12" name="Text 10"/>
          <p:cNvSpPr txBox="1"/>
          <p:nvPr/>
        </p:nvSpPr>
        <p:spPr>
          <a:xfrm>
            <a:off x="3664458" y="3383280"/>
            <a:ext cx="2018538" cy="457200"/>
          </a:xfrm>
          <a:prstGeom prst="rect">
            <a:avLst/>
          </a:prstGeom>
          <a:noFill/>
          <a:ln/>
        </p:spPr>
        <p:txBody>
          <a:bodyPr wrap="square" lIns="0" tIns="0" rIns="0" bIns="0" rtlCol="0" anchor="t"/>
          <a:lstStyle/>
          <a:p>
            <a:pPr marL="0" indent="0">
              <a:buNone/>
            </a:pPr>
            <a:r>
              <a:rPr lang="en-US" sz="1800" b="1" dirty="0">
                <a:solidFill>
                  <a:schemeClr val="bg1"/>
                </a:solidFill>
              </a:rPr>
              <a:t>Comprar el prototipo</a:t>
            </a:r>
            <a:endParaRPr lang="en-US" sz="1800" dirty="0"/>
          </a:p>
        </p:txBody>
      </p:sp>
      <p:sp>
        <p:nvSpPr>
          <p:cNvPr id="13" name="Text 11"/>
          <p:cNvSpPr txBox="1"/>
          <p:nvPr/>
        </p:nvSpPr>
        <p:spPr>
          <a:xfrm>
            <a:off x="3664458" y="3886200"/>
            <a:ext cx="2018538" cy="1463040"/>
          </a:xfrm>
          <a:prstGeom prst="rect">
            <a:avLst/>
          </a:prstGeom>
          <a:noFill/>
          <a:ln/>
        </p:spPr>
        <p:txBody>
          <a:bodyPr wrap="square" lIns="0" tIns="0" rIns="0" bIns="0" rtlCol="0" anchor="t"/>
          <a:lstStyle/>
          <a:p>
            <a:pPr marL="0" indent="0">
              <a:buNone/>
            </a:pPr>
            <a:r>
              <a:rPr lang="en-US" sz="1400" dirty="0">
                <a:solidFill>
                  <a:schemeClr val="bg1"/>
                </a:solidFill>
              </a:rPr>
              <a:t>1 puesto: ESP32 con pinza, botonera y radar + pasarela RS-485 + 1 cámara PoE + 1 switch PoE</a:t>
            </a:r>
            <a:endParaRPr lang="en-US" sz="1400" dirty="0"/>
          </a:p>
        </p:txBody>
      </p:sp>
      <p:sp>
        <p:nvSpPr>
          <p:cNvPr id="14" name="paso2"/>
          <p:cNvSpPr/>
          <p:nvPr/>
        </p:nvSpPr>
        <p:spPr>
          <a:xfrm>
            <a:off x="6231636" y="2240280"/>
            <a:ext cx="2567178" cy="3291840"/>
          </a:xfrm>
          <a:prstGeom prst="roundRect">
            <a:avLst>
              <a:gd name="adj" fmla="val 3562"/>
            </a:avLst>
          </a:prstGeom>
          <a:solidFill>
            <a:schemeClr val="accent1"/>
          </a:solidFill>
          <a:ln/>
        </p:spPr>
      </p:sp>
      <p:sp>
        <p:nvSpPr>
          <p:cNvPr id="15" name="Shape 13"/>
          <p:cNvSpPr/>
          <p:nvPr/>
        </p:nvSpPr>
        <p:spPr>
          <a:xfrm>
            <a:off x="6505956" y="2514600"/>
            <a:ext cx="640080" cy="640080"/>
          </a:xfrm>
          <a:prstGeom prst="ellipse">
            <a:avLst/>
          </a:prstGeom>
          <a:solidFill>
            <a:schemeClr val="accent2"/>
          </a:solidFill>
          <a:ln/>
        </p:spPr>
      </p:sp>
      <p:sp>
        <p:nvSpPr>
          <p:cNvPr id="16" name="Text 14"/>
          <p:cNvSpPr txBox="1"/>
          <p:nvPr/>
        </p:nvSpPr>
        <p:spPr>
          <a:xfrm>
            <a:off x="6505956" y="2514600"/>
            <a:ext cx="640080" cy="640080"/>
          </a:xfrm>
          <a:prstGeom prst="rect">
            <a:avLst/>
          </a:prstGeom>
          <a:noFill/>
          <a:ln/>
        </p:spPr>
        <p:txBody>
          <a:bodyPr wrap="square" lIns="0" tIns="0" rIns="0" bIns="0" rtlCol="0" anchor="ctr"/>
          <a:lstStyle/>
          <a:p>
            <a:pPr marL="0" indent="0" algn="ctr">
              <a:buNone/>
            </a:pPr>
            <a:r>
              <a:rPr lang="en-US" sz="2000" b="1" dirty="0">
                <a:solidFill>
                  <a:schemeClr val="bg1"/>
                </a:solidFill>
              </a:rPr>
              <a:t>3</a:t>
            </a:r>
            <a:endParaRPr lang="en-US" sz="2000" dirty="0"/>
          </a:p>
        </p:txBody>
      </p:sp>
      <p:sp>
        <p:nvSpPr>
          <p:cNvPr id="17" name="Text 15"/>
          <p:cNvSpPr txBox="1"/>
          <p:nvPr/>
        </p:nvSpPr>
        <p:spPr>
          <a:xfrm>
            <a:off x="6505956" y="3383280"/>
            <a:ext cx="2018538" cy="457200"/>
          </a:xfrm>
          <a:prstGeom prst="rect">
            <a:avLst/>
          </a:prstGeom>
          <a:noFill/>
          <a:ln/>
        </p:spPr>
        <p:txBody>
          <a:bodyPr wrap="square" lIns="0" tIns="0" rIns="0" bIns="0" rtlCol="0" anchor="t"/>
          <a:lstStyle/>
          <a:p>
            <a:pPr marL="0" indent="0">
              <a:buNone/>
            </a:pPr>
            <a:r>
              <a:rPr lang="en-US" sz="1800" b="1" dirty="0">
                <a:solidFill>
                  <a:schemeClr val="bg1"/>
                </a:solidFill>
              </a:rPr>
              <a:t>Estudio de tiempos</a:t>
            </a:r>
            <a:endParaRPr lang="en-US" sz="1800" dirty="0"/>
          </a:p>
        </p:txBody>
      </p:sp>
      <p:sp>
        <p:nvSpPr>
          <p:cNvPr id="18" name="Text 16"/>
          <p:cNvSpPr txBox="1"/>
          <p:nvPr/>
        </p:nvSpPr>
        <p:spPr>
          <a:xfrm>
            <a:off x="6505956" y="3886200"/>
            <a:ext cx="2018538" cy="1463040"/>
          </a:xfrm>
          <a:prstGeom prst="rect">
            <a:avLst/>
          </a:prstGeom>
          <a:noFill/>
          <a:ln/>
        </p:spPr>
        <p:txBody>
          <a:bodyPr wrap="square" lIns="0" tIns="0" rIns="0" bIns="0" rtlCol="0" anchor="t"/>
          <a:lstStyle/>
          <a:p>
            <a:pPr marL="0" indent="0">
              <a:buNone/>
            </a:pPr>
            <a:r>
              <a:rPr lang="en-US" sz="1400" dirty="0">
                <a:solidFill>
                  <a:schemeClr val="bg1"/>
                </a:solidFill>
              </a:rPr>
              <a:t>Línea base manual en la línea piloto (semanas 1–2)</a:t>
            </a:r>
            <a:endParaRPr lang="en-US" sz="1400" dirty="0"/>
          </a:p>
        </p:txBody>
      </p:sp>
      <p:sp>
        <p:nvSpPr>
          <p:cNvPr id="19" name="paso3"/>
          <p:cNvSpPr/>
          <p:nvPr/>
        </p:nvSpPr>
        <p:spPr>
          <a:xfrm>
            <a:off x="9073134" y="2240280"/>
            <a:ext cx="2567178" cy="3291840"/>
          </a:xfrm>
          <a:prstGeom prst="roundRect">
            <a:avLst>
              <a:gd name="adj" fmla="val 3562"/>
            </a:avLst>
          </a:prstGeom>
          <a:solidFill>
            <a:schemeClr val="accent1"/>
          </a:solidFill>
          <a:ln/>
        </p:spPr>
      </p:sp>
      <p:sp>
        <p:nvSpPr>
          <p:cNvPr id="20" name="Shape 18"/>
          <p:cNvSpPr/>
          <p:nvPr/>
        </p:nvSpPr>
        <p:spPr>
          <a:xfrm>
            <a:off x="9347454" y="2514600"/>
            <a:ext cx="640080" cy="640080"/>
          </a:xfrm>
          <a:prstGeom prst="ellipse">
            <a:avLst/>
          </a:prstGeom>
          <a:solidFill>
            <a:schemeClr val="accent2"/>
          </a:solidFill>
          <a:ln/>
        </p:spPr>
      </p:sp>
      <p:sp>
        <p:nvSpPr>
          <p:cNvPr id="21" name="Text 19"/>
          <p:cNvSpPr txBox="1"/>
          <p:nvPr/>
        </p:nvSpPr>
        <p:spPr>
          <a:xfrm>
            <a:off x="9347454" y="2514600"/>
            <a:ext cx="640080" cy="640080"/>
          </a:xfrm>
          <a:prstGeom prst="rect">
            <a:avLst/>
          </a:prstGeom>
          <a:noFill/>
          <a:ln/>
        </p:spPr>
        <p:txBody>
          <a:bodyPr wrap="square" lIns="0" tIns="0" rIns="0" bIns="0" rtlCol="0" anchor="ctr"/>
          <a:lstStyle/>
          <a:p>
            <a:pPr marL="0" indent="0" algn="ctr">
              <a:buNone/>
            </a:pPr>
            <a:r>
              <a:rPr lang="en-US" sz="2000" b="1" dirty="0">
                <a:solidFill>
                  <a:schemeClr val="bg1"/>
                </a:solidFill>
              </a:rPr>
              <a:t>4</a:t>
            </a:r>
            <a:endParaRPr lang="en-US" sz="2000" dirty="0"/>
          </a:p>
        </p:txBody>
      </p:sp>
      <p:sp>
        <p:nvSpPr>
          <p:cNvPr id="22" name="Text 20"/>
          <p:cNvSpPr txBox="1"/>
          <p:nvPr/>
        </p:nvSpPr>
        <p:spPr>
          <a:xfrm>
            <a:off x="9347454" y="3383280"/>
            <a:ext cx="2018538" cy="457200"/>
          </a:xfrm>
          <a:prstGeom prst="rect">
            <a:avLst/>
          </a:prstGeom>
          <a:noFill/>
          <a:ln/>
        </p:spPr>
        <p:txBody>
          <a:bodyPr wrap="square" lIns="0" tIns="0" rIns="0" bIns="0" rtlCol="0" anchor="t"/>
          <a:lstStyle/>
          <a:p>
            <a:pPr marL="0" indent="0">
              <a:buNone/>
            </a:pPr>
            <a:r>
              <a:rPr lang="en-US" sz="1800" b="1" dirty="0">
                <a:solidFill>
                  <a:schemeClr val="bg1"/>
                </a:solidFill>
              </a:rPr>
              <a:t>Revisión legal</a:t>
            </a:r>
            <a:endParaRPr lang="en-US" sz="1800" dirty="0"/>
          </a:p>
        </p:txBody>
      </p:sp>
      <p:sp>
        <p:nvSpPr>
          <p:cNvPr id="23" name="Text 21"/>
          <p:cNvSpPr txBox="1"/>
          <p:nvPr/>
        </p:nvSpPr>
        <p:spPr>
          <a:xfrm>
            <a:off x="9347454" y="3886200"/>
            <a:ext cx="2018538" cy="1463040"/>
          </a:xfrm>
          <a:prstGeom prst="rect">
            <a:avLst/>
          </a:prstGeom>
          <a:noFill/>
          <a:ln/>
        </p:spPr>
        <p:txBody>
          <a:bodyPr wrap="square" lIns="0" tIns="0" rIns="0" bIns="0" rtlCol="0" anchor="t"/>
          <a:lstStyle/>
          <a:p>
            <a:pPr marL="0" indent="0">
              <a:buNone/>
            </a:pPr>
            <a:r>
              <a:rPr lang="en-US" sz="1400" dirty="0">
                <a:solidFill>
                  <a:schemeClr val="bg1"/>
                </a:solidFill>
              </a:rPr>
              <a:t>Uso de cámaras y datos para el pago según la Ley 29733</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1672" cy="868680"/>
          </a:xfrm>
          <a:prstGeom prst="rect">
            <a:avLst/>
          </a:prstGeom>
          <a:noFill/>
          <a:ln/>
        </p:spPr>
        <p:txBody>
          <a:bodyPr wrap="square" lIns="0" tIns="0" rIns="0" bIns="0" rtlCol="0" anchor="ctr"/>
          <a:lstStyle/>
          <a:p>
            <a:pPr marL="0" indent="0" algn="l">
              <a:buNone/>
            </a:pPr>
            <a:r>
              <a:rPr lang="en-US" sz="3200" b="1" dirty="0">
                <a:solidFill>
                  <a:schemeClr val="tx2"/>
                </a:solidFill>
              </a:rPr>
              <a:t>Bus por línea: un cable y una pasarela al final</a:t>
            </a:r>
            <a:endParaRPr lang="en-US" sz="3200" dirty="0"/>
          </a:p>
        </p:txBody>
      </p:sp>
      <p:sp>
        <p:nvSpPr>
          <p:cNvPr id="11" name="Texto"/>
          <p:cNvSpPr txBox="1"/>
          <p:nvPr/>
        </p:nvSpPr>
        <p:spPr>
          <a:xfrm>
            <a:off x="548640" y="1325880"/>
            <a:ext cx="5000000" cy="300000"/>
          </a:xfrm>
          <a:prstGeom prst="rect">
            <a:avLst/>
          </a:prstGeom>
          <a:noFill/>
          <a:ln/>
        </p:spPr>
        <p:txBody>
          <a:bodyPr wrap="square" lIns="0" tIns="0" rIns="0" bIns="0" rtlCol="0" anchor="t"/>
          <a:lstStyle/>
          <a:p>
            <a:pPr marL="0" indent="0" algn="l">
              <a:spcAft>
                <a:spcPts val="0"/>
              </a:spcAft>
              <a:buNone/>
            </a:pPr>
            <a:r>
              <a:rPr lang="es-PE" sz="1400" b="1" dirty="0">
                <a:solidFill>
                  <a:schemeClr val="accent1"/>
                </a:solidFill>
              </a:rPr>
              <a:t>Un cable por línea: datos RS-485 y 24 V</a:t>
            </a:r>
          </a:p>
        </p:txBody>
      </p:sp>
      <p:cxnSp>
        <p:nvCxnSpPr>
          <p:cNvPr id="12" name="conector"/>
          <p:cNvCxnSpPr/>
          <p:nvPr/>
        </p:nvCxnSpPr>
        <p:spPr>
          <a:xfrm>
            <a:off x="918640" y="2125980"/>
            <a:ext cx="3720000" cy="0"/>
          </a:xfrm>
          <a:prstGeom prst="line">
            <a:avLst/>
          </a:prstGeom>
          <a:ln w="50800">
            <a:solidFill>
              <a:schemeClr val="accent3"/>
            </a:solidFill>
          </a:ln>
        </p:spPr>
      </p:cxnSp>
      <p:sp>
        <p:nvSpPr>
          <p:cNvPr id="13" name="puesto0"/>
          <p:cNvSpPr/>
          <p:nvPr/>
        </p:nvSpPr>
        <p:spPr>
          <a:xfrm>
            <a:off x="548640" y="1737360"/>
            <a:ext cx="740000" cy="777240"/>
          </a:xfrm>
          <a:prstGeom prst="roundRect">
            <a:avLst>
              <a:gd name="adj" fmla="val 10000"/>
            </a:avLst>
          </a:prstGeom>
          <a:solidFill>
            <a:schemeClr val="bg2"/>
          </a:solidFill>
          <a:ln w="19050">
            <a:solidFill>
              <a:schemeClr val="accent1"/>
            </a:solidFill>
          </a:ln>
        </p:spPr>
      </p:sp>
      <p:sp>
        <p:nvSpPr>
          <p:cNvPr id="14" name="Texto"/>
          <p:cNvSpPr txBox="1"/>
          <p:nvPr/>
        </p:nvSpPr>
        <p:spPr>
          <a:xfrm>
            <a:off x="578640" y="1737360"/>
            <a:ext cx="680000" cy="777240"/>
          </a:xfrm>
          <a:prstGeom prst="rect">
            <a:avLst/>
          </a:prstGeom>
          <a:noFill/>
          <a:ln/>
        </p:spPr>
        <p:txBody>
          <a:bodyPr wrap="square" lIns="0" tIns="0" rIns="0" bIns="0" rtlCol="0" anchor="ctr"/>
          <a:lstStyle/>
          <a:p>
            <a:pPr marL="0" indent="0" algn="ctr">
              <a:spcAft>
                <a:spcPts val="0"/>
              </a:spcAft>
              <a:buNone/>
            </a:pPr>
            <a:r>
              <a:rPr lang="es-PE" sz="1200" b="1" dirty="0">
                <a:solidFill>
                  <a:schemeClr val="tx2"/>
                </a:solidFill>
              </a:rPr>
              <a:t>Puesto 1</a:t>
            </a:r>
          </a:p>
        </p:txBody>
      </p:sp>
      <p:sp>
        <p:nvSpPr>
          <p:cNvPr id="15" name="puesto1"/>
          <p:cNvSpPr/>
          <p:nvPr/>
        </p:nvSpPr>
        <p:spPr>
          <a:xfrm>
            <a:off x="1478640" y="1737360"/>
            <a:ext cx="740000" cy="777240"/>
          </a:xfrm>
          <a:prstGeom prst="roundRect">
            <a:avLst>
              <a:gd name="adj" fmla="val 10000"/>
            </a:avLst>
          </a:prstGeom>
          <a:solidFill>
            <a:schemeClr val="bg2"/>
          </a:solidFill>
          <a:ln w="19050">
            <a:solidFill>
              <a:schemeClr val="accent1"/>
            </a:solidFill>
          </a:ln>
        </p:spPr>
      </p:sp>
      <p:sp>
        <p:nvSpPr>
          <p:cNvPr id="16" name="Texto"/>
          <p:cNvSpPr txBox="1"/>
          <p:nvPr/>
        </p:nvSpPr>
        <p:spPr>
          <a:xfrm>
            <a:off x="1508640" y="1737360"/>
            <a:ext cx="680000" cy="777240"/>
          </a:xfrm>
          <a:prstGeom prst="rect">
            <a:avLst/>
          </a:prstGeom>
          <a:noFill/>
          <a:ln/>
        </p:spPr>
        <p:txBody>
          <a:bodyPr wrap="square" lIns="0" tIns="0" rIns="0" bIns="0" rtlCol="0" anchor="ctr"/>
          <a:lstStyle/>
          <a:p>
            <a:pPr marL="0" indent="0" algn="ctr">
              <a:spcAft>
                <a:spcPts val="0"/>
              </a:spcAft>
              <a:buNone/>
            </a:pPr>
            <a:r>
              <a:rPr lang="es-PE" sz="1200" b="1" dirty="0">
                <a:solidFill>
                  <a:schemeClr val="tx2"/>
                </a:solidFill>
              </a:rPr>
              <a:t>Puesto 2</a:t>
            </a:r>
          </a:p>
        </p:txBody>
      </p:sp>
      <p:sp>
        <p:nvSpPr>
          <p:cNvPr id="17" name="puesto2"/>
          <p:cNvSpPr/>
          <p:nvPr/>
        </p:nvSpPr>
        <p:spPr>
          <a:xfrm>
            <a:off x="2408640" y="1737360"/>
            <a:ext cx="740000" cy="777240"/>
          </a:xfrm>
          <a:prstGeom prst="roundRect">
            <a:avLst>
              <a:gd name="adj" fmla="val 10000"/>
            </a:avLst>
          </a:prstGeom>
          <a:solidFill>
            <a:schemeClr val="bg2"/>
          </a:solidFill>
          <a:ln w="19050">
            <a:solidFill>
              <a:schemeClr val="accent1"/>
            </a:solidFill>
          </a:ln>
        </p:spPr>
      </p:sp>
      <p:sp>
        <p:nvSpPr>
          <p:cNvPr id="18" name="Texto"/>
          <p:cNvSpPr txBox="1"/>
          <p:nvPr/>
        </p:nvSpPr>
        <p:spPr>
          <a:xfrm>
            <a:off x="2438640" y="1737360"/>
            <a:ext cx="680000" cy="777240"/>
          </a:xfrm>
          <a:prstGeom prst="rect">
            <a:avLst/>
          </a:prstGeom>
          <a:noFill/>
          <a:ln/>
        </p:spPr>
        <p:txBody>
          <a:bodyPr wrap="square" lIns="0" tIns="0" rIns="0" bIns="0" rtlCol="0" anchor="ctr"/>
          <a:lstStyle/>
          <a:p>
            <a:pPr marL="0" indent="0" algn="ctr">
              <a:spcAft>
                <a:spcPts val="0"/>
              </a:spcAft>
              <a:buNone/>
            </a:pPr>
            <a:r>
              <a:rPr lang="es-PE" sz="1200" b="1" dirty="0">
                <a:solidFill>
                  <a:schemeClr val="tx2"/>
                </a:solidFill>
              </a:rPr>
              <a:t>Puesto 3</a:t>
            </a:r>
          </a:p>
        </p:txBody>
      </p:sp>
      <p:sp>
        <p:nvSpPr>
          <p:cNvPr id="19" name="Texto"/>
          <p:cNvSpPr txBox="1"/>
          <p:nvPr/>
        </p:nvSpPr>
        <p:spPr>
          <a:xfrm>
            <a:off x="3338640" y="1737360"/>
            <a:ext cx="740000" cy="777240"/>
          </a:xfrm>
          <a:prstGeom prst="rect">
            <a:avLst/>
          </a:prstGeom>
          <a:noFill/>
          <a:ln/>
        </p:spPr>
        <p:txBody>
          <a:bodyPr wrap="square" lIns="0" tIns="0" rIns="0" bIns="0" rtlCol="0" anchor="ctr"/>
          <a:lstStyle/>
          <a:p>
            <a:pPr marL="0" indent="0" algn="ctr">
              <a:spcAft>
                <a:spcPts val="0"/>
              </a:spcAft>
              <a:buNone/>
            </a:pPr>
            <a:r>
              <a:rPr lang="es-PE" sz="2400" b="1" dirty="0">
                <a:solidFill>
                  <a:schemeClr val="accent5"/>
                </a:solidFill>
              </a:rPr>
              <a:t>···</a:t>
            </a:r>
          </a:p>
        </p:txBody>
      </p:sp>
      <p:sp>
        <p:nvSpPr>
          <p:cNvPr id="20" name="puesto4"/>
          <p:cNvSpPr/>
          <p:nvPr/>
        </p:nvSpPr>
        <p:spPr>
          <a:xfrm>
            <a:off x="4268640" y="1737360"/>
            <a:ext cx="740000" cy="777240"/>
          </a:xfrm>
          <a:prstGeom prst="roundRect">
            <a:avLst>
              <a:gd name="adj" fmla="val 10000"/>
            </a:avLst>
          </a:prstGeom>
          <a:solidFill>
            <a:schemeClr val="bg2"/>
          </a:solidFill>
          <a:ln w="19050">
            <a:solidFill>
              <a:schemeClr val="accent1"/>
            </a:solidFill>
          </a:ln>
        </p:spPr>
      </p:sp>
      <p:sp>
        <p:nvSpPr>
          <p:cNvPr id="21" name="Texto"/>
          <p:cNvSpPr txBox="1"/>
          <p:nvPr/>
        </p:nvSpPr>
        <p:spPr>
          <a:xfrm>
            <a:off x="4298640" y="1737360"/>
            <a:ext cx="680000" cy="777240"/>
          </a:xfrm>
          <a:prstGeom prst="rect">
            <a:avLst/>
          </a:prstGeom>
          <a:noFill/>
          <a:ln/>
        </p:spPr>
        <p:txBody>
          <a:bodyPr wrap="square" lIns="0" tIns="0" rIns="0" bIns="0" rtlCol="0" anchor="ctr"/>
          <a:lstStyle/>
          <a:p>
            <a:pPr marL="0" indent="0" algn="ctr">
              <a:spcAft>
                <a:spcPts val="0"/>
              </a:spcAft>
              <a:buNone/>
            </a:pPr>
            <a:r>
              <a:rPr lang="es-PE" sz="1200" b="1" dirty="0">
                <a:solidFill>
                  <a:schemeClr val="tx2"/>
                </a:solidFill>
              </a:rPr>
              <a:t>Puesto 25</a:t>
            </a:r>
          </a:p>
        </p:txBody>
      </p:sp>
      <p:cxnSp>
        <p:nvCxnSpPr>
          <p:cNvPr id="22" name="conector"/>
          <p:cNvCxnSpPr/>
          <p:nvPr/>
        </p:nvCxnSpPr>
        <p:spPr>
          <a:xfrm>
            <a:off x="5008640" y="2125980"/>
            <a:ext cx="420000" cy="0"/>
          </a:xfrm>
          <a:prstGeom prst="line">
            <a:avLst/>
          </a:prstGeom>
          <a:ln w="50800">
            <a:solidFill>
              <a:schemeClr val="accent3"/>
            </a:solidFill>
            <a:tailEnd type="triangle"/>
          </a:ln>
        </p:spPr>
      </p:cxnSp>
      <p:sp>
        <p:nvSpPr>
          <p:cNvPr id="23" name="pasarela"/>
          <p:cNvSpPr/>
          <p:nvPr/>
        </p:nvSpPr>
        <p:spPr>
          <a:xfrm>
            <a:off x="5428640" y="1737360"/>
            <a:ext cx="1646000" cy="777240"/>
          </a:xfrm>
          <a:prstGeom prst="roundRect">
            <a:avLst>
              <a:gd name="adj" fmla="val 10000"/>
            </a:avLst>
          </a:prstGeom>
          <a:solidFill>
            <a:schemeClr val="accent2"/>
          </a:solidFill>
          <a:ln/>
        </p:spPr>
      </p:sp>
      <p:sp>
        <p:nvSpPr>
          <p:cNvPr id="24" name="Texto"/>
          <p:cNvSpPr txBox="1"/>
          <p:nvPr/>
        </p:nvSpPr>
        <p:spPr>
          <a:xfrm>
            <a:off x="5428640" y="1737360"/>
            <a:ext cx="1646000" cy="777240"/>
          </a:xfrm>
          <a:prstGeom prst="rect">
            <a:avLst/>
          </a:prstGeom>
          <a:noFill/>
          <a:ln/>
        </p:spPr>
        <p:txBody>
          <a:bodyPr wrap="square" lIns="0" tIns="0" rIns="0" bIns="0" rtlCol="0" anchor="ctr"/>
          <a:lstStyle/>
          <a:p>
            <a:pPr marL="0" indent="0" algn="ctr">
              <a:spcAft>
                <a:spcPts val="0"/>
              </a:spcAft>
              <a:buNone/>
            </a:pPr>
            <a:r>
              <a:rPr lang="es-PE" sz="1400" b="1" dirty="0">
                <a:solidFill>
                  <a:schemeClr val="bg1"/>
                </a:solidFill>
              </a:rPr>
              <a:t>Pasarela ESP32</a:t>
            </a:r>
          </a:p>
        </p:txBody>
      </p:sp>
      <p:cxnSp>
        <p:nvCxnSpPr>
          <p:cNvPr id="25" name="conector"/>
          <p:cNvCxnSpPr/>
          <p:nvPr/>
        </p:nvCxnSpPr>
        <p:spPr>
          <a:xfrm>
            <a:off x="7074640" y="2125980"/>
            <a:ext cx="380000" cy="0"/>
          </a:xfrm>
          <a:prstGeom prst="line">
            <a:avLst/>
          </a:prstGeom>
          <a:ln w="50800">
            <a:solidFill>
              <a:schemeClr val="accent3"/>
            </a:solidFill>
            <a:tailEnd type="triangle"/>
          </a:ln>
        </p:spPr>
      </p:cxnSp>
      <p:sp>
        <p:nvSpPr>
          <p:cNvPr id="26" name="switch"/>
          <p:cNvSpPr/>
          <p:nvPr/>
        </p:nvSpPr>
        <p:spPr>
          <a:xfrm>
            <a:off x="7454640" y="1737360"/>
            <a:ext cx="1646000" cy="777240"/>
          </a:xfrm>
          <a:prstGeom prst="roundRect">
            <a:avLst>
              <a:gd name="adj" fmla="val 10000"/>
            </a:avLst>
          </a:prstGeom>
          <a:solidFill>
            <a:schemeClr val="tx2"/>
          </a:solidFill>
          <a:ln/>
        </p:spPr>
      </p:sp>
      <p:sp>
        <p:nvSpPr>
          <p:cNvPr id="27" name="Texto"/>
          <p:cNvSpPr txBox="1"/>
          <p:nvPr/>
        </p:nvSpPr>
        <p:spPr>
          <a:xfrm>
            <a:off x="7454640" y="1737360"/>
            <a:ext cx="1646000" cy="777240"/>
          </a:xfrm>
          <a:prstGeom prst="rect">
            <a:avLst/>
          </a:prstGeom>
          <a:noFill/>
          <a:ln/>
        </p:spPr>
        <p:txBody>
          <a:bodyPr wrap="square" lIns="0" tIns="0" rIns="0" bIns="0" rtlCol="0" anchor="ctr"/>
          <a:lstStyle/>
          <a:p>
            <a:pPr marL="0" indent="0" algn="ctr">
              <a:spcAft>
                <a:spcPts val="0"/>
              </a:spcAft>
              <a:buNone/>
            </a:pPr>
            <a:r>
              <a:rPr lang="es-PE" sz="1400" b="1" dirty="0">
                <a:solidFill>
                  <a:schemeClr val="bg1"/>
                </a:solidFill>
              </a:rPr>
              <a:t>Switch PoE</a:t>
            </a:r>
          </a:p>
        </p:txBody>
      </p:sp>
      <p:cxnSp>
        <p:nvCxnSpPr>
          <p:cNvPr id="28" name="conector"/>
          <p:cNvCxnSpPr/>
          <p:nvPr/>
        </p:nvCxnSpPr>
        <p:spPr>
          <a:xfrm>
            <a:off x="9100640" y="2125980"/>
            <a:ext cx="380000" cy="0"/>
          </a:xfrm>
          <a:prstGeom prst="line">
            <a:avLst/>
          </a:prstGeom>
          <a:ln w="50800">
            <a:solidFill>
              <a:schemeClr val="accent3"/>
            </a:solidFill>
            <a:tailEnd type="triangle"/>
          </a:ln>
        </p:spPr>
      </p:cxnSp>
      <p:sp>
        <p:nvSpPr>
          <p:cNvPr id="29" name="servidor"/>
          <p:cNvSpPr/>
          <p:nvPr/>
        </p:nvSpPr>
        <p:spPr>
          <a:xfrm>
            <a:off x="9480640" y="1737360"/>
            <a:ext cx="2159672" cy="777240"/>
          </a:xfrm>
          <a:prstGeom prst="roundRect">
            <a:avLst>
              <a:gd name="adj" fmla="val 10000"/>
            </a:avLst>
          </a:prstGeom>
          <a:solidFill>
            <a:schemeClr val="tx2"/>
          </a:solidFill>
          <a:ln/>
        </p:spPr>
      </p:sp>
      <p:sp>
        <p:nvSpPr>
          <p:cNvPr id="30" name="Texto"/>
          <p:cNvSpPr txBox="1"/>
          <p:nvPr/>
        </p:nvSpPr>
        <p:spPr>
          <a:xfrm>
            <a:off x="9480640" y="1737360"/>
            <a:ext cx="2159672" cy="777240"/>
          </a:xfrm>
          <a:prstGeom prst="rect">
            <a:avLst/>
          </a:prstGeom>
          <a:noFill/>
          <a:ln/>
        </p:spPr>
        <p:txBody>
          <a:bodyPr wrap="square" lIns="0" tIns="0" rIns="0" bIns="0" rtlCol="0" anchor="ctr"/>
          <a:lstStyle/>
          <a:p>
            <a:pPr marL="0" indent="0" algn="ctr">
              <a:spcAft>
                <a:spcPts val="0"/>
              </a:spcAft>
              <a:buNone/>
            </a:pPr>
            <a:r>
              <a:rPr lang="es-PE" sz="1400" b="1" dirty="0">
                <a:solidFill>
                  <a:schemeClr val="bg1"/>
                </a:solidFill>
              </a:rPr>
              <a:t>Servidor · MQTT</a:t>
            </a:r>
          </a:p>
        </p:txBody>
      </p:sp>
      <p:sp>
        <p:nvSpPr>
          <p:cNvPr id="31" name="Texto"/>
          <p:cNvSpPr txBox="1"/>
          <p:nvPr/>
        </p:nvSpPr>
        <p:spPr>
          <a:xfrm>
            <a:off x="548640" y="2606040"/>
            <a:ext cx="4460000" cy="260000"/>
          </a:xfrm>
          <a:prstGeom prst="rect">
            <a:avLst/>
          </a:prstGeom>
          <a:noFill/>
          <a:ln/>
        </p:spPr>
        <p:txBody>
          <a:bodyPr wrap="square" lIns="0" tIns="0" rIns="0" bIns="0" rtlCol="0" anchor="t"/>
          <a:lstStyle/>
          <a:p>
            <a:pPr marL="0" indent="0" algn="l">
              <a:spcAft>
                <a:spcPts val="0"/>
              </a:spcAft>
              <a:buNone/>
            </a:pPr>
            <a:r>
              <a:rPr lang="es-PE" sz="1200" dirty="0">
                <a:solidFill>
                  <a:schemeClr val="accent5"/>
                </a:solidFill>
              </a:rPr>
              <a:t>25 puestos por línea, con nodo en cada uno</a:t>
            </a:r>
          </a:p>
        </p:txBody>
      </p:sp>
      <p:sp>
        <p:nvSpPr>
          <p:cNvPr id="32" name="Texto"/>
          <p:cNvSpPr txBox="1"/>
          <p:nvPr/>
        </p:nvSpPr>
        <p:spPr>
          <a:xfrm>
            <a:off x="5278640" y="2606040"/>
            <a:ext cx="1946000" cy="260000"/>
          </a:xfrm>
          <a:prstGeom prst="rect">
            <a:avLst/>
          </a:prstGeom>
          <a:noFill/>
          <a:ln/>
        </p:spPr>
        <p:txBody>
          <a:bodyPr wrap="square" lIns="0" tIns="0" rIns="0" bIns="0" rtlCol="0" anchor="t"/>
          <a:lstStyle/>
          <a:p>
            <a:pPr marL="0" indent="0" algn="ctr">
              <a:spcAft>
                <a:spcPts val="0"/>
              </a:spcAft>
              <a:buNone/>
            </a:pPr>
            <a:r>
              <a:rPr lang="es-PE" sz="1200" dirty="0">
                <a:solidFill>
                  <a:schemeClr val="accent5"/>
                </a:solidFill>
              </a:rPr>
              <a:t>1 por línea</a:t>
            </a:r>
          </a:p>
        </p:txBody>
      </p:sp>
      <p:sp>
        <p:nvSpPr>
          <p:cNvPr id="33" name="Texto"/>
          <p:cNvSpPr txBox="1"/>
          <p:nvPr/>
        </p:nvSpPr>
        <p:spPr>
          <a:xfrm>
            <a:off x="7354640" y="2606040"/>
            <a:ext cx="1846000" cy="260000"/>
          </a:xfrm>
          <a:prstGeom prst="rect">
            <a:avLst/>
          </a:prstGeom>
          <a:noFill/>
          <a:ln/>
        </p:spPr>
        <p:txBody>
          <a:bodyPr wrap="square" lIns="0" tIns="0" rIns="0" bIns="0" rtlCol="0" anchor="t"/>
          <a:lstStyle/>
          <a:p>
            <a:pPr marL="0" indent="0" algn="ctr">
              <a:spcAft>
                <a:spcPts val="0"/>
              </a:spcAft>
              <a:buNone/>
            </a:pPr>
            <a:r>
              <a:rPr lang="es-PE" sz="1200" dirty="0">
                <a:solidFill>
                  <a:schemeClr val="accent5"/>
                </a:solidFill>
              </a:rPr>
              <a:t>Ethernet / PoE</a:t>
            </a:r>
          </a:p>
        </p:txBody>
      </p:sp>
      <p:sp>
        <p:nvSpPr>
          <p:cNvPr id="34" name="tarjeta0"/>
          <p:cNvSpPr/>
          <p:nvPr/>
        </p:nvSpPr>
        <p:spPr>
          <a:xfrm>
            <a:off x="548640" y="3200400"/>
            <a:ext cx="5362956" cy="2560320"/>
          </a:xfrm>
          <a:prstGeom prst="roundRect">
            <a:avLst>
              <a:gd name="adj" fmla="val 5263"/>
            </a:avLst>
          </a:prstGeom>
          <a:solidFill>
            <a:schemeClr val="bg2"/>
          </a:solidFill>
          <a:ln/>
        </p:spPr>
      </p:sp>
      <p:sp>
        <p:nvSpPr>
          <p:cNvPr id="35" name="punto0"/>
          <p:cNvSpPr/>
          <p:nvPr/>
        </p:nvSpPr>
        <p:spPr>
          <a:xfrm>
            <a:off x="777240" y="3383280"/>
            <a:ext cx="365760" cy="365760"/>
          </a:xfrm>
          <a:prstGeom prst="ellipse">
            <a:avLst/>
          </a:prstGeom>
          <a:solidFill>
            <a:schemeClr val="accent6"/>
          </a:solidFill>
          <a:ln/>
        </p:spPr>
      </p:sp>
      <p:sp>
        <p:nvSpPr>
          <p:cNvPr id="36" name="Texto"/>
          <p:cNvSpPr txBox="1"/>
          <p:nvPr/>
        </p:nvSpPr>
        <p:spPr>
          <a:xfrm>
            <a:off x="1280160" y="3383280"/>
            <a:ext cx="4402836" cy="365760"/>
          </a:xfrm>
          <a:prstGeom prst="rect">
            <a:avLst/>
          </a:prstGeom>
          <a:noFill/>
          <a:ln/>
        </p:spPr>
        <p:txBody>
          <a:bodyPr wrap="square" lIns="0" tIns="0" rIns="0" bIns="0" rtlCol="0" anchor="ctr"/>
          <a:lstStyle/>
          <a:p>
            <a:pPr marL="0" indent="0" algn="l">
              <a:spcAft>
                <a:spcPts val="0"/>
              </a:spcAft>
              <a:buNone/>
            </a:pPr>
            <a:r>
              <a:rPr lang="es-PE" sz="1800" b="1" dirty="0">
                <a:solidFill>
                  <a:schemeClr val="tx2"/>
                </a:solidFill>
              </a:rPr>
              <a:t>Qué ganamos</a:t>
            </a:r>
          </a:p>
        </p:txBody>
      </p:sp>
      <p:sp>
        <p:nvSpPr>
          <p:cNvPr id="37" name="Texto"/>
          <p:cNvSpPr txBox="1"/>
          <p:nvPr/>
        </p:nvSpPr>
        <p:spPr>
          <a:xfrm>
            <a:off x="777240" y="3931920"/>
            <a:ext cx="4905756" cy="1710320"/>
          </a:xfrm>
          <a:prstGeom prst="rect">
            <a:avLst/>
          </a:prstGeom>
          <a:noFill/>
          <a:ln/>
        </p:spPr>
        <p:txBody>
          <a:bodyPr wrap="square" lIns="0" tIns="0" rIns="0" bIns="0" rtlCol="0" anchor="t"/>
          <a:lstStyle/>
          <a:p>
            <a:pPr marL="228600" indent="-228600" algn="l">
              <a:spcAft>
                <a:spcPts val="800"/>
              </a:spcAft>
              <a:buFont typeface="Arial"/>
              <a:buChar char="•"/>
            </a:pPr>
            <a:r>
              <a:rPr lang="es-PE" sz="1600" dirty="0">
                <a:solidFill>
                  <a:schemeClr val="tx1"/>
                </a:solidFill>
              </a:rPr>
              <a:t>~16 pasarelas en vez de ~400 clientes WiFi; sin puntos de acceso</a:t>
            </a:r>
          </a:p>
          <a:p>
            <a:pPr marL="228600" indent="-228600" algn="l">
              <a:spcAft>
                <a:spcPts val="800"/>
              </a:spcAft>
              <a:buFont typeface="Arial"/>
              <a:buChar char="•"/>
            </a:pPr>
            <a:r>
              <a:rPr lang="es-PE" sz="1600" dirty="0">
                <a:solidFill>
                  <a:schemeClr val="tx1"/>
                </a:solidFill>
              </a:rPr>
              <a:t>Señal diferencial: resiste el ruido de los motores</a:t>
            </a:r>
          </a:p>
          <a:p>
            <a:pPr marL="228600" indent="-228600" algn="l">
              <a:spcAft>
                <a:spcPts val="800"/>
              </a:spcAft>
              <a:buFont typeface="Arial"/>
              <a:buChar char="•"/>
            </a:pPr>
            <a:r>
              <a:rPr lang="es-PE" sz="1600" dirty="0">
                <a:solidFill>
                  <a:schemeClr val="tx1"/>
                </a:solidFill>
              </a:rPr>
              <a:t>Datos y alimentación en un solo cable</a:t>
            </a:r>
          </a:p>
          <a:p>
            <a:pPr marL="228600" indent="-228600" algn="l">
              <a:spcAft>
                <a:spcPts val="800"/>
              </a:spcAft>
              <a:buFont typeface="Arial"/>
              <a:buChar char="•"/>
            </a:pPr>
            <a:r>
              <a:rPr lang="es-PE" sz="1600" dirty="0">
                <a:solidFill>
                  <a:schemeClr val="tx1"/>
                </a:solidFill>
              </a:rPr>
              <a:t>No depende de la cámara ni de ESP-NOW</a:t>
            </a:r>
          </a:p>
        </p:txBody>
      </p:sp>
      <p:sp>
        <p:nvSpPr>
          <p:cNvPr id="38" name="tarjeta1"/>
          <p:cNvSpPr/>
          <p:nvPr/>
        </p:nvSpPr>
        <p:spPr>
          <a:xfrm>
            <a:off x="6277356" y="3200400"/>
            <a:ext cx="5362956" cy="2560320"/>
          </a:xfrm>
          <a:prstGeom prst="roundRect">
            <a:avLst>
              <a:gd name="adj" fmla="val 5263"/>
            </a:avLst>
          </a:prstGeom>
          <a:solidFill>
            <a:schemeClr val="bg2"/>
          </a:solidFill>
          <a:ln/>
        </p:spPr>
      </p:sp>
      <p:sp>
        <p:nvSpPr>
          <p:cNvPr id="39" name="punto1"/>
          <p:cNvSpPr/>
          <p:nvPr/>
        </p:nvSpPr>
        <p:spPr>
          <a:xfrm>
            <a:off x="6505956" y="3383280"/>
            <a:ext cx="365760" cy="365760"/>
          </a:xfrm>
          <a:prstGeom prst="ellipse">
            <a:avLst/>
          </a:prstGeom>
          <a:solidFill>
            <a:schemeClr val="accent4"/>
          </a:solidFill>
          <a:ln/>
        </p:spPr>
      </p:sp>
      <p:sp>
        <p:nvSpPr>
          <p:cNvPr id="40" name="Texto"/>
          <p:cNvSpPr txBox="1"/>
          <p:nvPr/>
        </p:nvSpPr>
        <p:spPr>
          <a:xfrm>
            <a:off x="7008876" y="3383280"/>
            <a:ext cx="4402836" cy="365760"/>
          </a:xfrm>
          <a:prstGeom prst="rect">
            <a:avLst/>
          </a:prstGeom>
          <a:noFill/>
          <a:ln/>
        </p:spPr>
        <p:txBody>
          <a:bodyPr wrap="square" lIns="0" tIns="0" rIns="0" bIns="0" rtlCol="0" anchor="ctr"/>
          <a:lstStyle/>
          <a:p>
            <a:pPr marL="0" indent="0" algn="l">
              <a:spcAft>
                <a:spcPts val="0"/>
              </a:spcAft>
              <a:buNone/>
            </a:pPr>
            <a:r>
              <a:rPr lang="es-PE" sz="1800" b="1" dirty="0">
                <a:solidFill>
                  <a:schemeClr val="tx2"/>
                </a:solidFill>
              </a:rPr>
              <a:t>Qué hay que cuidar</a:t>
            </a:r>
          </a:p>
        </p:txBody>
      </p:sp>
      <p:sp>
        <p:nvSpPr>
          <p:cNvPr id="41" name="Texto"/>
          <p:cNvSpPr txBox="1"/>
          <p:nvPr/>
        </p:nvSpPr>
        <p:spPr>
          <a:xfrm>
            <a:off x="6505956" y="3931920"/>
            <a:ext cx="4905756" cy="1710320"/>
          </a:xfrm>
          <a:prstGeom prst="rect">
            <a:avLst/>
          </a:prstGeom>
          <a:noFill/>
          <a:ln/>
        </p:spPr>
        <p:txBody>
          <a:bodyPr wrap="square" lIns="0" tIns="0" rIns="0" bIns="0" rtlCol="0" anchor="t"/>
          <a:lstStyle/>
          <a:p>
            <a:pPr marL="228600" indent="-228600" algn="l">
              <a:spcAft>
                <a:spcPts val="800"/>
              </a:spcAft>
              <a:buFont typeface="Arial"/>
              <a:buChar char="•"/>
            </a:pPr>
            <a:r>
              <a:rPr lang="es-PE" sz="1600" dirty="0">
                <a:solidFill>
                  <a:schemeClr val="tx1"/>
                </a:solidFill>
              </a:rPr>
              <a:t>Si se corta el cable cae la línea: partirla en 2 tramos</a:t>
            </a:r>
          </a:p>
          <a:p>
            <a:pPr marL="228600" indent="-228600" algn="l">
              <a:spcAft>
                <a:spcPts val="800"/>
              </a:spcAft>
              <a:buFont typeface="Arial"/>
              <a:buChar char="•"/>
            </a:pPr>
            <a:r>
              <a:rPr lang="es-PE" sz="1600" dirty="0">
                <a:solidFill>
                  <a:schemeClr val="tx1"/>
                </a:solidFill>
              </a:rPr>
              <a:t>Caída de tensión con 24 V: medir en el prototipo</a:t>
            </a:r>
          </a:p>
          <a:p>
            <a:pPr marL="228600" indent="-228600" algn="l">
              <a:spcAft>
                <a:spcPts val="800"/>
              </a:spcAft>
              <a:buFont typeface="Arial"/>
              <a:buChar char="•"/>
            </a:pPr>
            <a:r>
              <a:rPr lang="es-PE" sz="1600" dirty="0">
                <a:solidFill>
                  <a:schemeClr val="tx1"/>
                </a:solidFill>
              </a:rPr>
              <a:t>Firmware por bus: sin actualización por WiFi</a:t>
            </a:r>
          </a:p>
          <a:p>
            <a:pPr marL="228600" indent="-228600" algn="l">
              <a:spcAft>
                <a:spcPts val="800"/>
              </a:spcAft>
              <a:buFont typeface="Arial"/>
              <a:buChar char="•"/>
            </a:pPr>
            <a:r>
              <a:rPr lang="es-PE" sz="1600" dirty="0">
                <a:solidFill>
                  <a:schemeClr val="tx1"/>
                </a:solidFill>
              </a:rPr>
              <a:t>Cada nodo guarda la pulsación hasta que la pasarela la lea</a:t>
            </a:r>
          </a:p>
        </p:txBody>
      </p:sp>
      <p:sp>
        <p:nvSpPr>
          <p:cNvPr id="900"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F6B70"/>
                </a:solidFill>
              </a:defRPr>
            </a:lvl1pPr>
          </a:lstStyle>
          <a:p>
            <a:pPr algn="r"/>
            <a:fld id="{F7021451-1387-4CA6-816F-3879F97B5CBC}" type="slidenum">
              <a:rPr lang="en-US" b="0"/>
              <a:t>12</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1672" cy="868680"/>
          </a:xfrm>
          <a:prstGeom prst="rect">
            <a:avLst/>
          </a:prstGeom>
          <a:noFill/>
          <a:ln/>
        </p:spPr>
        <p:txBody>
          <a:bodyPr wrap="square" lIns="0" tIns="0" rIns="0" bIns="0" rtlCol="0" anchor="ctr"/>
          <a:lstStyle/>
          <a:p>
            <a:pPr marL="0" indent="0" algn="l">
              <a:buNone/>
            </a:pPr>
            <a:r>
              <a:rPr lang="en-US" sz="3200" b="1" dirty="0">
                <a:solidFill>
                  <a:schemeClr val="tx2"/>
                </a:solidFill>
              </a:rPr>
              <a:t>Cámara arriba, nodo de puesto abajo</a:t>
            </a:r>
            <a:endParaRPr lang="en-US" sz="3200" dirty="0"/>
          </a:p>
        </p:txBody>
      </p:sp>
      <p:sp>
        <p:nvSpPr>
          <p:cNvPr id="11" name="tarjeta0"/>
          <p:cNvSpPr/>
          <p:nvPr/>
        </p:nvSpPr>
        <p:spPr>
          <a:xfrm>
            <a:off x="548640" y="1463040"/>
            <a:ext cx="5362956" cy="3017520"/>
          </a:xfrm>
          <a:prstGeom prst="roundRect">
            <a:avLst>
              <a:gd name="adj" fmla="val 5263"/>
            </a:avLst>
          </a:prstGeom>
          <a:solidFill>
            <a:schemeClr val="tx2"/>
          </a:solidFill>
          <a:ln/>
        </p:spPr>
      </p:sp>
      <p:sp>
        <p:nvSpPr>
          <p:cNvPr id="12" name="Texto"/>
          <p:cNvSpPr txBox="1"/>
          <p:nvPr/>
        </p:nvSpPr>
        <p:spPr>
          <a:xfrm>
            <a:off x="777240" y="1645920"/>
            <a:ext cx="4905756" cy="420000"/>
          </a:xfrm>
          <a:prstGeom prst="rect">
            <a:avLst/>
          </a:prstGeom>
          <a:noFill/>
          <a:ln/>
        </p:spPr>
        <p:txBody>
          <a:bodyPr wrap="square" lIns="0" tIns="0" rIns="0" bIns="0" rtlCol="0" anchor="t"/>
          <a:lstStyle/>
          <a:p>
            <a:pPr marL="0" indent="0" algn="l">
              <a:spcAft>
                <a:spcPts val="0"/>
              </a:spcAft>
              <a:buNone/>
            </a:pPr>
            <a:r>
              <a:rPr lang="es-PE" sz="2200" b="1" dirty="0">
                <a:solidFill>
                  <a:schemeClr val="bg1"/>
                </a:solidFill>
              </a:rPr>
              <a:t>Nodo de cámara</a:t>
            </a:r>
          </a:p>
        </p:txBody>
      </p:sp>
      <p:sp>
        <p:nvSpPr>
          <p:cNvPr id="13" name="Texto"/>
          <p:cNvSpPr txBox="1"/>
          <p:nvPr/>
        </p:nvSpPr>
        <p:spPr>
          <a:xfrm>
            <a:off x="777240" y="2103120"/>
            <a:ext cx="4905756" cy="300000"/>
          </a:xfrm>
          <a:prstGeom prst="rect">
            <a:avLst/>
          </a:prstGeom>
          <a:noFill/>
          <a:ln/>
        </p:spPr>
        <p:txBody>
          <a:bodyPr wrap="square" lIns="0" tIns="0" rIns="0" bIns="0" rtlCol="0" anchor="t"/>
          <a:lstStyle/>
          <a:p>
            <a:pPr marL="0" indent="0" algn="l">
              <a:spcAft>
                <a:spcPts val="0"/>
              </a:spcAft>
              <a:buNone/>
            </a:pPr>
            <a:r>
              <a:rPr lang="es-PE" sz="1300" dirty="0">
                <a:solidFill>
                  <a:schemeClr val="accent3"/>
                </a:solidFill>
              </a:rPr>
              <a:t>Arriba, en la luminaria · ~100 (1 por cada 4 puestos)</a:t>
            </a:r>
          </a:p>
        </p:txBody>
      </p:sp>
      <p:sp>
        <p:nvSpPr>
          <p:cNvPr id="14" name="Texto"/>
          <p:cNvSpPr txBox="1"/>
          <p:nvPr/>
        </p:nvSpPr>
        <p:spPr>
          <a:xfrm>
            <a:off x="777240" y="2561040"/>
            <a:ext cx="4905756" cy="1767520"/>
          </a:xfrm>
          <a:prstGeom prst="rect">
            <a:avLst/>
          </a:prstGeom>
          <a:noFill/>
          <a:ln/>
        </p:spPr>
        <p:txBody>
          <a:bodyPr wrap="square" lIns="0" tIns="0" rIns="0" bIns="0" rtlCol="0" anchor="t"/>
          <a:lstStyle/>
          <a:p>
            <a:pPr marL="228600" indent="-228600" algn="l">
              <a:spcAft>
                <a:spcPts val="800"/>
              </a:spcAft>
              <a:buFont typeface="Arial"/>
              <a:buChar char="•"/>
            </a:pPr>
            <a:r>
              <a:rPr lang="es-PE" sz="1600" dirty="0">
                <a:solidFill>
                  <a:schemeClr val="bg1"/>
                </a:solidFill>
              </a:rPr>
              <a:t>Waveshare ESP32-S3-POE-ETH-M-CAM-KIT con lente gran angular</a:t>
            </a:r>
          </a:p>
          <a:p>
            <a:pPr marL="228600" indent="-228600" algn="l">
              <a:spcAft>
                <a:spcPts val="800"/>
              </a:spcAft>
              <a:buFont typeface="Arial"/>
              <a:buChar char="•"/>
            </a:pPr>
            <a:r>
              <a:rPr lang="es-PE" sz="1600" dirty="0">
                <a:solidFill>
                  <a:schemeClr val="bg1"/>
                </a:solidFill>
              </a:rPr>
              <a:t>Un solo cable: PoE, sin fuente aparte</a:t>
            </a:r>
          </a:p>
          <a:p>
            <a:pPr marL="228600" indent="-228600" algn="l">
              <a:spcAft>
                <a:spcPts val="800"/>
              </a:spcAft>
              <a:buFont typeface="Arial"/>
              <a:buChar char="•"/>
            </a:pPr>
            <a:r>
              <a:rPr lang="es-PE" sz="1600" dirty="0">
                <a:solidFill>
                  <a:schemeClr val="bg1"/>
                </a:solidFill>
              </a:rPr>
              <a:t>Envía fotos al servidor; la pose se calcula allá</a:t>
            </a:r>
          </a:p>
          <a:p>
            <a:pPr marL="228600" indent="-228600" algn="l">
              <a:spcAft>
                <a:spcPts val="800"/>
              </a:spcAft>
              <a:buFont typeface="Arial"/>
              <a:buChar char="•"/>
            </a:pPr>
            <a:r>
              <a:rPr lang="es-PE" sz="1600" dirty="0">
                <a:solidFill>
                  <a:schemeClr val="bg1"/>
                </a:solidFill>
              </a:rPr>
              <a:t>No tiene botones ni pinza de corriente</a:t>
            </a:r>
          </a:p>
        </p:txBody>
      </p:sp>
      <p:sp>
        <p:nvSpPr>
          <p:cNvPr id="15" name="tarjeta1"/>
          <p:cNvSpPr/>
          <p:nvPr/>
        </p:nvSpPr>
        <p:spPr>
          <a:xfrm>
            <a:off x="6277356" y="1463040"/>
            <a:ext cx="5362956" cy="3017520"/>
          </a:xfrm>
          <a:prstGeom prst="roundRect">
            <a:avLst>
              <a:gd name="adj" fmla="val 5263"/>
            </a:avLst>
          </a:prstGeom>
          <a:solidFill>
            <a:schemeClr val="bg2"/>
          </a:solidFill>
          <a:ln/>
        </p:spPr>
      </p:sp>
      <p:sp>
        <p:nvSpPr>
          <p:cNvPr id="16" name="Texto"/>
          <p:cNvSpPr txBox="1"/>
          <p:nvPr/>
        </p:nvSpPr>
        <p:spPr>
          <a:xfrm>
            <a:off x="6505956" y="1645920"/>
            <a:ext cx="4905756" cy="420000"/>
          </a:xfrm>
          <a:prstGeom prst="rect">
            <a:avLst/>
          </a:prstGeom>
          <a:noFill/>
          <a:ln/>
        </p:spPr>
        <p:txBody>
          <a:bodyPr wrap="square" lIns="0" tIns="0" rIns="0" bIns="0" rtlCol="0" anchor="t"/>
          <a:lstStyle/>
          <a:p>
            <a:pPr marL="0" indent="0" algn="l">
              <a:spcAft>
                <a:spcPts val="0"/>
              </a:spcAft>
              <a:buNone/>
            </a:pPr>
            <a:r>
              <a:rPr lang="es-PE" sz="2200" b="1" dirty="0">
                <a:solidFill>
                  <a:schemeClr val="tx2"/>
                </a:solidFill>
              </a:rPr>
              <a:t>Nodo de puesto</a:t>
            </a:r>
          </a:p>
        </p:txBody>
      </p:sp>
      <p:sp>
        <p:nvSpPr>
          <p:cNvPr id="17" name="Texto"/>
          <p:cNvSpPr txBox="1"/>
          <p:nvPr/>
        </p:nvSpPr>
        <p:spPr>
          <a:xfrm>
            <a:off x="6505956" y="2103120"/>
            <a:ext cx="4905756" cy="300000"/>
          </a:xfrm>
          <a:prstGeom prst="rect">
            <a:avLst/>
          </a:prstGeom>
          <a:noFill/>
          <a:ln/>
        </p:spPr>
        <p:txBody>
          <a:bodyPr wrap="square" lIns="0" tIns="0" rIns="0" bIns="0" rtlCol="0" anchor="t"/>
          <a:lstStyle/>
          <a:p>
            <a:pPr marL="0" indent="0" algn="l">
              <a:spcAft>
                <a:spcPts val="0"/>
              </a:spcAft>
              <a:buNone/>
            </a:pPr>
            <a:r>
              <a:rPr lang="es-PE" sz="1300" dirty="0">
                <a:solidFill>
                  <a:schemeClr val="accent5"/>
                </a:solidFill>
              </a:rPr>
              <a:t>Abajo, junto a la operaria · ~400 (1 por puesto)</a:t>
            </a:r>
          </a:p>
        </p:txBody>
      </p:sp>
      <p:sp>
        <p:nvSpPr>
          <p:cNvPr id="18" name="Texto"/>
          <p:cNvSpPr txBox="1"/>
          <p:nvPr/>
        </p:nvSpPr>
        <p:spPr>
          <a:xfrm>
            <a:off x="6505956" y="2561040"/>
            <a:ext cx="4905756" cy="1767520"/>
          </a:xfrm>
          <a:prstGeom prst="rect">
            <a:avLst/>
          </a:prstGeom>
          <a:noFill/>
          <a:ln/>
        </p:spPr>
        <p:txBody>
          <a:bodyPr wrap="square" lIns="0" tIns="0" rIns="0" bIns="0" rtlCol="0" anchor="t"/>
          <a:lstStyle/>
          <a:p>
            <a:pPr marL="228600" indent="-228600" algn="l">
              <a:spcAft>
                <a:spcPts val="800"/>
              </a:spcAft>
              <a:buFont typeface="Arial"/>
              <a:buChar char="•"/>
            </a:pPr>
            <a:r>
              <a:rPr lang="es-PE" sz="1600" dirty="0">
                <a:solidFill>
                  <a:schemeClr val="tx1"/>
                </a:solidFill>
              </a:rPr>
              <a:t>ESP32 con pinza SCT-013 y ADS1115: mide si la máquina cose</a:t>
            </a:r>
          </a:p>
          <a:p>
            <a:pPr marL="228600" indent="-228600" algn="l">
              <a:spcAft>
                <a:spcPts val="800"/>
              </a:spcAft>
              <a:buFont typeface="Arial"/>
              <a:buChar char="•"/>
            </a:pPr>
            <a:r>
              <a:rPr lang="es-PE" sz="1600" dirty="0">
                <a:solidFill>
                  <a:schemeClr val="tx1"/>
                </a:solidFill>
              </a:rPr>
              <a:t>Botonera de 4 causas: Material, Máquina, Reproceso, Otro</a:t>
            </a:r>
          </a:p>
          <a:p>
            <a:pPr marL="228600" indent="-228600" algn="l">
              <a:spcAft>
                <a:spcPts val="800"/>
              </a:spcAft>
              <a:buFont typeface="Arial"/>
              <a:buChar char="•"/>
            </a:pPr>
            <a:r>
              <a:rPr lang="es-PE" sz="1600" dirty="0">
                <a:solidFill>
                  <a:schemeClr val="tx1"/>
                </a:solidFill>
              </a:rPr>
              <a:t>Radar LD2410C opcional para presencia</a:t>
            </a:r>
          </a:p>
          <a:p>
            <a:pPr marL="228600" indent="-228600" algn="l">
              <a:spcAft>
                <a:spcPts val="800"/>
              </a:spcAft>
              <a:buFont typeface="Arial"/>
              <a:buChar char="•"/>
            </a:pPr>
            <a:r>
              <a:rPr lang="es-PE" sz="1600" dirty="0">
                <a:solidFill>
                  <a:schemeClr val="tx1"/>
                </a:solidFill>
              </a:rPr>
              <a:t>Alimentación: fuente de 5 V o 24 V del bus de la línea</a:t>
            </a:r>
          </a:p>
        </p:txBody>
      </p:sp>
      <p:sp>
        <p:nvSpPr>
          <p:cNvPr id="19" name="Texto"/>
          <p:cNvSpPr txBox="1"/>
          <p:nvPr/>
        </p:nvSpPr>
        <p:spPr>
          <a:xfrm>
            <a:off x="548640" y="4709160"/>
            <a:ext cx="11091672" cy="320000"/>
          </a:xfrm>
          <a:prstGeom prst="rect">
            <a:avLst/>
          </a:prstGeom>
          <a:noFill/>
          <a:ln/>
        </p:spPr>
        <p:txBody>
          <a:bodyPr wrap="square" lIns="0" tIns="0" rIns="0" bIns="0" rtlCol="0" anchor="t"/>
          <a:lstStyle/>
          <a:p>
            <a:pPr marL="0" indent="0" algn="l">
              <a:spcAft>
                <a:spcPts val="0"/>
              </a:spcAft>
              <a:buNone/>
            </a:pPr>
            <a:r>
              <a:rPr lang="es-PE" sz="1600" b="1" dirty="0">
                <a:solidFill>
                  <a:schemeClr val="tx2"/>
                </a:solidFill>
              </a:rPr>
              <a:t>¿Cómo llegan los datos del puesto al servidor?</a:t>
            </a:r>
          </a:p>
        </p:txBody>
      </p:sp>
      <p:sp>
        <p:nvSpPr>
          <p:cNvPr id="20" name="rutaA"/>
          <p:cNvSpPr/>
          <p:nvPr/>
        </p:nvSpPr>
        <p:spPr>
          <a:xfrm>
            <a:off x="548640" y="5129160"/>
            <a:ext cx="3575304" cy="640080"/>
          </a:xfrm>
          <a:prstGeom prst="roundRect">
            <a:avLst>
              <a:gd name="adj" fmla="val 12000"/>
            </a:avLst>
          </a:prstGeom>
          <a:solidFill>
            <a:schemeClr val="accent1"/>
          </a:solidFill>
          <a:ln/>
        </p:spPr>
      </p:sp>
      <p:sp>
        <p:nvSpPr>
          <p:cNvPr id="21" name="Texto"/>
          <p:cNvSpPr txBox="1"/>
          <p:nvPr/>
        </p:nvSpPr>
        <p:spPr>
          <a:xfrm>
            <a:off x="731520" y="5129160"/>
            <a:ext cx="3209544" cy="640080"/>
          </a:xfrm>
          <a:prstGeom prst="rect">
            <a:avLst/>
          </a:prstGeom>
          <a:noFill/>
          <a:ln/>
        </p:spPr>
        <p:txBody>
          <a:bodyPr wrap="square" lIns="0" tIns="0" rIns="0" bIns="0" rtlCol="0" anchor="ctr"/>
          <a:lstStyle/>
          <a:p>
            <a:pPr marL="0" indent="0" algn="l">
              <a:spcAft>
                <a:spcPts val="0"/>
              </a:spcAft>
              <a:buNone/>
            </a:pPr>
            <a:r>
              <a:rPr lang="es-PE" sz="1500" b="1" dirty="0">
                <a:solidFill>
                  <a:schemeClr val="bg1"/>
                </a:solidFill>
              </a:rPr>
              <a:t>A · </a:t>
            </a:r>
            <a:r>
              <a:rPr lang="es-PE" sz="1400" dirty="0">
                <a:solidFill>
                  <a:schemeClr val="bg1"/>
                </a:solidFill>
              </a:rPr>
              <a:t>WiFi a un punto de acceso</a:t>
            </a:r>
          </a:p>
        </p:txBody>
      </p:sp>
      <p:sp>
        <p:nvSpPr>
          <p:cNvPr id="22" name="rutaB"/>
          <p:cNvSpPr/>
          <p:nvPr/>
        </p:nvSpPr>
        <p:spPr>
          <a:xfrm>
            <a:off x="4306824" y="5129160"/>
            <a:ext cx="3575304" cy="640080"/>
          </a:xfrm>
          <a:prstGeom prst="roundRect">
            <a:avLst>
              <a:gd name="adj" fmla="val 12000"/>
            </a:avLst>
          </a:prstGeom>
          <a:solidFill>
            <a:schemeClr val="accent1"/>
          </a:solidFill>
          <a:ln/>
        </p:spPr>
      </p:sp>
      <p:sp>
        <p:nvSpPr>
          <p:cNvPr id="23" name="Texto"/>
          <p:cNvSpPr txBox="1"/>
          <p:nvPr/>
        </p:nvSpPr>
        <p:spPr>
          <a:xfrm>
            <a:off x="4489704" y="5129160"/>
            <a:ext cx="3209544" cy="640080"/>
          </a:xfrm>
          <a:prstGeom prst="rect">
            <a:avLst/>
          </a:prstGeom>
          <a:noFill/>
          <a:ln/>
        </p:spPr>
        <p:txBody>
          <a:bodyPr wrap="square" lIns="0" tIns="0" rIns="0" bIns="0" rtlCol="0" anchor="ctr"/>
          <a:lstStyle/>
          <a:p>
            <a:pPr marL="0" indent="0" algn="l">
              <a:spcAft>
                <a:spcPts val="0"/>
              </a:spcAft>
              <a:buNone/>
            </a:pPr>
            <a:r>
              <a:rPr lang="es-PE" sz="1500" b="1" dirty="0">
                <a:solidFill>
                  <a:schemeClr val="bg1"/>
                </a:solidFill>
              </a:rPr>
              <a:t>B · </a:t>
            </a:r>
            <a:r>
              <a:rPr lang="es-PE" sz="1400" dirty="0">
                <a:solidFill>
                  <a:schemeClr val="bg1"/>
                </a:solidFill>
              </a:rPr>
              <a:t>ESP-NOW hacia la cámara de arriba</a:t>
            </a:r>
          </a:p>
        </p:txBody>
      </p:sp>
      <p:sp>
        <p:nvSpPr>
          <p:cNvPr id="24" name="rutaC"/>
          <p:cNvSpPr/>
          <p:nvPr/>
        </p:nvSpPr>
        <p:spPr>
          <a:xfrm>
            <a:off x="8065008" y="5129160"/>
            <a:ext cx="3575304" cy="640080"/>
          </a:xfrm>
          <a:prstGeom prst="roundRect">
            <a:avLst>
              <a:gd name="adj" fmla="val 12000"/>
            </a:avLst>
          </a:prstGeom>
          <a:solidFill>
            <a:schemeClr val="accent2"/>
          </a:solidFill>
          <a:ln/>
        </p:spPr>
      </p:sp>
      <p:sp>
        <p:nvSpPr>
          <p:cNvPr id="25" name="Texto"/>
          <p:cNvSpPr txBox="1"/>
          <p:nvPr/>
        </p:nvSpPr>
        <p:spPr>
          <a:xfrm>
            <a:off x="8247888" y="5129160"/>
            <a:ext cx="3209544" cy="640080"/>
          </a:xfrm>
          <a:prstGeom prst="rect">
            <a:avLst/>
          </a:prstGeom>
          <a:noFill/>
          <a:ln/>
        </p:spPr>
        <p:txBody>
          <a:bodyPr wrap="square" lIns="0" tIns="0" rIns="0" bIns="0" rtlCol="0" anchor="ctr"/>
          <a:lstStyle/>
          <a:p>
            <a:pPr marL="0" indent="0" algn="l">
              <a:spcAft>
                <a:spcPts val="0"/>
              </a:spcAft>
              <a:buNone/>
            </a:pPr>
            <a:r>
              <a:rPr lang="es-PE" sz="1500" b="1" dirty="0">
                <a:solidFill>
                  <a:schemeClr val="bg1"/>
                </a:solidFill>
              </a:rPr>
              <a:t>C · </a:t>
            </a:r>
            <a:r>
              <a:rPr lang="es-PE" sz="1400" dirty="0">
                <a:solidFill>
                  <a:schemeClr val="bg1"/>
                </a:solidFill>
              </a:rPr>
              <a:t>Bus RS-485 por línea con pasarela</a:t>
            </a:r>
          </a:p>
        </p:txBody>
      </p:sp>
      <p:sp>
        <p:nvSpPr>
          <p:cNvPr id="900"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F6B70"/>
                </a:solidFill>
              </a:defRPr>
            </a:lvl1pPr>
          </a:lstStyle>
          <a:p>
            <a:pPr algn="r"/>
            <a:fld id="{F7021451-1387-4CA6-816F-3879F97B5CBC}" type="slidenum">
              <a:rPr lang="en-US" b="0"/>
              <a:t>12</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1672" cy="868680"/>
          </a:xfrm>
          <a:prstGeom prst="rect">
            <a:avLst/>
          </a:prstGeom>
          <a:noFill/>
          <a:ln/>
        </p:spPr>
        <p:txBody>
          <a:bodyPr wrap="square" lIns="0" tIns="0" rIns="0" bIns="0" rtlCol="0" anchor="ctr"/>
          <a:lstStyle/>
          <a:p>
            <a:pPr marL="0" indent="0" algn="l">
              <a:buNone/>
            </a:pPr>
            <a:r>
              <a:rPr lang="en-US" sz="3200" b="1" dirty="0">
                <a:solidFill>
                  <a:schemeClr val="tx2"/>
                </a:solidFill>
              </a:rPr>
              <a:t>Prueba en dos etapas: un puesto y luego una línea</a:t>
            </a:r>
            <a:endParaRPr lang="en-US" sz="3200" dirty="0"/>
          </a:p>
        </p:txBody>
      </p:sp>
      <p:sp>
        <p:nvSpPr>
          <p:cNvPr id="11" name="etapa0"/>
          <p:cNvSpPr/>
          <p:nvPr/>
        </p:nvSpPr>
        <p:spPr>
          <a:xfrm>
            <a:off x="548640" y="1417320"/>
            <a:ext cx="5134356" cy="4297680"/>
          </a:xfrm>
          <a:prstGeom prst="roundRect">
            <a:avLst>
              <a:gd name="adj" fmla="val 3500"/>
            </a:avLst>
          </a:prstGeom>
          <a:solidFill>
            <a:schemeClr val="bg2"/>
          </a:solidFill>
          <a:ln/>
        </p:spPr>
      </p:sp>
      <p:sp>
        <p:nvSpPr>
          <p:cNvPr id="12" name="num0"/>
          <p:cNvSpPr/>
          <p:nvPr/>
        </p:nvSpPr>
        <p:spPr>
          <a:xfrm>
            <a:off x="777240" y="1600200"/>
            <a:ext cx="548640" cy="548640"/>
          </a:xfrm>
          <a:prstGeom prst="ellipse">
            <a:avLst/>
          </a:prstGeom>
          <a:solidFill>
            <a:schemeClr val="accent1"/>
          </a:solidFill>
          <a:ln/>
        </p:spPr>
      </p:sp>
      <p:sp>
        <p:nvSpPr>
          <p:cNvPr id="13" name="Texto"/>
          <p:cNvSpPr txBox="1"/>
          <p:nvPr/>
        </p:nvSpPr>
        <p:spPr>
          <a:xfrm>
            <a:off x="777240" y="1600200"/>
            <a:ext cx="548640" cy="548640"/>
          </a:xfrm>
          <a:prstGeom prst="rect">
            <a:avLst/>
          </a:prstGeom>
          <a:noFill/>
          <a:ln/>
        </p:spPr>
        <p:txBody>
          <a:bodyPr wrap="square" lIns="0" tIns="0" rIns="0" bIns="0" rtlCol="0" anchor="ctr"/>
          <a:lstStyle/>
          <a:p>
            <a:pPr marL="0" indent="0" algn="ctr">
              <a:spcAft>
                <a:spcPts val="0"/>
              </a:spcAft>
              <a:buNone/>
            </a:pPr>
            <a:r>
              <a:rPr lang="es-PE" sz="2000" b="1" dirty="0">
                <a:solidFill>
                  <a:schemeClr val="bg1"/>
                </a:solidFill>
              </a:rPr>
              <a:t>1</a:t>
            </a:r>
          </a:p>
        </p:txBody>
      </p:sp>
      <p:sp>
        <p:nvSpPr>
          <p:cNvPr id="14" name="Texto"/>
          <p:cNvSpPr txBox="1"/>
          <p:nvPr/>
        </p:nvSpPr>
        <p:spPr>
          <a:xfrm>
            <a:off x="1463040" y="1567320"/>
            <a:ext cx="3991356" cy="400000"/>
          </a:xfrm>
          <a:prstGeom prst="rect">
            <a:avLst/>
          </a:prstGeom>
          <a:noFill/>
          <a:ln/>
        </p:spPr>
        <p:txBody>
          <a:bodyPr wrap="square" lIns="0" tIns="0" rIns="0" bIns="0" rtlCol="0" anchor="t"/>
          <a:lstStyle/>
          <a:p>
            <a:pPr marL="0" indent="0" algn="l">
              <a:spcAft>
                <a:spcPts val="0"/>
              </a:spcAft>
              <a:buNone/>
            </a:pPr>
            <a:r>
              <a:rPr lang="es-PE" sz="2000" b="1" dirty="0">
                <a:solidFill>
                  <a:schemeClr val="tx2"/>
                </a:solidFill>
              </a:rPr>
              <a:t>Etapa 1 · Un puesto</a:t>
            </a:r>
          </a:p>
        </p:txBody>
      </p:sp>
      <p:sp>
        <p:nvSpPr>
          <p:cNvPr id="15" name="Texto"/>
          <p:cNvSpPr txBox="1"/>
          <p:nvPr/>
        </p:nvSpPr>
        <p:spPr>
          <a:xfrm>
            <a:off x="1463040" y="1977320"/>
            <a:ext cx="3991356" cy="280000"/>
          </a:xfrm>
          <a:prstGeom prst="rect">
            <a:avLst/>
          </a:prstGeom>
          <a:noFill/>
          <a:ln/>
        </p:spPr>
        <p:txBody>
          <a:bodyPr wrap="square" lIns="0" tIns="0" rIns="0" bIns="0" rtlCol="0" anchor="t"/>
          <a:lstStyle/>
          <a:p>
            <a:pPr marL="0" indent="0" algn="l">
              <a:spcAft>
                <a:spcPts val="0"/>
              </a:spcAft>
              <a:buNone/>
            </a:pPr>
            <a:r>
              <a:rPr lang="es-PE" sz="1300" dirty="0">
                <a:solidFill>
                  <a:schemeClr val="accent1"/>
                </a:solidFill>
              </a:rPr>
              <a:t>Semanas 2–4 · prototipo</a:t>
            </a:r>
          </a:p>
        </p:txBody>
      </p:sp>
      <p:sp>
        <p:nvSpPr>
          <p:cNvPr id="16" name="Texto"/>
          <p:cNvSpPr txBox="1"/>
          <p:nvPr/>
        </p:nvSpPr>
        <p:spPr>
          <a:xfrm>
            <a:off x="777240" y="2423160"/>
            <a:ext cx="4677156" cy="3197680"/>
          </a:xfrm>
          <a:prstGeom prst="rect">
            <a:avLst/>
          </a:prstGeom>
          <a:noFill/>
          <a:ln/>
        </p:spPr>
        <p:txBody>
          <a:bodyPr wrap="square" lIns="0" tIns="0" rIns="0" bIns="0" rtlCol="0" anchor="t"/>
          <a:lstStyle/>
          <a:p>
            <a:pPr marL="0" indent="0" algn="l">
              <a:spcAft>
                <a:spcPts val="1000"/>
              </a:spcAft>
              <a:buNone/>
            </a:pPr>
            <a:r>
              <a:rPr lang="es-PE" sz="1600" b="1" dirty="0">
                <a:solidFill>
                  <a:schemeClr val="accent1"/>
                </a:solidFill>
              </a:rPr>
              <a:t>Se arma: </a:t>
            </a:r>
            <a:r>
              <a:rPr lang="es-PE" sz="1600" dirty="0">
                <a:solidFill>
                  <a:schemeClr val="tx1"/>
                </a:solidFill>
              </a:rPr>
              <a:t>1 nodo de puesto (pinza, botonera, radar), 1 pasarela con un solo nodo en el bus y 1 cámara Waveshare con lente gran angular</a:t>
            </a:r>
          </a:p>
          <a:p>
            <a:pPr marL="0" indent="0" algn="l">
              <a:spcAft>
                <a:spcPts val="1000"/>
              </a:spcAft>
              <a:buNone/>
            </a:pPr>
            <a:r>
              <a:rPr lang="es-PE" sz="1600" b="1" dirty="0">
                <a:solidFill>
                  <a:schemeClr val="accent1"/>
                </a:solidFill>
              </a:rPr>
              <a:t>Se mide: </a:t>
            </a:r>
            <a:r>
              <a:rPr lang="es-PE" sz="1600" dirty="0">
                <a:solidFill>
                  <a:schemeClr val="tx1"/>
                </a:solidFill>
              </a:rPr>
              <a:t>calibración de la pinza, latencia y pérdida de los botones, y si la cámara distingue trabaja, inactiva y ausente en un día grabado</a:t>
            </a:r>
          </a:p>
          <a:p>
            <a:pPr marL="0" indent="0" algn="l">
              <a:spcAft>
                <a:spcPts val="1000"/>
              </a:spcAft>
              <a:buNone/>
            </a:pPr>
            <a:r>
              <a:rPr lang="es-PE" sz="1600" b="1" dirty="0">
                <a:solidFill>
                  <a:schemeClr val="accent1"/>
                </a:solidFill>
              </a:rPr>
              <a:t>Se pasa si: </a:t>
            </a:r>
            <a:r>
              <a:rPr lang="es-PE" sz="1600" dirty="0">
                <a:solidFill>
                  <a:schemeClr val="tx1"/>
                </a:solidFill>
              </a:rPr>
              <a:t>los botones no pierden pulsaciones y el estado de la máquina coincide con el cronómetro</a:t>
            </a:r>
          </a:p>
        </p:txBody>
      </p:sp>
      <p:sp>
        <p:nvSpPr>
          <p:cNvPr id="17" name="etapa1"/>
          <p:cNvSpPr/>
          <p:nvPr/>
        </p:nvSpPr>
        <p:spPr>
          <a:xfrm>
            <a:off x="6505956" y="1417320"/>
            <a:ext cx="5134356" cy="4297680"/>
          </a:xfrm>
          <a:prstGeom prst="roundRect">
            <a:avLst>
              <a:gd name="adj" fmla="val 3500"/>
            </a:avLst>
          </a:prstGeom>
          <a:solidFill>
            <a:schemeClr val="tx2"/>
          </a:solidFill>
          <a:ln/>
        </p:spPr>
      </p:sp>
      <p:sp>
        <p:nvSpPr>
          <p:cNvPr id="18" name="num1"/>
          <p:cNvSpPr/>
          <p:nvPr/>
        </p:nvSpPr>
        <p:spPr>
          <a:xfrm>
            <a:off x="6734556" y="1600200"/>
            <a:ext cx="548640" cy="548640"/>
          </a:xfrm>
          <a:prstGeom prst="ellipse">
            <a:avLst/>
          </a:prstGeom>
          <a:solidFill>
            <a:schemeClr val="accent2"/>
          </a:solidFill>
          <a:ln/>
        </p:spPr>
      </p:sp>
      <p:sp>
        <p:nvSpPr>
          <p:cNvPr id="19" name="Texto"/>
          <p:cNvSpPr txBox="1"/>
          <p:nvPr/>
        </p:nvSpPr>
        <p:spPr>
          <a:xfrm>
            <a:off x="6734556" y="1600200"/>
            <a:ext cx="548640" cy="548640"/>
          </a:xfrm>
          <a:prstGeom prst="rect">
            <a:avLst/>
          </a:prstGeom>
          <a:noFill/>
          <a:ln/>
        </p:spPr>
        <p:txBody>
          <a:bodyPr wrap="square" lIns="0" tIns="0" rIns="0" bIns="0" rtlCol="0" anchor="ctr"/>
          <a:lstStyle/>
          <a:p>
            <a:pPr marL="0" indent="0" algn="ctr">
              <a:spcAft>
                <a:spcPts val="0"/>
              </a:spcAft>
              <a:buNone/>
            </a:pPr>
            <a:r>
              <a:rPr lang="es-PE" sz="2000" b="1" dirty="0">
                <a:solidFill>
                  <a:schemeClr val="bg1"/>
                </a:solidFill>
              </a:rPr>
              <a:t>2</a:t>
            </a:r>
          </a:p>
        </p:txBody>
      </p:sp>
      <p:sp>
        <p:nvSpPr>
          <p:cNvPr id="20" name="Texto"/>
          <p:cNvSpPr txBox="1"/>
          <p:nvPr/>
        </p:nvSpPr>
        <p:spPr>
          <a:xfrm>
            <a:off x="7420356" y="1567320"/>
            <a:ext cx="3991356" cy="400000"/>
          </a:xfrm>
          <a:prstGeom prst="rect">
            <a:avLst/>
          </a:prstGeom>
          <a:noFill/>
          <a:ln/>
        </p:spPr>
        <p:txBody>
          <a:bodyPr wrap="square" lIns="0" tIns="0" rIns="0" bIns="0" rtlCol="0" anchor="t"/>
          <a:lstStyle/>
          <a:p>
            <a:pPr marL="0" indent="0" algn="l">
              <a:spcAft>
                <a:spcPts val="0"/>
              </a:spcAft>
              <a:buNone/>
            </a:pPr>
            <a:r>
              <a:rPr lang="es-PE" sz="2000" b="1" dirty="0">
                <a:solidFill>
                  <a:schemeClr val="bg1"/>
                </a:solidFill>
              </a:rPr>
              <a:t>Etapa 2 · Una línea</a:t>
            </a:r>
          </a:p>
        </p:txBody>
      </p:sp>
      <p:sp>
        <p:nvSpPr>
          <p:cNvPr id="21" name="Texto"/>
          <p:cNvSpPr txBox="1"/>
          <p:nvPr/>
        </p:nvSpPr>
        <p:spPr>
          <a:xfrm>
            <a:off x="7420356" y="1977320"/>
            <a:ext cx="3991356" cy="280000"/>
          </a:xfrm>
          <a:prstGeom prst="rect">
            <a:avLst/>
          </a:prstGeom>
          <a:noFill/>
          <a:ln/>
        </p:spPr>
        <p:txBody>
          <a:bodyPr wrap="square" lIns="0" tIns="0" rIns="0" bIns="0" rtlCol="0" anchor="t"/>
          <a:lstStyle/>
          <a:p>
            <a:pPr marL="0" indent="0" algn="l">
              <a:spcAft>
                <a:spcPts val="0"/>
              </a:spcAft>
              <a:buNone/>
            </a:pPr>
            <a:r>
              <a:rPr lang="es-PE" sz="1300" dirty="0">
                <a:solidFill>
                  <a:schemeClr val="accent3"/>
                </a:solidFill>
              </a:rPr>
              <a:t>Semanas 4–8 · piloto</a:t>
            </a:r>
          </a:p>
        </p:txBody>
      </p:sp>
      <p:sp>
        <p:nvSpPr>
          <p:cNvPr id="22" name="Texto"/>
          <p:cNvSpPr txBox="1"/>
          <p:nvPr/>
        </p:nvSpPr>
        <p:spPr>
          <a:xfrm>
            <a:off x="6734556" y="2423160"/>
            <a:ext cx="4677156" cy="3197680"/>
          </a:xfrm>
          <a:prstGeom prst="rect">
            <a:avLst/>
          </a:prstGeom>
          <a:noFill/>
          <a:ln/>
        </p:spPr>
        <p:txBody>
          <a:bodyPr wrap="square" lIns="0" tIns="0" rIns="0" bIns="0" rtlCol="0" anchor="t"/>
          <a:lstStyle/>
          <a:p>
            <a:pPr marL="0" indent="0" algn="l">
              <a:spcAft>
                <a:spcPts val="1000"/>
              </a:spcAft>
              <a:buNone/>
            </a:pPr>
            <a:r>
              <a:rPr lang="es-PE" sz="1600" b="1" dirty="0">
                <a:solidFill>
                  <a:schemeClr val="accent3"/>
                </a:solidFill>
              </a:rPr>
              <a:t>Se arma: </a:t>
            </a:r>
            <a:r>
              <a:rPr lang="es-PE" sz="1600" dirty="0">
                <a:solidFill>
                  <a:schemeClr val="bg1"/>
                </a:solidFill>
              </a:rPr>
              <a:t>25 nodos de puesto en un bus RS-485 con 1 pasarela, 7 cámaras y 1 switch PoE de 24 puertos; 3–5 puestos por WiFi para comparar</a:t>
            </a:r>
          </a:p>
          <a:p>
            <a:pPr marL="0" indent="0" algn="l">
              <a:spcAft>
                <a:spcPts val="1000"/>
              </a:spcAft>
              <a:buNone/>
            </a:pPr>
            <a:r>
              <a:rPr lang="es-PE" sz="1600" b="1" dirty="0">
                <a:solidFill>
                  <a:schemeClr val="accent3"/>
                </a:solidFill>
              </a:rPr>
              <a:t>Se mide: </a:t>
            </a:r>
            <a:r>
              <a:rPr lang="es-PE" sz="1600" dirty="0">
                <a:solidFill>
                  <a:schemeClr val="bg1"/>
                </a:solidFill>
              </a:rPr>
              <a:t>pérdida de pulsaciones, caída de tensión del bus, zona gris y error del tiempo improductivo frente al estudio manual</a:t>
            </a:r>
          </a:p>
          <a:p>
            <a:pPr marL="0" indent="0" algn="l">
              <a:spcAft>
                <a:spcPts val="1000"/>
              </a:spcAft>
              <a:buNone/>
            </a:pPr>
            <a:r>
              <a:rPr lang="es-PE" sz="1600" b="1" dirty="0">
                <a:solidFill>
                  <a:schemeClr val="accent3"/>
                </a:solidFill>
              </a:rPr>
              <a:t>Se pasa si: </a:t>
            </a:r>
            <a:r>
              <a:rPr lang="es-PE" sz="1600" dirty="0">
                <a:solidFill>
                  <a:schemeClr val="bg1"/>
                </a:solidFill>
              </a:rPr>
              <a:t>el error diario por operaria queda en ±3–5 %; se elige la conexión con menos pérdidas y menor costo por puesto</a:t>
            </a:r>
          </a:p>
        </p:txBody>
      </p:sp>
      <p:sp>
        <p:nvSpPr>
          <p:cNvPr id="23" name="flecha"/>
          <p:cNvSpPr/>
          <p:nvPr/>
        </p:nvSpPr>
        <p:spPr>
          <a:xfrm>
            <a:off x="5774436" y="3246120"/>
            <a:ext cx="640080" cy="640080"/>
          </a:xfrm>
          <a:prstGeom prst="rightArrow">
            <a:avLst/>
          </a:prstGeom>
          <a:solidFill>
            <a:schemeClr val="accent2"/>
          </a:solidFill>
          <a:ln/>
        </p:spPr>
      </p:sp>
      <p:sp>
        <p:nvSpPr>
          <p:cNvPr id="900"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F6B70"/>
                </a:solidFill>
              </a:defRPr>
            </a:lvl1pPr>
          </a:lstStyle>
          <a:p>
            <a:pPr algn="r"/>
            <a:fld id="{F7021451-1387-4CA6-816F-3879F97B5CBC}" type="slidenum">
              <a:rPr lang="en-US" b="0"/>
              <a:t>14</a:t>
            </a:fld>
            <a:endParaRPr lang="en-US"/>
          </a:p>
        </p:txBody>
      </p:sp>
    </p:spTree>
  </p:cSld>
  <p:clrMapOvr>
    <a:masterClrMapping/>
  </p:clrMapOvr>
</p:sld>
</file>

<file path=ppt/theme/theme1.xml><?xml version="1.0" encoding="utf-8"?>
<a:theme xmlns:a="http://schemas.openxmlformats.org/drawingml/2006/main" name="Costura Petroleo">
  <a:themeElements>
    <a:clrScheme name="Costura Petroleo">
      <a:dk1>
        <a:srgbClr val="1B1F23"/>
      </a:dk1>
      <a:lt1>
        <a:srgbClr val="FFFFFF"/>
      </a:lt1>
      <a:dk2>
        <a:srgbClr val="0F3D3E"/>
      </a:dk2>
      <a:lt2>
        <a:srgbClr val="EEF4F3"/>
      </a:lt2>
      <a:accent1>
        <a:srgbClr val="1F6F6B"/>
      </a:accent1>
      <a:accent2>
        <a:srgbClr val="E07A2F"/>
      </a:accent2>
      <a:accent3>
        <a:srgbClr val="9CC5BF"/>
      </a:accent3>
      <a:accent4>
        <a:srgbClr val="C94F3D"/>
      </a:accent4>
      <a:accent5>
        <a:srgbClr val="5F6B70"/>
      </a:accent5>
      <a:accent6>
        <a:srgbClr val="3E8E5E"/>
      </a:accent6>
      <a:hlink>
        <a:srgbClr val="1F6F6B"/>
      </a:hlink>
      <a:folHlink>
        <a:srgbClr val="5F6B70"/>
      </a:folHlink>
    </a:clrScheme>
    <a:fontScheme name="Costura Petroleo">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2530</Words>
  <Application>Microsoft Office PowerPoint</Application>
  <PresentationFormat>Panorámica</PresentationFormat>
  <Paragraphs>372</Paragraphs>
  <Slides>15</Slides>
  <Notes>15</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15</vt:i4>
      </vt:variant>
    </vt:vector>
  </HeadingPairs>
  <TitlesOfParts>
    <vt:vector size="18" baseType="lpstr">
      <vt:lpstr>Arial</vt:lpstr>
      <vt:lpstr>Calibri</vt:lpstr>
      <vt:lpstr>Costura Petroleo</vt:lpstr>
      <vt:lpstr>Medición de tiempos improductivos en Costura</vt:lpstr>
      <vt:lpstr>El incentivo depende de medir bien las paradas</vt:lpstr>
      <vt:lpstr>Antecedentes: la visión de manos aún no se usa para pagar</vt:lpstr>
      <vt:lpstr>La aceptación de las operarias decide el éxito</vt:lpstr>
      <vt:lpstr>Cada minuto del puesto cae en uno de seis estados</vt:lpstr>
      <vt:lpstr>A · Low cost: solo sensores e IoT</vt:lpstr>
      <vt:lpstr>B · Mixta: la cámara solo actúa en paradas largas</vt:lpstr>
      <vt:lpstr>C · Cámara cenital: ¿trabaja o no?</vt:lpstr>
      <vt:lpstr>Comparación de las tres propuestas</vt:lpstr>
      <vt:lpstr>Matriz morfológica: tres caminos de solución</vt:lpstr>
      <vt:lpstr>Las tres propuestas comparten la misma base</vt:lpstr>
      <vt:lpstr>Red: switches PoE en árbol, no WiFi para el video</vt:lpstr>
      <vt:lpstr>Componentes que vamos a necesitar</vt:lpstr>
      <vt:lpstr>Piloto en una línea antes de pagar con los datos</vt:lpstr>
      <vt:lpstr>Empezar con A y probar la cámara cenital</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Medición de tiempos improductivos en Costura</dc:title>
  <dc:subject>PptxGenJS Presentation</dc:subject>
  <dc:creator>Gianpierre</dc:creator>
  <cp:lastModifiedBy>Leydi Paredes - Procesos01</cp:lastModifiedBy>
  <cp:revision>1</cp:revision>
  <dcterms:created xsi:type="dcterms:W3CDTF">2026-10-12T21:49:01Z</dcterms:created>
  <dcterms:modified xsi:type="dcterms:W3CDTF">2026-10-12T23:19:50Z</dcterms:modified>
</cp:coreProperties>
</file>